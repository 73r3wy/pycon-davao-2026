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Tpl58"/>
    <p:sldId id="314" r:id="rIdTpl59"/>
    <p:sldId id="315" r:id="rIdTpl60"/>
    <p:sldId id="316" r:id="rIdTpl61"/>
    <p:sldId id="317" r:id="rIdTpl62"/>
    <p:sldId id="318" r:id="rIdTpl63"/>
    <p:sldId id="319" r:id="rIdTpl64"/>
  </p:sldIdLst>
  <p:notesMasterIdLst>
    <p:notesMasterId r:id="rId5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44b42d6-0573-2fe3-18e3-e698adb0f0df}">
          <p14:sldIdLst>
            <p14:sldId id="256"/>
            <p14:sldId id="257"/>
            <p14:sldId id="258"/>
            <p14:sldId id="259"/>
            <p14:sldId id="260"/>
          </p14:sldIdLst>
        </p14:section>
        <p14:section name="Part 1 · Python foundations" id="{5c105ce3-26b9-cfba-03a7-301dc7dd2702}">
          <p14:sldIdLst>
            <p14:sldId id="261"/>
            <p14:sldId id="262"/>
            <p14:sldId id="263"/>
            <p14:sldId id="264"/>
            <p14:sldId id="265"/>
            <p14:sldId id="266"/>
            <p14:sldId id="267"/>
            <p14:sldId id="268"/>
            <p14:sldId id="269"/>
          </p14:sldIdLst>
        </p14:section>
        <p14:section name="Part 2 · Build the Django app" id="{bd8fb93c-5999-0871-fa2c-bd086964e636}">
          <p14:sldIdLst>
            <p14:sldId id="270"/>
            <p14:sldId id="271"/>
            <p14:sldId id="272"/>
            <p14:sldId id="273"/>
            <p14:sldId id="274"/>
            <p14:sldId id="275"/>
            <p14:sldId id="276"/>
            <p14:sldId id="277"/>
            <p14:sldId id="278"/>
            <p14:sldId id="279"/>
            <p14:sldId id="280"/>
            <p14:sldId id="281"/>
            <p14:sldId id="282"/>
            <p14:sldId id="283"/>
            <p14:sldId id="284"/>
            <p14:sldId id="285"/>
          </p14:sldIdLst>
        </p14:section>
        <p14:section name="Part 3 · The quiz experience" id="{d64182ec-38e0-b851-97aa-d77a5dc293dd}">
          <p14:sldIdLst>
            <p14:sldId id="286"/>
            <p14:sldId id="287"/>
            <p14:sldId id="288"/>
            <p14:sldId id="289"/>
            <p14:sldId id="290"/>
            <p14:sldId id="291"/>
            <p14:sldId id="292"/>
            <p14:sldId id="293"/>
            <p14:sldId id="294"/>
            <p14:sldId id="295"/>
          </p14:sldIdLst>
        </p14:section>
        <p14:section name="Part 4 · Add Generative AI" id="{d2a26160-9ca7-1b80-7683-02ec008c8895}">
          <p14:sldIdLst>
            <p14:sldId id="296"/>
            <p14:sldId id="297"/>
            <p14:sldId id="298"/>
            <p14:sldId id="299"/>
            <p14:sldId id="300"/>
            <p14:sldId id="301"/>
            <p14:sldId id="302"/>
            <p14:sldId id="303"/>
            <p14:sldId id="304"/>
            <p14:sldId id="305"/>
            <p14:sldId id="306"/>
            <p14:sldId id="307"/>
            <p14:sldId id="308"/>
            <p14:sldId id="309"/>
          </p14:sldIdLst>
        </p14:section>
        <p14:section name="Closing" id="{b8cad181-b5de-ed6b-0ce0-ae38f7bee3b5}">
          <p14:sldIdLst>
            <p14:sldId id="310"/>
            <p14:sldId id="311"/>
            <p14:sldId id="312"/>
          </p14:sldIdLst>
        </p14:section>
        <p14:section name="Template reference (hidden)" id="{02F47FBB-B11C-494A-A918-F46D34C50642}">
          <p14:sldIdLst>
            <p14:sldId id="313"/>
            <p14:sldId id="314"/>
            <p14:sldId id="315"/>
            <p14:sldId id="316"/>
            <p14:sldId id="317"/>
            <p14:sldId id="318"/>
            <p14:sldId id="31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Tpl58" Type="http://schemas.openxmlformats.org/officeDocument/2006/relationships/slide" Target="slides/slide58.xml"/><Relationship Id="rIdTpl59" Type="http://schemas.openxmlformats.org/officeDocument/2006/relationships/slide" Target="slides/slide59.xml"/><Relationship Id="rIdTpl60" Type="http://schemas.openxmlformats.org/officeDocument/2006/relationships/slide" Target="slides/slide60.xml"/><Relationship Id="rIdTpl61" Type="http://schemas.openxmlformats.org/officeDocument/2006/relationships/slide" Target="slides/slide61.xml"/><Relationship Id="rIdTpl62" Type="http://schemas.openxmlformats.org/officeDocument/2006/relationships/slide" Target="slides/slide62.xml"/><Relationship Id="rIdTpl63" Type="http://schemas.openxmlformats.org/officeDocument/2006/relationships/slide" Target="slides/slide63.xml"/><Relationship Id="rIdTpl64" Type="http://schemas.openxmlformats.org/officeDocument/2006/relationships/slide" Target="slides/slide6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Quick intro: who you are, what you do with Python. Ask: who has written Python before? Who has built a website? Who has used ChatGPT? Today we connect all three. Two hours, lots of typing, it's fine to fall behind: the finished code is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hook. Everyone has taken an online quiz. Today YOU build the thing that makes quizzes, and then you make it smart. Emphasise that nothing today is magic: it is all small Python pieces joined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left to right. A teacher (or you) creates a reviewer, adds questions, publishes it, shares a link. A friend opens the link, answers, and immediately sees a score. This is a complete product. Then the AI helps write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next two hours. Each step is a skill that exists on its own, and they stack. Point out: the same 'call an external API' skill you learn for AI works for maps, payments, weather,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people 3 to 4 minutes. Helpers walk around. Anyone stuck: pair with a neighbour, keep going, the repo has the finished app. FAKE_AI=1 means no API key is needed to finish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Every concept here will appear again inside the Django code, so when we meet it later it feels familiar. Files: python_basics/01 to 05. Run each one as we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recipe. A program is a list of instructions the computer follows top to bottom. Python is popular because it reads almost like English. Show python_basics/01_variables.py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01_variables.py. Ask: what happens if we change question_count to 20? Introduce f-strings as 'fill in the blanks'. Note integer vs float vs string by asking which ones have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02_lists_and_dicts.py (first half). The gotcha: counting starts at 0. Ask the room what choices[3] is. append adds to the end, len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02. A dict is like a form: each field has a name (key) and a value. Point out this is EXACTLY the shape the AI will send us in Part 4 (JSON). Lists of dicts = a whole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03_if_and_functions.py. Indentation matters in Python: the indented lines belong to the if. Ask: how do we make 'DEF' count as correct? Reveal .casefold() and .strip().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 = define. Parameters go in parentheses, return sends a value back. We will call check_answer for every question in the quiz instead of copy-pasting the if. Type hints (str, bool) are optional labels that help readers and editors.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04_classes.py. A class is a cookie cutter; objects are the cookies. self means 'this particular one'. Key message: Django models are classes. When you see class Reviewer(models.Model) in 10 minutes,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each project gets its own lunchbox so packages don't mix. pip is the delivery service that fills it. Everyone should already have done this in the setup check; confirm 'python -m django --version' prints 5.x.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Thirty-five minutes. We go from an empty folder to a database-backed page in the browser. The pattern repeats: learn a concept, type it, test it,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that carries the whole workshop: URL = the order the customer places, view = the kitchen that prepares it, model = the pantry/storeroom (database), template = the plate it is served on. Django is the restaurant building with the kitchen already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request out loud: the browser asks for /reviewer/python-fundamentals/. Django matches the URL, calls the take view, the view asks the model for the questions, hands them to the template, HTML comes back. Every page on the internet is a variation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types this. The dot at the end matters: it puts manage.py in the current folder instead of a nested one. Run runserver and open 127.0.0.1:8000: the rocket page means Django works. Ctrl+C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tree. Only three files matter today: settings.py (we touch it twice), urls.py (the menu), manage.py (the remote control). wsgi/asgi are for real servers; ignore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project can hold many apps (a blog app, a shop app). Ours has one: reviewers. The most common beginner bug: forgetting to add it to INSTALLED_APPS. Do it now,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04_classes.py: same class idea, but models.Model gives it superpowers: save to the database, query, show in admin. Each attribute is a column. Type the Reviewer model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tree. A ForeignKey is the arrow: 'this Question belongs to that Reviewer'. on_delete=CASCADE: delete the reviewer, its questions go too. related_name lets us write reviewer.questions.all(). Then Choice points at Question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these. Point at the three ForeignKey arguments: the target model, on_delete, related_name. status is the column that makes Part 4's drafts possible; mention it now, explain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makemigrations writes down the change (a save file), migrate applies it to the database. Every time you edit models.py you run both. Show the generated 0001_initial.py: it's just Python describing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the room goes 'whoa'. Three lines in admin.py and we have full create/edit/delete pages. Create a superuser, log in at /admin/, create the Python Fundamentals reviewer with 2 questions. Inlines let us type choices right inside the question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config/urls.py hands everything to reviewers/urls.py with include(). &lt;slug:slug&gt; is a wildcard that captures part of the address and passes it to the view as an argument. name= lets templates build links without hard-coding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the functions slide: request in, response out. Reviewer.objects.all() is the ORM: Python instead of SQL. render() = take this template, fill it with this data, return HTML. get_object_or_404 = a friendly 'not found' page instead of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prints a value. {% %} does logic: loops, ifs, urls. extends base.html means 'use the shared frame, I only fill the content block'. Note the pico.css link in base.html: one line and everything looks decent.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should see their reviewer on the home page. Pause 2 minutes, help stragglers. Recap the path: URL to view to model to template. Everything from here on is more of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if time is short. Open python manage.py shell and try these live. Point out that no SQL was written: the ORM translates. filter returns many, get returns one, and the related_name arrows work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minutes. Now the app becomes something a friend can use: create a reviewer without the admin, add questions, open the link, answer, see a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Django Form does three jobs: draws the inputs, validates them, gives clean Python values. ModelForm reads the fields from the model so we don't repeat ourselves. Highlight: validation happens on the server, always, no matter what the browser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pattern in web development. GET = 'show me the form'. POST = 'here is what I typed'. After a successful POST we redirect so refresh doesn't resubmit. Students will reuse this pattern 4 times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csrf_token is a secret stamp proving the form came from OUR page, not a malicious site. Django refuses POSTs without it. Everyone forgets it once; now you know the error message. method=post is the other thing people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form creates two kinds of rows at once (a Question and up to 4 Choices), so it is a plain Form with a custom clean(). transaction.atomic = all or nothing. Students should add one MC and one direct question to their reviewer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slug is generated in Reviewer.save(): slugify turns the title into URL-safe text, and a counter avoids duplicates. get_absolute_url is the one place that knows a reviewer's public address. Have students copy their link and send it to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the questions; an if inside the template chooses the input type. The input name q_&lt;id&gt; is the trick that lets the view match answers to questions. Note prefetch_related: fetch all choices in one query instead of one per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03_if_and_functions.py living inside a model method. For MC we compare the chosen choice id; for direct we compare text ignoring case and spaces. The isdigit() guard is a real bug fix: a hand-edited form used to crash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view reads request.POST['q_&lt;id&gt;'] for each question, asks is_correct, counts the Trues, and renders results.html. GET renders the take page; POST renders results: one URL, two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swap links and take each other's reviewer. This is a complete product. Celebrate it. Then: 'writing good questions is the slow part… what if we had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minutes. The AI part is deliberately small in code and big in ideas: structured output, validation, drafts, human review. All the AI code is in one file: reviewers/ai.py.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an API is a way for programs to talk to other programs over the internet. You send a request (a letter), you get a response (a reply). ChatGPT is a website on top of exactly this API. Our Django app will be the 'website'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messy free-text reply. How would code find 'the correct answer' in a paragraph? It can't, reliably. We need the AI to answer in a shape our program can read: the dictionaries and lists from Part 1. That shape, as text, is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GenerateForm is guardrail number one. min/max on the fields mean nobody can ask for 10,000 questions or 150% multiple choice, and the check happens before we spend a single API call. Same Form idea as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is just strings we build with f-strings: Part 1 again. The system message sets the rules; the user message is this request. We compute the MC/direct split ourselves so the model gets exact numbers, not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response_format with a JSON Schema is the key line: the model is constrained to our shape, so json.loads always works. We still wrap it in try/except: networks fail, keys expire, quotas run out. AIError is our own exception that the view turns into a friendly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Non-negotiable. The key is money: anyone who has it can spend your credits. It lives in .env, which .gitignore keeps out of git, and settings.py reads it from the environment. Show how FAKE_AI switches on automatically when no key is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with a schema, the content can be wrong: two correct choices, empty answers, 50 questions when we asked for 5. validate_questions checks every rule and raises AIError on the first problem. If anything fails, nothing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idea to take home. Valid is not the same as good. AI questions are saved with status=draft and ai_generated=True; the take page filters them out until a person publishes them. One extra column buys you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GET/POST pattern as Part 3. generate_questions chains prompt, call (or fake), validate, save. AIError becomes a red message; success redirects to the review page. Students: open /reviewer/&lt;slug&gt;/generate/ and try it with FAKE_AI=1.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submit buttons in one form, told apart by name=action. Every draft starts ticked; untick the bad ones, then Accept or Reject. After this the accepted questions appear on the take page like any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getlist reads every ticked checkbox. update() publishes in one query; delete() removes rejects. Redirect after POST so a refresh never repeats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quickly; each item maps to code they have seen. The message: AI features are ordinary software engineering with one new untrusted input. Validation, limits, drafts and secrets handling are the whole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it top to bottom one more time. Then ask: where would you add a guardrail if the AI started returning offensive questions? (Answer: a content check in validate_questions, or a moderation call.) That is how real teams think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to the three columns from slide 2. Everything on this slide was typed by them in the last two hours. Encourage them to keep the repo and read the comments: every file and function says what it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homework ideas sorted by difficulty. The best one for learning Django deeper is accounts (django.contrib.auth is already installed). The best one for AI is swapping providers: the pattern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them. Share the repo link and your contact. Stay around for questions and help people who want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IVIDER-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463040" y="868680"/>
            <a:ext cx="5669280" cy="1965960"/>
          </a:xfrm>
          <a:prstGeom prst="rect">
            <a:avLst/>
          </a:prstGeom>
          <a:noFill/>
          <a:ln/>
        </p:spPr>
        <p:txBody>
          <a:bodyPr wrap="square" rtlCol="0"/>
          <a:lstStyle>
            <a:lvl1pPr indent="0" marL="0">
              <a:buNone/>
              <a:defRPr lang="en-US" sz="3600" b="1" dirty="0">
                <a:solidFill>
                  <a:srgbClr val="04B1A4"/>
                </a:solidFill>
              </a:defRPr>
            </a:lvl1pPr>
          </a:lstStyle>
          <a:p>
            <a:pPr indent="0" marL="0">
              <a:buNone/>
            </a:pPr>
            <a:endParaRPr lang="en-US" sz="3600" dirty="0"/>
          </a:p>
        </p:txBody>
      </p:sp>
      <p:sp>
        <p:nvSpPr>
          <p:cNvPr id="3" name="Text 0"/>
          <p:cNvSpPr/>
          <p:nvPr>
            <p:ph idx="101" type="body" hasCustomPrompt="1"/>
          </p:nvPr>
        </p:nvSpPr>
        <p:spPr>
          <a:xfrm>
            <a:off x="1581912" y="3520440"/>
            <a:ext cx="6035040" cy="640080"/>
          </a:xfrm>
          <a:prstGeom prst="rect">
            <a:avLst/>
          </a:prstGeom>
          <a:noFill/>
          <a:ln/>
        </p:spPr>
        <p:txBody>
          <a:bodyPr wrap="square" rtlCol="0"/>
          <a:lstStyle>
            <a:lvl1pPr indent="0" marL="0">
              <a:buNone/>
              <a:defRPr lang="en-US" sz="1400" b="1" dirty="0">
                <a:solidFill>
                  <a:srgbClr val="072E47"/>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983480" y="1463040"/>
            <a:ext cx="3749040" cy="1737360"/>
          </a:xfrm>
          <a:prstGeom prst="rect">
            <a:avLst/>
          </a:prstGeom>
          <a:noFill/>
          <a:ln/>
        </p:spPr>
        <p:txBody>
          <a:bodyPr wrap="square" rtlCol="0"/>
          <a:lstStyle>
            <a:lvl1pPr indent="0" marL="0">
              <a:buNone/>
              <a:defRPr lang="en-US" sz="3000" b="1" dirty="0">
                <a:solidFill>
                  <a:srgbClr val="FEF9D7"/>
                </a:solidFill>
              </a:defRPr>
            </a:lvl1pPr>
          </a:lstStyle>
          <a:p>
            <a:pPr indent="0" marL="0">
              <a:buNone/>
            </a:pPr>
            <a:endParaRPr lang="en-US" sz="3000" dirty="0"/>
          </a:p>
        </p:txBody>
      </p:sp>
      <p:sp>
        <p:nvSpPr>
          <p:cNvPr id="3" name="Text 0"/>
          <p:cNvSpPr/>
          <p:nvPr>
            <p:ph idx="101" type="body" hasCustomPrompt="1"/>
          </p:nvPr>
        </p:nvSpPr>
        <p:spPr>
          <a:xfrm>
            <a:off x="4983480" y="3291840"/>
            <a:ext cx="3749040" cy="731520"/>
          </a:xfrm>
          <a:prstGeom prst="rect">
            <a:avLst/>
          </a:prstGeom>
          <a:noFill/>
          <a:ln/>
        </p:spPr>
        <p:txBody>
          <a:bodyPr wrap="square" rtlCol="0"/>
          <a:lstStyle>
            <a:lvl1pPr indent="0" marL="0">
              <a:buNone/>
              <a:defRPr lang="en-US" sz="1300" dirty="0">
                <a:solidFill>
                  <a:srgbClr val="8FD3CC"/>
                </a:solidFill>
              </a:defRPr>
            </a:lvl1pPr>
          </a:lstStyle>
          <a:p>
            <a:pPr indent="0" marL="0">
              <a:buNone/>
            </a:pPr>
            <a:endParaRPr lang="en-US" sz="13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rtlCol="0"/>
          <a:lstStyle>
            <a:lvl1pPr indent="0" marL="0">
              <a:buNone/>
              <a:defRPr lang="en-US" sz="2400" b="1" dirty="0">
                <a:solidFill>
                  <a:srgbClr val="04B1A4"/>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72E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rtlCol="0"/>
          <a:lstStyle>
            <a:lvl1pPr indent="0" marL="0">
              <a:buNone/>
              <a:defRPr lang="en-US" sz="2400" b="1" dirty="0">
                <a:solidFill>
                  <a:srgbClr val="FEF9D7"/>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D3CC"/>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4.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4.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4.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slideLayout" Target="../slideLayouts/slideLayout4.xml"/><Relationship Id="rId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slideLayout" Target="../slideLayouts/slideLayout4.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tpl_image3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tpl_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tpl_image34.png"/><Relationship Id="rId4" Type="http://schemas.openxmlformats.org/officeDocument/2006/relationships/image" Target="../media/tpl_image2.jpg"/><Relationship Id="rId5" Type="http://schemas.openxmlformats.org/officeDocument/2006/relationships/image" Target="../media/tpl_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tpl_image3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tpl_image41.png"/><Relationship Id="rId4" Type="http://schemas.openxmlformats.org/officeDocument/2006/relationships/image" Target="../media/tpl_image14.png"/><Relationship Id="rId5" Type="http://schemas.openxmlformats.org/officeDocument/2006/relationships/image" Target="../media/tpl_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tpl_image8.png"/></Relationships>
</file>

<file path=ppt/slides/_rels/slide64.xml.rels><?xml version="1.0" encoding="UTF-8" standalone="yes"?><Relationships xmlns="http://schemas.openxmlformats.org/package/2006/relationships"><Relationship Id="rId20" Type="http://schemas.openxmlformats.org/officeDocument/2006/relationships/image" Target="../media/tpl_image20.png"/><Relationship Id="rId22" Type="http://schemas.openxmlformats.org/officeDocument/2006/relationships/image" Target="../media/tpl_image24.png"/><Relationship Id="rId21" Type="http://schemas.openxmlformats.org/officeDocument/2006/relationships/image" Target="../media/tpl_image18.png"/><Relationship Id="rId24" Type="http://schemas.openxmlformats.org/officeDocument/2006/relationships/image" Target="../media/tpl_image21.png"/><Relationship Id="rId23" Type="http://schemas.openxmlformats.org/officeDocument/2006/relationships/image" Target="../media/tpl_image32.png"/><Relationship Id="rId1" Type="http://schemas.openxmlformats.org/officeDocument/2006/relationships/slideLayout" Target="../slideLayouts/slideLayout1.xml"/><Relationship Id="rId3" Type="http://schemas.openxmlformats.org/officeDocument/2006/relationships/image" Target="../media/tpl_image16.png"/><Relationship Id="rId4" Type="http://schemas.openxmlformats.org/officeDocument/2006/relationships/image" Target="../media/tpl_image10.png"/><Relationship Id="rId9" Type="http://schemas.openxmlformats.org/officeDocument/2006/relationships/image" Target="../media/tpl_image13.png"/><Relationship Id="rId26" Type="http://schemas.openxmlformats.org/officeDocument/2006/relationships/image" Target="../media/tpl_image38.png"/><Relationship Id="rId25" Type="http://schemas.openxmlformats.org/officeDocument/2006/relationships/image" Target="../media/tpl_image27.png"/><Relationship Id="rId28" Type="http://schemas.openxmlformats.org/officeDocument/2006/relationships/image" Target="../media/tpl_image33.png"/><Relationship Id="rId27" Type="http://schemas.openxmlformats.org/officeDocument/2006/relationships/image" Target="../media/tpl_image26.png"/><Relationship Id="rId5" Type="http://schemas.openxmlformats.org/officeDocument/2006/relationships/image" Target="../media/tpl_image5.png"/><Relationship Id="rId6" Type="http://schemas.openxmlformats.org/officeDocument/2006/relationships/image" Target="../media/tpl_image15.png"/><Relationship Id="rId29" Type="http://schemas.openxmlformats.org/officeDocument/2006/relationships/image" Target="../media/tpl_image36.png"/><Relationship Id="rId7" Type="http://schemas.openxmlformats.org/officeDocument/2006/relationships/image" Target="../media/tpl_image12.png"/><Relationship Id="rId8" Type="http://schemas.openxmlformats.org/officeDocument/2006/relationships/image" Target="../media/tpl_image3.png"/><Relationship Id="rId31" Type="http://schemas.openxmlformats.org/officeDocument/2006/relationships/image" Target="../media/tpl_image31.png"/><Relationship Id="rId30" Type="http://schemas.openxmlformats.org/officeDocument/2006/relationships/image" Target="../media/tpl_image29.png"/><Relationship Id="rId11" Type="http://schemas.openxmlformats.org/officeDocument/2006/relationships/image" Target="../media/tpl_image9.png"/><Relationship Id="rId33" Type="http://schemas.openxmlformats.org/officeDocument/2006/relationships/image" Target="../media/tpl_image39.png"/><Relationship Id="rId10" Type="http://schemas.openxmlformats.org/officeDocument/2006/relationships/image" Target="../media/tpl_image4.png"/><Relationship Id="rId32" Type="http://schemas.openxmlformats.org/officeDocument/2006/relationships/image" Target="../media/tpl_image42.png"/><Relationship Id="rId13" Type="http://schemas.openxmlformats.org/officeDocument/2006/relationships/image" Target="../media/tpl_image28.png"/><Relationship Id="rId12" Type="http://schemas.openxmlformats.org/officeDocument/2006/relationships/image" Target="../media/tpl_image22.png"/><Relationship Id="rId34" Type="http://schemas.openxmlformats.org/officeDocument/2006/relationships/image" Target="../media/tpl_image30.png"/><Relationship Id="rId15" Type="http://schemas.openxmlformats.org/officeDocument/2006/relationships/image" Target="../media/tpl_image7.png"/><Relationship Id="rId14" Type="http://schemas.openxmlformats.org/officeDocument/2006/relationships/image" Target="../media/tpl_image11.png"/><Relationship Id="rId17" Type="http://schemas.openxmlformats.org/officeDocument/2006/relationships/image" Target="../media/tpl_image25.png"/><Relationship Id="rId16" Type="http://schemas.openxmlformats.org/officeDocument/2006/relationships/image" Target="../media/tpl_image23.png"/><Relationship Id="rId19" Type="http://schemas.openxmlformats.org/officeDocument/2006/relationships/image" Target="../media/tpl_image19.png"/><Relationship Id="rId18" Type="http://schemas.openxmlformats.org/officeDocument/2006/relationships/image" Target="../media/tpl_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1463040" y="868680"/>
            <a:ext cx="5669280" cy="1965960"/>
          </a:xfrm>
          <a:prstGeom prst="rect">
            <a:avLst/>
          </a:prstGeom>
          <a:noFill/>
          <a:ln/>
        </p:spPr>
        <p:txBody>
          <a:bodyPr wrap="square" lIns="0" tIns="0" rIns="0" bIns="0" rtlCol="0" anchor="b"/>
          <a:lstStyle/>
          <a:p>
            <a:pPr indent="0" marL="0">
              <a:buNone/>
            </a:pPr>
            <a:r>
              <a:rPr lang="en-US" sz="3600" b="1" dirty="0">
                <a:solidFill>
                  <a:srgbClr val="04B1A4"/>
                </a:solidFill>
              </a:rPr>
              <a:t>From Python to AI-Powered Django: Build a Quiz &amp; Reviewer App</a:t>
            </a:r>
            <a:endParaRPr lang="en-US" sz="3600" dirty="0"/>
          </a:p>
        </p:txBody>
      </p:sp>
      <p:sp>
        <p:nvSpPr>
          <p:cNvPr id="4" name="by pill"/>
          <p:cNvSpPr/>
          <p:nvPr/>
        </p:nvSpPr>
        <p:spPr>
          <a:xfrm>
            <a:off x="1581912" y="2990088"/>
            <a:ext cx="3566160" cy="384048"/>
          </a:xfrm>
          <a:prstGeom prst="roundRect">
            <a:avLst>
              <a:gd name="adj" fmla="val 19048"/>
            </a:avLst>
          </a:prstGeom>
          <a:solidFill>
            <a:srgbClr val="072E47"/>
          </a:solidFill>
          <a:ln w="12700">
            <a:solidFill>
              <a:srgbClr val="072E47"/>
            </a:solidFill>
            <a:prstDash val="solid"/>
          </a:ln>
        </p:spPr>
      </p:sp>
      <p:sp>
        <p:nvSpPr>
          <p:cNvPr id="5" name="by text"/>
          <p:cNvSpPr txBox="1"/>
          <p:nvPr/>
        </p:nvSpPr>
        <p:spPr>
          <a:xfrm>
            <a:off x="1691640" y="2990088"/>
            <a:ext cx="3474720" cy="384048"/>
          </a:xfrm>
          <a:prstGeom prst="rect">
            <a:avLst/>
          </a:prstGeom>
          <a:noFill/>
          <a:ln/>
        </p:spPr>
        <p:txBody>
          <a:bodyPr wrap="square" lIns="0" tIns="0" rIns="0" bIns="0" rtlCol="0" anchor="ctr"/>
          <a:lstStyle/>
          <a:p>
            <a:pPr indent="0" marL="0">
              <a:buNone/>
            </a:pPr>
            <a:r>
              <a:rPr lang="en-US" sz="1600" b="1" dirty="0">
                <a:solidFill>
                  <a:srgbClr val="FEF9D7"/>
                </a:solidFill>
              </a:rPr>
              <a:t>BY: Jeremy Patrick Pacabis</a:t>
            </a:r>
            <a:endParaRPr lang="en-US" sz="1600" dirty="0"/>
          </a:p>
        </p:txBody>
      </p:sp>
      <p:sp>
        <p:nvSpPr>
          <p:cNvPr id="6" name="Text 0"/>
          <p:cNvSpPr/>
          <p:nvPr>
            <p:ph idx="101" type="body" hasCustomPrompt="1"/>
          </p:nvPr>
        </p:nvSpPr>
        <p:spPr>
          <a:xfrm>
            <a:off x="1581912" y="3520440"/>
            <a:ext cx="6035040" cy="640080"/>
          </a:xfrm>
          <a:prstGeom prst="rect">
            <a:avLst/>
          </a:prstGeom>
          <a:noFill/>
          <a:ln/>
        </p:spPr>
        <p:txBody>
          <a:bodyPr wrap="square" lIns="0" tIns="0" rIns="0" bIns="0" rtlCol="0" anchor="t"/>
          <a:lstStyle/>
          <a:p>
            <a:pPr indent="0" marL="0">
              <a:buNone/>
            </a:pPr>
            <a:r>
              <a:rPr lang="en-US" sz="1400" b="1" dirty="0">
                <a:solidFill>
                  <a:srgbClr val="072E47"/>
                </a:solidFill>
              </a:rPr>
              <a:t>Workshop 1 · PyCon Davao 2026 · Saturday 17 October · 1:10–3:10 PM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Code a website, then teach it to talk to an AI</a:t>
            </a:r>
            <a:endParaRPr lang="en-US" sz="2400" dirty="0"/>
          </a:p>
        </p:txBody>
      </p:sp>
      <p:sp>
        <p:nvSpPr>
          <p:cNvPr id="4" name="card You will write Python"/>
          <p:cNvSpPr/>
          <p:nvPr/>
        </p:nvSpPr>
        <p:spPr>
          <a:xfrm>
            <a:off x="365760" y="1234440"/>
            <a:ext cx="2533650" cy="2472587"/>
          </a:xfrm>
          <a:prstGeom prst="roundRect">
            <a:avLst>
              <a:gd name="adj" fmla="val 4438"/>
            </a:avLst>
          </a:prstGeom>
          <a:solidFill>
            <a:srgbClr val="FFFFFF"/>
          </a:solidFill>
          <a:ln w="12700">
            <a:solidFill>
              <a:srgbClr val="FFFFFF"/>
            </a:solidFill>
            <a:prstDash val="solid"/>
          </a:ln>
        </p:spPr>
      </p:sp>
      <p:sp>
        <p:nvSpPr>
          <p:cNvPr id="5" name="icon bg You will write Python"/>
          <p:cNvSpPr/>
          <p:nvPr/>
        </p:nvSpPr>
        <p:spPr>
          <a:xfrm>
            <a:off x="543560" y="1387911"/>
            <a:ext cx="444500" cy="426308"/>
          </a:xfrm>
          <a:prstGeom prst="ellipse">
            <a:avLst/>
          </a:prstGeom>
          <a:solidFill>
            <a:srgbClr val="F99508"/>
          </a:solidFill>
          <a:ln w="12700">
            <a:solidFill>
              <a:srgbClr val="F99508"/>
            </a:solidFill>
            <a:prstDash val="solid"/>
          </a:ln>
        </p:spPr>
      </p:sp>
      <p:pic>
        <p:nvPicPr>
          <p:cNvPr id="6" name="icon You will write Python" descr="preencoded.png">    </p:cNvPr>
          <p:cNvPicPr>
            <a:picLocks noChangeAspect="1"/>
          </p:cNvPicPr>
          <p:nvPr/>
        </p:nvPicPr>
        <p:blipFill>
          <a:blip r:embed="rId1"/>
          <a:stretch>
            <a:fillRect/>
          </a:stretch>
        </p:blipFill>
        <p:spPr>
          <a:xfrm>
            <a:off x="641350" y="1481699"/>
            <a:ext cx="248920" cy="238733"/>
          </a:xfrm>
          <a:prstGeom prst="rect">
            <a:avLst/>
          </a:prstGeom>
        </p:spPr>
      </p:pic>
      <p:sp>
        <p:nvSpPr>
          <p:cNvPr id="7" name="card title You will write Python"/>
          <p:cNvSpPr txBox="1"/>
          <p:nvPr/>
        </p:nvSpPr>
        <p:spPr>
          <a:xfrm>
            <a:off x="1121410" y="1387911"/>
            <a:ext cx="1644650" cy="426308"/>
          </a:xfrm>
          <a:prstGeom prst="rect">
            <a:avLst/>
          </a:prstGeom>
          <a:noFill/>
          <a:ln/>
        </p:spPr>
        <p:txBody>
          <a:bodyPr wrap="square" lIns="0" tIns="0" rIns="0" bIns="0" rtlCol="0" anchor="ctr"/>
          <a:lstStyle/>
          <a:p>
            <a:pPr indent="0" marL="0">
              <a:buNone/>
            </a:pPr>
            <a:r>
              <a:rPr lang="en-US" sz="1200" b="1" dirty="0">
                <a:solidFill>
                  <a:srgbClr val="072E47"/>
                </a:solidFill>
              </a:rPr>
              <a:t>You will write Python</a:t>
            </a:r>
            <a:endParaRPr lang="en-US" sz="1200" dirty="0"/>
          </a:p>
        </p:txBody>
      </p:sp>
      <p:sp>
        <p:nvSpPr>
          <p:cNvPr id="8" name="card body You will write Python"/>
          <p:cNvSpPr txBox="1"/>
          <p:nvPr/>
        </p:nvSpPr>
        <p:spPr>
          <a:xfrm>
            <a:off x="543560" y="1916533"/>
            <a:ext cx="2178050" cy="166260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8D91"/>
                </a:solidFill>
              </a:rPr>
              <a:t>Variables, lists, dictionaries</a:t>
            </a:r>
            <a:endParaRPr lang="en-US" sz="1300" dirty="0"/>
          </a:p>
          <a:p>
            <a:pPr marL="342900" indent="-342900">
              <a:spcAft>
                <a:spcPts val="400"/>
              </a:spcAft>
              <a:buSzPct val="100000"/>
              <a:buChar char="•"/>
            </a:pPr>
            <a:r>
              <a:rPr lang="en-US" sz="1300" dirty="0">
                <a:solidFill>
                  <a:srgbClr val="0F8D91"/>
                </a:solidFill>
              </a:rPr>
              <a:t>Functions and classes</a:t>
            </a:r>
            <a:endParaRPr lang="en-US" sz="1300" dirty="0"/>
          </a:p>
          <a:p>
            <a:pPr marL="342900" indent="-342900">
              <a:spcAft>
                <a:spcPts val="400"/>
              </a:spcAft>
              <a:buSzPct val="100000"/>
              <a:buChar char="•"/>
            </a:pPr>
            <a:r>
              <a:rPr lang="en-US" sz="1300" dirty="0">
                <a:solidFill>
                  <a:srgbClr val="0F8D91"/>
                </a:solidFill>
              </a:rPr>
              <a:t>Just enough, exactly when needed</a:t>
            </a:r>
            <a:endParaRPr lang="en-US" sz="1300" dirty="0"/>
          </a:p>
        </p:txBody>
      </p:sp>
      <p:sp>
        <p:nvSpPr>
          <p:cNvPr id="9" name="card You will build a web app"/>
          <p:cNvSpPr/>
          <p:nvPr/>
        </p:nvSpPr>
        <p:spPr>
          <a:xfrm>
            <a:off x="3099435" y="1234440"/>
            <a:ext cx="2533650" cy="2472587"/>
          </a:xfrm>
          <a:prstGeom prst="roundRect">
            <a:avLst>
              <a:gd name="adj" fmla="val 4438"/>
            </a:avLst>
          </a:prstGeom>
          <a:solidFill>
            <a:srgbClr val="FFFFFF"/>
          </a:solidFill>
          <a:ln w="12700">
            <a:solidFill>
              <a:srgbClr val="FFFFFF"/>
            </a:solidFill>
            <a:prstDash val="solid"/>
          </a:ln>
        </p:spPr>
      </p:sp>
      <p:sp>
        <p:nvSpPr>
          <p:cNvPr id="10" name="icon bg You will build a web app"/>
          <p:cNvSpPr/>
          <p:nvPr/>
        </p:nvSpPr>
        <p:spPr>
          <a:xfrm>
            <a:off x="3277235" y="1387911"/>
            <a:ext cx="444500" cy="426308"/>
          </a:xfrm>
          <a:prstGeom prst="ellipse">
            <a:avLst/>
          </a:prstGeom>
          <a:solidFill>
            <a:srgbClr val="5DA144"/>
          </a:solidFill>
          <a:ln w="12700">
            <a:solidFill>
              <a:srgbClr val="5DA144"/>
            </a:solidFill>
            <a:prstDash val="solid"/>
          </a:ln>
        </p:spPr>
      </p:sp>
      <p:pic>
        <p:nvPicPr>
          <p:cNvPr id="11" name="icon You will build a web app" descr="preencoded.png">    </p:cNvPr>
          <p:cNvPicPr>
            <a:picLocks noChangeAspect="1"/>
          </p:cNvPicPr>
          <p:nvPr/>
        </p:nvPicPr>
        <p:blipFill>
          <a:blip r:embed="rId2"/>
          <a:stretch>
            <a:fillRect/>
          </a:stretch>
        </p:blipFill>
        <p:spPr>
          <a:xfrm>
            <a:off x="3375025" y="1481699"/>
            <a:ext cx="248920" cy="238733"/>
          </a:xfrm>
          <a:prstGeom prst="rect">
            <a:avLst/>
          </a:prstGeom>
        </p:spPr>
      </p:pic>
      <p:sp>
        <p:nvSpPr>
          <p:cNvPr id="12" name="card title You will build a web app"/>
          <p:cNvSpPr txBox="1"/>
          <p:nvPr/>
        </p:nvSpPr>
        <p:spPr>
          <a:xfrm>
            <a:off x="3855085" y="1387911"/>
            <a:ext cx="1644650" cy="426308"/>
          </a:xfrm>
          <a:prstGeom prst="rect">
            <a:avLst/>
          </a:prstGeom>
          <a:noFill/>
          <a:ln/>
        </p:spPr>
        <p:txBody>
          <a:bodyPr wrap="square" lIns="0" tIns="0" rIns="0" bIns="0" rtlCol="0" anchor="ctr"/>
          <a:lstStyle/>
          <a:p>
            <a:pPr indent="0" marL="0">
              <a:buNone/>
            </a:pPr>
            <a:r>
              <a:rPr lang="en-US" sz="1200" b="1" dirty="0">
                <a:solidFill>
                  <a:srgbClr val="072E47"/>
                </a:solidFill>
              </a:rPr>
              <a:t>You will build a web app</a:t>
            </a:r>
            <a:endParaRPr lang="en-US" sz="1200" dirty="0"/>
          </a:p>
        </p:txBody>
      </p:sp>
      <p:sp>
        <p:nvSpPr>
          <p:cNvPr id="13" name="card body You will build a web app"/>
          <p:cNvSpPr txBox="1"/>
          <p:nvPr/>
        </p:nvSpPr>
        <p:spPr>
          <a:xfrm>
            <a:off x="3277235" y="1916533"/>
            <a:ext cx="2178050" cy="166260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8D91"/>
                </a:solidFill>
              </a:rPr>
              <a:t>Pages, links, forms</a:t>
            </a:r>
            <a:endParaRPr lang="en-US" sz="1300" dirty="0"/>
          </a:p>
          <a:p>
            <a:pPr marL="342900" indent="-342900">
              <a:spcAft>
                <a:spcPts val="400"/>
              </a:spcAft>
              <a:buSzPct val="100000"/>
              <a:buChar char="•"/>
            </a:pPr>
            <a:r>
              <a:rPr lang="en-US" sz="1300" dirty="0">
                <a:solidFill>
                  <a:srgbClr val="0F8D91"/>
                </a:solidFill>
              </a:rPr>
              <a:t>A real database</a:t>
            </a:r>
            <a:endParaRPr lang="en-US" sz="1300" dirty="0"/>
          </a:p>
          <a:p>
            <a:pPr marL="342900" indent="-342900">
              <a:spcAft>
                <a:spcPts val="400"/>
              </a:spcAft>
              <a:buSzPct val="100000"/>
              <a:buChar char="•"/>
            </a:pPr>
            <a:r>
              <a:rPr lang="en-US" sz="1300" dirty="0">
                <a:solidFill>
                  <a:srgbClr val="0F8D91"/>
                </a:solidFill>
              </a:rPr>
              <a:t>Share a link, friends take your quiz</a:t>
            </a:r>
            <a:endParaRPr lang="en-US" sz="1300" dirty="0"/>
          </a:p>
        </p:txBody>
      </p:sp>
      <p:sp>
        <p:nvSpPr>
          <p:cNvPr id="14" name="card You will add an AI"/>
          <p:cNvSpPr/>
          <p:nvPr/>
        </p:nvSpPr>
        <p:spPr>
          <a:xfrm>
            <a:off x="5833110" y="1234440"/>
            <a:ext cx="2533650" cy="2472587"/>
          </a:xfrm>
          <a:prstGeom prst="roundRect">
            <a:avLst>
              <a:gd name="adj" fmla="val 4438"/>
            </a:avLst>
          </a:prstGeom>
          <a:solidFill>
            <a:srgbClr val="FFFFFF"/>
          </a:solidFill>
          <a:ln w="12700">
            <a:solidFill>
              <a:srgbClr val="FFFFFF"/>
            </a:solidFill>
            <a:prstDash val="solid"/>
          </a:ln>
        </p:spPr>
      </p:sp>
      <p:sp>
        <p:nvSpPr>
          <p:cNvPr id="15" name="icon bg You will add an AI"/>
          <p:cNvSpPr/>
          <p:nvPr/>
        </p:nvSpPr>
        <p:spPr>
          <a:xfrm>
            <a:off x="6010910" y="1387911"/>
            <a:ext cx="444500" cy="426308"/>
          </a:xfrm>
          <a:prstGeom prst="ellipse">
            <a:avLst/>
          </a:prstGeom>
          <a:solidFill>
            <a:srgbClr val="04B1A4"/>
          </a:solidFill>
          <a:ln w="12700">
            <a:solidFill>
              <a:srgbClr val="04B1A4"/>
            </a:solidFill>
            <a:prstDash val="solid"/>
          </a:ln>
        </p:spPr>
      </p:sp>
      <p:pic>
        <p:nvPicPr>
          <p:cNvPr id="16" name="icon You will add an AI" descr="preencoded.png">    </p:cNvPr>
          <p:cNvPicPr>
            <a:picLocks noChangeAspect="1"/>
          </p:cNvPicPr>
          <p:nvPr/>
        </p:nvPicPr>
        <p:blipFill>
          <a:blip r:embed="rId3"/>
          <a:stretch>
            <a:fillRect/>
          </a:stretch>
        </p:blipFill>
        <p:spPr>
          <a:xfrm>
            <a:off x="6108700" y="1481699"/>
            <a:ext cx="248920" cy="238733"/>
          </a:xfrm>
          <a:prstGeom prst="rect">
            <a:avLst/>
          </a:prstGeom>
        </p:spPr>
      </p:pic>
      <p:sp>
        <p:nvSpPr>
          <p:cNvPr id="17" name="card title You will add an AI"/>
          <p:cNvSpPr txBox="1"/>
          <p:nvPr/>
        </p:nvSpPr>
        <p:spPr>
          <a:xfrm>
            <a:off x="6588760" y="1387911"/>
            <a:ext cx="1644650" cy="426308"/>
          </a:xfrm>
          <a:prstGeom prst="rect">
            <a:avLst/>
          </a:prstGeom>
          <a:noFill/>
          <a:ln/>
        </p:spPr>
        <p:txBody>
          <a:bodyPr wrap="square" lIns="0" tIns="0" rIns="0" bIns="0" rtlCol="0" anchor="ctr"/>
          <a:lstStyle/>
          <a:p>
            <a:pPr indent="0" marL="0">
              <a:buNone/>
            </a:pPr>
            <a:r>
              <a:rPr lang="en-US" sz="1200" b="1" dirty="0">
                <a:solidFill>
                  <a:srgbClr val="072E47"/>
                </a:solidFill>
              </a:rPr>
              <a:t>You will add an AI</a:t>
            </a:r>
            <a:endParaRPr lang="en-US" sz="1200" dirty="0"/>
          </a:p>
        </p:txBody>
      </p:sp>
      <p:sp>
        <p:nvSpPr>
          <p:cNvPr id="18" name="card body You will add an AI"/>
          <p:cNvSpPr txBox="1"/>
          <p:nvPr/>
        </p:nvSpPr>
        <p:spPr>
          <a:xfrm>
            <a:off x="6010910" y="1916533"/>
            <a:ext cx="2178050" cy="166260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8D91"/>
                </a:solidFill>
              </a:rPr>
              <a:t>Ask it for quiz questions</a:t>
            </a:r>
            <a:endParaRPr lang="en-US" sz="1300" dirty="0"/>
          </a:p>
          <a:p>
            <a:pPr marL="342900" indent="-342900">
              <a:spcAft>
                <a:spcPts val="400"/>
              </a:spcAft>
              <a:buSzPct val="100000"/>
              <a:buChar char="•"/>
            </a:pPr>
            <a:r>
              <a:rPr lang="en-US" sz="1300" dirty="0">
                <a:solidFill>
                  <a:srgbClr val="0F8D91"/>
                </a:solidFill>
              </a:rPr>
              <a:t>Check what it gives you</a:t>
            </a:r>
            <a:endParaRPr lang="en-US" sz="1300" dirty="0"/>
          </a:p>
          <a:p>
            <a:pPr marL="342900" indent="-342900">
              <a:spcAft>
                <a:spcPts val="400"/>
              </a:spcAft>
              <a:buSzPct val="100000"/>
              <a:buChar char="•"/>
            </a:pPr>
            <a:r>
              <a:rPr lang="en-US" sz="1300" dirty="0">
                <a:solidFill>
                  <a:srgbClr val="0F8D91"/>
                </a:solidFill>
              </a:rPr>
              <a:t>You stay in charge of publishing</a:t>
            </a:r>
            <a:endParaRPr lang="en-US" sz="13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What we are building today</a:t>
            </a:r>
            <a:endParaRPr lang="en-US" sz="2400" dirty="0"/>
          </a:p>
        </p:txBody>
      </p:sp>
      <p:sp>
        <p:nvSpPr>
          <p:cNvPr id="4" name="flow Create"/>
          <p:cNvSpPr/>
          <p:nvPr/>
        </p:nvSpPr>
        <p:spPr>
          <a:xfrm>
            <a:off x="365760" y="1319702"/>
            <a:ext cx="1096433" cy="852616"/>
          </a:xfrm>
          <a:prstGeom prst="roundRect">
            <a:avLst>
              <a:gd name="adj" fmla="val 10725"/>
            </a:avLst>
          </a:prstGeom>
          <a:solidFill>
            <a:srgbClr val="F99508"/>
          </a:solidFill>
          <a:ln w="12700">
            <a:solidFill>
              <a:srgbClr val="F99508"/>
            </a:solidFill>
            <a:prstDash val="solid"/>
          </a:ln>
          <a:effectLst>
            <a:outerShdw sx="100000" sy="100000" kx="0" ky="0" algn="bl" rotWithShape="0" blurRad="76200" dist="25400" dir="5400000">
              <a:srgbClr val="000000">
                <a:alpha val="18000"/>
              </a:srgbClr>
            </a:outerShdw>
          </a:effectLst>
        </p:spPr>
      </p:sp>
      <p:pic>
        <p:nvPicPr>
          <p:cNvPr id="5" name="flow icon Create" descr="preencoded.png">    </p:cNvPr>
          <p:cNvPicPr>
            <a:picLocks noChangeAspect="1"/>
          </p:cNvPicPr>
          <p:nvPr/>
        </p:nvPicPr>
        <p:blipFill>
          <a:blip r:embed="rId1"/>
          <a:stretch>
            <a:fillRect/>
          </a:stretch>
        </p:blipFill>
        <p:spPr>
          <a:xfrm>
            <a:off x="736177" y="1447594"/>
            <a:ext cx="355600" cy="341046"/>
          </a:xfrm>
          <a:prstGeom prst="rect">
            <a:avLst/>
          </a:prstGeom>
        </p:spPr>
      </p:pic>
      <p:sp>
        <p:nvSpPr>
          <p:cNvPr id="6" name="flow label Create"/>
          <p:cNvSpPr txBox="1"/>
          <p:nvPr/>
        </p:nvSpPr>
        <p:spPr>
          <a:xfrm>
            <a:off x="410210" y="1788641"/>
            <a:ext cx="1007533" cy="341046"/>
          </a:xfrm>
          <a:prstGeom prst="rect">
            <a:avLst/>
          </a:prstGeom>
          <a:noFill/>
          <a:ln/>
        </p:spPr>
        <p:txBody>
          <a:bodyPr wrap="square" lIns="0" tIns="0" rIns="0" bIns="0" rtlCol="0" anchor="t"/>
          <a:lstStyle/>
          <a:p>
            <a:pPr algn="ctr" indent="0" marL="0">
              <a:buNone/>
            </a:pPr>
            <a:r>
              <a:rPr lang="en-US" sz="1300" b="1" dirty="0">
                <a:solidFill>
                  <a:srgbClr val="072E47"/>
                </a:solidFill>
              </a:rPr>
              <a:t>Create</a:t>
            </a:r>
            <a:endParaRPr lang="en-US" sz="1300" dirty="0"/>
          </a:p>
        </p:txBody>
      </p:sp>
      <p:sp>
        <p:nvSpPr>
          <p:cNvPr id="7" name="arrow 0"/>
          <p:cNvSpPr/>
          <p:nvPr/>
        </p:nvSpPr>
        <p:spPr>
          <a:xfrm>
            <a:off x="1497753" y="1643696"/>
            <a:ext cx="213360" cy="204628"/>
          </a:xfrm>
          <a:prstGeom prst="rightArrow">
            <a:avLst/>
          </a:prstGeom>
          <a:solidFill>
            <a:srgbClr val="0F8D91"/>
          </a:solidFill>
          <a:ln w="12700">
            <a:solidFill>
              <a:srgbClr val="0F8D91"/>
            </a:solidFill>
            <a:prstDash val="solid"/>
          </a:ln>
        </p:spPr>
      </p:sp>
      <p:sp>
        <p:nvSpPr>
          <p:cNvPr id="8" name="flow Publish"/>
          <p:cNvSpPr/>
          <p:nvPr/>
        </p:nvSpPr>
        <p:spPr>
          <a:xfrm>
            <a:off x="1746673" y="1319702"/>
            <a:ext cx="1096433" cy="852616"/>
          </a:xfrm>
          <a:prstGeom prst="roundRect">
            <a:avLst>
              <a:gd name="adj" fmla="val 10725"/>
            </a:avLst>
          </a:prstGeom>
          <a:solidFill>
            <a:srgbClr val="5DA144"/>
          </a:solidFill>
          <a:ln w="12700">
            <a:solidFill>
              <a:srgbClr val="5DA144"/>
            </a:solidFill>
            <a:prstDash val="solid"/>
          </a:ln>
          <a:effectLst>
            <a:outerShdw sx="100000" sy="100000" kx="0" ky="0" algn="bl" rotWithShape="0" blurRad="76200" dist="25400" dir="5400000">
              <a:srgbClr val="000000">
                <a:alpha val="18000"/>
              </a:srgbClr>
            </a:outerShdw>
          </a:effectLst>
        </p:spPr>
      </p:sp>
      <p:pic>
        <p:nvPicPr>
          <p:cNvPr id="9" name="flow icon Publish" descr="preencoded.png">    </p:cNvPr>
          <p:cNvPicPr>
            <a:picLocks noChangeAspect="1"/>
          </p:cNvPicPr>
          <p:nvPr/>
        </p:nvPicPr>
        <p:blipFill>
          <a:blip r:embed="rId2"/>
          <a:stretch>
            <a:fillRect/>
          </a:stretch>
        </p:blipFill>
        <p:spPr>
          <a:xfrm>
            <a:off x="2117090" y="1447594"/>
            <a:ext cx="355600" cy="341046"/>
          </a:xfrm>
          <a:prstGeom prst="rect">
            <a:avLst/>
          </a:prstGeom>
        </p:spPr>
      </p:pic>
      <p:sp>
        <p:nvSpPr>
          <p:cNvPr id="10" name="flow label Publish"/>
          <p:cNvSpPr txBox="1"/>
          <p:nvPr/>
        </p:nvSpPr>
        <p:spPr>
          <a:xfrm>
            <a:off x="1791123" y="1788641"/>
            <a:ext cx="1007533" cy="341046"/>
          </a:xfrm>
          <a:prstGeom prst="rect">
            <a:avLst/>
          </a:prstGeom>
          <a:noFill/>
          <a:ln/>
        </p:spPr>
        <p:txBody>
          <a:bodyPr wrap="square" lIns="0" tIns="0" rIns="0" bIns="0" rtlCol="0" anchor="t"/>
          <a:lstStyle/>
          <a:p>
            <a:pPr algn="ctr" indent="0" marL="0">
              <a:buNone/>
            </a:pPr>
            <a:r>
              <a:rPr lang="en-US" sz="1300" b="1" dirty="0">
                <a:solidFill>
                  <a:srgbClr val="072E47"/>
                </a:solidFill>
              </a:rPr>
              <a:t>Publish</a:t>
            </a:r>
            <a:endParaRPr lang="en-US" sz="1300" dirty="0"/>
          </a:p>
        </p:txBody>
      </p:sp>
      <p:sp>
        <p:nvSpPr>
          <p:cNvPr id="11" name="arrow 1"/>
          <p:cNvSpPr/>
          <p:nvPr/>
        </p:nvSpPr>
        <p:spPr>
          <a:xfrm>
            <a:off x="2878667" y="1643696"/>
            <a:ext cx="213360" cy="204628"/>
          </a:xfrm>
          <a:prstGeom prst="rightArrow">
            <a:avLst/>
          </a:prstGeom>
          <a:solidFill>
            <a:srgbClr val="0F8D91"/>
          </a:solidFill>
          <a:ln w="12700">
            <a:solidFill>
              <a:srgbClr val="0F8D91"/>
            </a:solidFill>
            <a:prstDash val="solid"/>
          </a:ln>
        </p:spPr>
      </p:sp>
      <p:sp>
        <p:nvSpPr>
          <p:cNvPr id="12" name="flow Share"/>
          <p:cNvSpPr/>
          <p:nvPr/>
        </p:nvSpPr>
        <p:spPr>
          <a:xfrm>
            <a:off x="3127587" y="1319702"/>
            <a:ext cx="1096433" cy="852616"/>
          </a:xfrm>
          <a:prstGeom prst="roundRect">
            <a:avLst>
              <a:gd name="adj" fmla="val 10725"/>
            </a:avLst>
          </a:prstGeom>
          <a:solidFill>
            <a:srgbClr val="8FD3CC"/>
          </a:solidFill>
          <a:ln w="12700">
            <a:solidFill>
              <a:srgbClr val="8FD3CC"/>
            </a:solidFill>
            <a:prstDash val="solid"/>
          </a:ln>
          <a:effectLst>
            <a:outerShdw sx="100000" sy="100000" kx="0" ky="0" algn="bl" rotWithShape="0" blurRad="76200" dist="25400" dir="5400000">
              <a:srgbClr val="000000">
                <a:alpha val="18000"/>
              </a:srgbClr>
            </a:outerShdw>
          </a:effectLst>
        </p:spPr>
      </p:sp>
      <p:pic>
        <p:nvPicPr>
          <p:cNvPr id="13" name="flow icon Share" descr="preencoded.png">    </p:cNvPr>
          <p:cNvPicPr>
            <a:picLocks noChangeAspect="1"/>
          </p:cNvPicPr>
          <p:nvPr/>
        </p:nvPicPr>
        <p:blipFill>
          <a:blip r:embed="rId3"/>
          <a:stretch>
            <a:fillRect/>
          </a:stretch>
        </p:blipFill>
        <p:spPr>
          <a:xfrm>
            <a:off x="3498003" y="1447594"/>
            <a:ext cx="355600" cy="341046"/>
          </a:xfrm>
          <a:prstGeom prst="rect">
            <a:avLst/>
          </a:prstGeom>
        </p:spPr>
      </p:pic>
      <p:sp>
        <p:nvSpPr>
          <p:cNvPr id="14" name="flow label Share"/>
          <p:cNvSpPr txBox="1"/>
          <p:nvPr/>
        </p:nvSpPr>
        <p:spPr>
          <a:xfrm>
            <a:off x="3172037" y="1788641"/>
            <a:ext cx="1007533" cy="341046"/>
          </a:xfrm>
          <a:prstGeom prst="rect">
            <a:avLst/>
          </a:prstGeom>
          <a:noFill/>
          <a:ln/>
        </p:spPr>
        <p:txBody>
          <a:bodyPr wrap="square" lIns="0" tIns="0" rIns="0" bIns="0" rtlCol="0" anchor="t"/>
          <a:lstStyle/>
          <a:p>
            <a:pPr algn="ctr" indent="0" marL="0">
              <a:buNone/>
            </a:pPr>
            <a:r>
              <a:rPr lang="en-US" sz="1300" b="1" dirty="0">
                <a:solidFill>
                  <a:srgbClr val="072E47"/>
                </a:solidFill>
              </a:rPr>
              <a:t>Share</a:t>
            </a:r>
            <a:endParaRPr lang="en-US" sz="1300" dirty="0"/>
          </a:p>
        </p:txBody>
      </p:sp>
      <p:sp>
        <p:nvSpPr>
          <p:cNvPr id="15" name="arrow 2"/>
          <p:cNvSpPr/>
          <p:nvPr/>
        </p:nvSpPr>
        <p:spPr>
          <a:xfrm>
            <a:off x="4259580" y="1643696"/>
            <a:ext cx="213360" cy="204628"/>
          </a:xfrm>
          <a:prstGeom prst="rightArrow">
            <a:avLst/>
          </a:prstGeom>
          <a:solidFill>
            <a:srgbClr val="0F8D91"/>
          </a:solidFill>
          <a:ln w="12700">
            <a:solidFill>
              <a:srgbClr val="0F8D91"/>
            </a:solidFill>
            <a:prstDash val="solid"/>
          </a:ln>
        </p:spPr>
      </p:sp>
      <p:sp>
        <p:nvSpPr>
          <p:cNvPr id="16" name="flow Answer"/>
          <p:cNvSpPr/>
          <p:nvPr/>
        </p:nvSpPr>
        <p:spPr>
          <a:xfrm>
            <a:off x="4508500" y="1319702"/>
            <a:ext cx="1096433" cy="852616"/>
          </a:xfrm>
          <a:prstGeom prst="roundRect">
            <a:avLst>
              <a:gd name="adj" fmla="val 10725"/>
            </a:avLst>
          </a:prstGeom>
          <a:solidFill>
            <a:srgbClr val="1B6F86"/>
          </a:solidFill>
          <a:ln w="12700">
            <a:solidFill>
              <a:srgbClr val="1B6F86"/>
            </a:solidFill>
            <a:prstDash val="solid"/>
          </a:ln>
          <a:effectLst>
            <a:outerShdw sx="100000" sy="100000" kx="0" ky="0" algn="bl" rotWithShape="0" blurRad="76200" dist="25400" dir="5400000">
              <a:srgbClr val="000000">
                <a:alpha val="18000"/>
              </a:srgbClr>
            </a:outerShdw>
          </a:effectLst>
        </p:spPr>
      </p:sp>
      <p:pic>
        <p:nvPicPr>
          <p:cNvPr id="17" name="flow icon Answer" descr="preencoded.png">    </p:cNvPr>
          <p:cNvPicPr>
            <a:picLocks noChangeAspect="1"/>
          </p:cNvPicPr>
          <p:nvPr/>
        </p:nvPicPr>
        <p:blipFill>
          <a:blip r:embed="rId4"/>
          <a:stretch>
            <a:fillRect/>
          </a:stretch>
        </p:blipFill>
        <p:spPr>
          <a:xfrm>
            <a:off x="4878917" y="1447594"/>
            <a:ext cx="355600" cy="341046"/>
          </a:xfrm>
          <a:prstGeom prst="rect">
            <a:avLst/>
          </a:prstGeom>
        </p:spPr>
      </p:pic>
      <p:sp>
        <p:nvSpPr>
          <p:cNvPr id="18" name="flow label Answer"/>
          <p:cNvSpPr txBox="1"/>
          <p:nvPr/>
        </p:nvSpPr>
        <p:spPr>
          <a:xfrm>
            <a:off x="4552950" y="1788641"/>
            <a:ext cx="1007533" cy="341046"/>
          </a:xfrm>
          <a:prstGeom prst="rect">
            <a:avLst/>
          </a:prstGeom>
          <a:noFill/>
          <a:ln/>
        </p:spPr>
        <p:txBody>
          <a:bodyPr wrap="square" lIns="0" tIns="0" rIns="0" bIns="0" rtlCol="0" anchor="t"/>
          <a:lstStyle/>
          <a:p>
            <a:pPr algn="ctr" indent="0" marL="0">
              <a:buNone/>
            </a:pPr>
            <a:r>
              <a:rPr lang="en-US" sz="1300" b="1" dirty="0">
                <a:solidFill>
                  <a:srgbClr val="072E47"/>
                </a:solidFill>
              </a:rPr>
              <a:t>Answer</a:t>
            </a:r>
            <a:endParaRPr lang="en-US" sz="1300" dirty="0"/>
          </a:p>
        </p:txBody>
      </p:sp>
      <p:sp>
        <p:nvSpPr>
          <p:cNvPr id="19" name="arrow 3"/>
          <p:cNvSpPr/>
          <p:nvPr/>
        </p:nvSpPr>
        <p:spPr>
          <a:xfrm>
            <a:off x="5640493" y="1643696"/>
            <a:ext cx="213360" cy="204628"/>
          </a:xfrm>
          <a:prstGeom prst="rightArrow">
            <a:avLst/>
          </a:prstGeom>
          <a:solidFill>
            <a:srgbClr val="0F8D91"/>
          </a:solidFill>
          <a:ln w="12700">
            <a:solidFill>
              <a:srgbClr val="0F8D91"/>
            </a:solidFill>
            <a:prstDash val="solid"/>
          </a:ln>
        </p:spPr>
      </p:sp>
      <p:sp>
        <p:nvSpPr>
          <p:cNvPr id="20" name="flow Evaluate"/>
          <p:cNvSpPr/>
          <p:nvPr/>
        </p:nvSpPr>
        <p:spPr>
          <a:xfrm>
            <a:off x="5889413" y="1319702"/>
            <a:ext cx="1096433" cy="852616"/>
          </a:xfrm>
          <a:prstGeom prst="roundRect">
            <a:avLst>
              <a:gd name="adj" fmla="val 10725"/>
            </a:avLst>
          </a:prstGeom>
          <a:solidFill>
            <a:srgbClr val="04B1A4"/>
          </a:solidFill>
          <a:ln w="12700">
            <a:solidFill>
              <a:srgbClr val="04B1A4"/>
            </a:solidFill>
            <a:prstDash val="solid"/>
          </a:ln>
          <a:effectLst>
            <a:outerShdw sx="100000" sy="100000" kx="0" ky="0" algn="bl" rotWithShape="0" blurRad="76200" dist="25400" dir="5400000">
              <a:srgbClr val="000000">
                <a:alpha val="18000"/>
              </a:srgbClr>
            </a:outerShdw>
          </a:effectLst>
        </p:spPr>
      </p:sp>
      <p:pic>
        <p:nvPicPr>
          <p:cNvPr id="21" name="flow icon Evaluate" descr="preencoded.png">    </p:cNvPr>
          <p:cNvPicPr>
            <a:picLocks noChangeAspect="1"/>
          </p:cNvPicPr>
          <p:nvPr/>
        </p:nvPicPr>
        <p:blipFill>
          <a:blip r:embed="rId5"/>
          <a:stretch>
            <a:fillRect/>
          </a:stretch>
        </p:blipFill>
        <p:spPr>
          <a:xfrm>
            <a:off x="6259830" y="1447594"/>
            <a:ext cx="355600" cy="341046"/>
          </a:xfrm>
          <a:prstGeom prst="rect">
            <a:avLst/>
          </a:prstGeom>
        </p:spPr>
      </p:pic>
      <p:sp>
        <p:nvSpPr>
          <p:cNvPr id="22" name="flow label Evaluate"/>
          <p:cNvSpPr txBox="1"/>
          <p:nvPr/>
        </p:nvSpPr>
        <p:spPr>
          <a:xfrm>
            <a:off x="5933863" y="1788641"/>
            <a:ext cx="1007533" cy="341046"/>
          </a:xfrm>
          <a:prstGeom prst="rect">
            <a:avLst/>
          </a:prstGeom>
          <a:noFill/>
          <a:ln/>
        </p:spPr>
        <p:txBody>
          <a:bodyPr wrap="square" lIns="0" tIns="0" rIns="0" bIns="0" rtlCol="0" anchor="t"/>
          <a:lstStyle/>
          <a:p>
            <a:pPr algn="ctr" indent="0" marL="0">
              <a:buNone/>
            </a:pPr>
            <a:r>
              <a:rPr lang="en-US" sz="1300" b="1" dirty="0">
                <a:solidFill>
                  <a:srgbClr val="072E47"/>
                </a:solidFill>
              </a:rPr>
              <a:t>Evaluate</a:t>
            </a:r>
            <a:endParaRPr lang="en-US" sz="1300" dirty="0"/>
          </a:p>
        </p:txBody>
      </p:sp>
      <p:sp>
        <p:nvSpPr>
          <p:cNvPr id="23" name="arrow 4"/>
          <p:cNvSpPr/>
          <p:nvPr/>
        </p:nvSpPr>
        <p:spPr>
          <a:xfrm>
            <a:off x="7021407" y="1643696"/>
            <a:ext cx="213360" cy="204628"/>
          </a:xfrm>
          <a:prstGeom prst="rightArrow">
            <a:avLst/>
          </a:prstGeom>
          <a:solidFill>
            <a:srgbClr val="0F8D91"/>
          </a:solidFill>
          <a:ln w="12700">
            <a:solidFill>
              <a:srgbClr val="0F8D91"/>
            </a:solidFill>
            <a:prstDash val="solid"/>
          </a:ln>
        </p:spPr>
      </p:sp>
      <p:sp>
        <p:nvSpPr>
          <p:cNvPr id="24" name="flow Results"/>
          <p:cNvSpPr/>
          <p:nvPr/>
        </p:nvSpPr>
        <p:spPr>
          <a:xfrm>
            <a:off x="7270327" y="1319702"/>
            <a:ext cx="1096433" cy="852616"/>
          </a:xfrm>
          <a:prstGeom prst="roundRect">
            <a:avLst>
              <a:gd name="adj" fmla="val 10725"/>
            </a:avLst>
          </a:prstGeom>
          <a:solidFill>
            <a:srgbClr val="D9534F"/>
          </a:solidFill>
          <a:ln w="12700">
            <a:solidFill>
              <a:srgbClr val="D9534F"/>
            </a:solidFill>
            <a:prstDash val="solid"/>
          </a:ln>
          <a:effectLst>
            <a:outerShdw sx="100000" sy="100000" kx="0" ky="0" algn="bl" rotWithShape="0" blurRad="76200" dist="25400" dir="5400000">
              <a:srgbClr val="000000">
                <a:alpha val="18000"/>
              </a:srgbClr>
            </a:outerShdw>
          </a:effectLst>
        </p:spPr>
      </p:sp>
      <p:pic>
        <p:nvPicPr>
          <p:cNvPr id="25" name="flow icon Results" descr="preencoded.png">    </p:cNvPr>
          <p:cNvPicPr>
            <a:picLocks noChangeAspect="1"/>
          </p:cNvPicPr>
          <p:nvPr/>
        </p:nvPicPr>
        <p:blipFill>
          <a:blip r:embed="rId6"/>
          <a:stretch>
            <a:fillRect/>
          </a:stretch>
        </p:blipFill>
        <p:spPr>
          <a:xfrm>
            <a:off x="7640743" y="1447594"/>
            <a:ext cx="355600" cy="341046"/>
          </a:xfrm>
          <a:prstGeom prst="rect">
            <a:avLst/>
          </a:prstGeom>
        </p:spPr>
      </p:pic>
      <p:sp>
        <p:nvSpPr>
          <p:cNvPr id="26" name="flow label Results"/>
          <p:cNvSpPr txBox="1"/>
          <p:nvPr/>
        </p:nvSpPr>
        <p:spPr>
          <a:xfrm>
            <a:off x="7314777" y="1788641"/>
            <a:ext cx="1007533" cy="341046"/>
          </a:xfrm>
          <a:prstGeom prst="rect">
            <a:avLst/>
          </a:prstGeom>
          <a:noFill/>
          <a:ln/>
        </p:spPr>
        <p:txBody>
          <a:bodyPr wrap="square" lIns="0" tIns="0" rIns="0" bIns="0" rtlCol="0" anchor="t"/>
          <a:lstStyle/>
          <a:p>
            <a:pPr algn="ctr" indent="0" marL="0">
              <a:buNone/>
            </a:pPr>
            <a:r>
              <a:rPr lang="en-US" sz="1300" b="1" dirty="0">
                <a:solidFill>
                  <a:srgbClr val="072E47"/>
                </a:solidFill>
              </a:rPr>
              <a:t>Results</a:t>
            </a:r>
            <a:endParaRPr lang="en-US" sz="1300" dirty="0"/>
          </a:p>
        </p:txBody>
      </p:sp>
      <p:sp>
        <p:nvSpPr>
          <p:cNvPr id="27" name="code card"/>
          <p:cNvSpPr/>
          <p:nvPr/>
        </p:nvSpPr>
        <p:spPr>
          <a:xfrm>
            <a:off x="365760" y="2470734"/>
            <a:ext cx="3822700" cy="1875756"/>
          </a:xfrm>
          <a:prstGeom prst="roundRect">
            <a:avLst>
              <a:gd name="adj" fmla="val 585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28" name="file label"/>
          <p:cNvSpPr/>
          <p:nvPr/>
        </p:nvSpPr>
        <p:spPr>
          <a:xfrm>
            <a:off x="543560" y="2573047"/>
            <a:ext cx="2578100" cy="238733"/>
          </a:xfrm>
          <a:prstGeom prst="roundRect">
            <a:avLst>
              <a:gd name="adj" fmla="val 30642"/>
            </a:avLst>
          </a:prstGeom>
          <a:solidFill>
            <a:srgbClr val="F99508"/>
          </a:solidFill>
          <a:ln w="12700">
            <a:solidFill>
              <a:srgbClr val="F99508"/>
            </a:solidFill>
            <a:prstDash val="solid"/>
          </a:ln>
        </p:spPr>
      </p:sp>
      <p:sp>
        <p:nvSpPr>
          <p:cNvPr id="29" name="file label text"/>
          <p:cNvSpPr txBox="1"/>
          <p:nvPr/>
        </p:nvSpPr>
        <p:spPr>
          <a:xfrm>
            <a:off x="543560" y="2573047"/>
            <a:ext cx="257810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/reviewer/python-fundamentals/</a:t>
            </a:r>
            <a:endParaRPr lang="en-US" sz="1000" dirty="0"/>
          </a:p>
        </p:txBody>
      </p:sp>
      <p:sp>
        <p:nvSpPr>
          <p:cNvPr id="30" name="code"/>
          <p:cNvSpPr txBox="1"/>
          <p:nvPr/>
        </p:nvSpPr>
        <p:spPr>
          <a:xfrm>
            <a:off x="588010" y="2897042"/>
            <a:ext cx="3378200" cy="1321555"/>
          </a:xfrm>
          <a:prstGeom prst="rect">
            <a:avLst/>
          </a:prstGeom>
          <a:noFill/>
          <a:ln/>
        </p:spPr>
        <p:txBody>
          <a:bodyPr wrap="square" lIns="0" tIns="0" rIns="0" bIns="0" rtlCol="0" anchor="t"/>
          <a:lstStyle/>
          <a:p>
            <a:pPr indent="0" marL="0">
              <a:buNone/>
            </a:pPr>
            <a:r>
              <a:rPr lang="en-US" sz="1150" dirty="0">
                <a:solidFill>
                  <a:srgbClr val="F8F8F2"/>
                </a:solidFill>
                <a:latin typeface="Courier New" pitchFamily="34" charset="0"/>
                <a:ea typeface="Courier New" pitchFamily="34" charset="-122"/>
                <a:cs typeface="Courier New" pitchFamily="34" charset="-120"/>
              </a:rPr>
              <a:t>Python Fundamentals Reviewer</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1. Which keyword defines a function?</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 ) func   (•) def</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 ) function   ( ) define</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2. What does len() return?</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 the number of items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 Submit answers ]</a:t>
            </a:r>
            <a:endParaRPr lang="en-US" sz="1150" dirty="0"/>
          </a:p>
        </p:txBody>
      </p:sp>
      <p:sp>
        <p:nvSpPr>
          <p:cNvPr id="31" name="bullets"/>
          <p:cNvSpPr txBox="1"/>
          <p:nvPr/>
        </p:nvSpPr>
        <p:spPr>
          <a:xfrm>
            <a:off x="4455160" y="2513364"/>
            <a:ext cx="3911600" cy="1875756"/>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72E47"/>
                </a:solidFill>
              </a:rPr>
              <a:t>A Reviewer has a title and many Questions</a:t>
            </a:r>
            <a:endParaRPr lang="en-US" sz="1400" dirty="0"/>
          </a:p>
          <a:p>
            <a:pPr marL="342900" indent="-342900">
              <a:spcAft>
                <a:spcPts val="800"/>
              </a:spcAft>
              <a:buSzPct val="100000"/>
              <a:buChar char="•"/>
            </a:pPr>
            <a:r>
              <a:rPr lang="en-US" sz="1400" dirty="0">
                <a:solidFill>
                  <a:srgbClr val="072E47"/>
                </a:solidFill>
              </a:rPr>
              <a:t>Multiple choice: pick one of 4 choices</a:t>
            </a:r>
            <a:endParaRPr lang="en-US" sz="1400" dirty="0"/>
          </a:p>
          <a:p>
            <a:pPr marL="342900" indent="-342900">
              <a:spcAft>
                <a:spcPts val="800"/>
              </a:spcAft>
              <a:buSzPct val="100000"/>
              <a:buChar char="•"/>
            </a:pPr>
            <a:r>
              <a:rPr lang="en-US" sz="1400" dirty="0">
                <a:solidFill>
                  <a:srgbClr val="072E47"/>
                </a:solidFill>
              </a:rPr>
              <a:t>Direct answer: type the answer</a:t>
            </a:r>
            <a:endParaRPr lang="en-US" sz="1400" dirty="0"/>
          </a:p>
          <a:p>
            <a:pPr marL="342900" indent="-342900">
              <a:spcAft>
                <a:spcPts val="800"/>
              </a:spcAft>
              <a:buSzPct val="100000"/>
              <a:buChar char="•"/>
            </a:pPr>
            <a:r>
              <a:rPr lang="en-US" sz="1400" dirty="0">
                <a:solidFill>
                  <a:srgbClr val="072E47"/>
                </a:solidFill>
              </a:rPr>
              <a:t>Anyone with the link can take it, no login</a:t>
            </a:r>
            <a:endParaRPr lang="en-US" sz="1400" dirty="0"/>
          </a:p>
          <a:p>
            <a:pPr marL="342900" indent="-342900">
              <a:spcAft>
                <a:spcPts val="800"/>
              </a:spcAft>
              <a:buSzPct val="100000"/>
              <a:buChar char="•"/>
            </a:pPr>
            <a:r>
              <a:rPr lang="en-US" sz="1400" dirty="0">
                <a:solidFill>
                  <a:srgbClr val="072E47"/>
                </a:solidFill>
              </a:rPr>
              <a:t>The app grades it instantly</a:t>
            </a:r>
            <a:endParaRPr lang="en-US" sz="14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The journey in one picture</a:t>
            </a:r>
            <a:endParaRPr lang="en-US" sz="2400" dirty="0"/>
          </a:p>
        </p:txBody>
      </p:sp>
      <p:sp>
        <p:nvSpPr>
          <p:cNvPr id="4" name="flow Python"/>
          <p:cNvSpPr/>
          <p:nvPr/>
        </p:nvSpPr>
        <p:spPr>
          <a:xfrm>
            <a:off x="365760" y="1404963"/>
            <a:ext cx="1096433" cy="937878"/>
          </a:xfrm>
          <a:prstGeom prst="roundRect">
            <a:avLst>
              <a:gd name="adj" fmla="val 9750"/>
            </a:avLst>
          </a:prstGeom>
          <a:solidFill>
            <a:srgbClr val="F99508"/>
          </a:solidFill>
          <a:ln w="12700">
            <a:solidFill>
              <a:srgbClr val="F99508"/>
            </a:solidFill>
            <a:prstDash val="solid"/>
          </a:ln>
          <a:effectLst>
            <a:outerShdw sx="100000" sy="100000" kx="0" ky="0" algn="bl" rotWithShape="0" blurRad="76200" dist="25400" dir="5400000">
              <a:srgbClr val="000000">
                <a:alpha val="18000"/>
              </a:srgbClr>
            </a:outerShdw>
          </a:effectLst>
        </p:spPr>
      </p:sp>
      <p:pic>
        <p:nvPicPr>
          <p:cNvPr id="5" name="flow icon Python" descr="preencoded.png">    </p:cNvPr>
          <p:cNvPicPr>
            <a:picLocks noChangeAspect="1"/>
          </p:cNvPicPr>
          <p:nvPr/>
        </p:nvPicPr>
        <p:blipFill>
          <a:blip r:embed="rId1"/>
          <a:stretch>
            <a:fillRect/>
          </a:stretch>
        </p:blipFill>
        <p:spPr>
          <a:xfrm>
            <a:off x="736177" y="1532856"/>
            <a:ext cx="355600" cy="341046"/>
          </a:xfrm>
          <a:prstGeom prst="rect">
            <a:avLst/>
          </a:prstGeom>
        </p:spPr>
      </p:pic>
      <p:sp>
        <p:nvSpPr>
          <p:cNvPr id="6" name="flow label Python"/>
          <p:cNvSpPr txBox="1"/>
          <p:nvPr/>
        </p:nvSpPr>
        <p:spPr>
          <a:xfrm>
            <a:off x="410210" y="1873902"/>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Python</a:t>
            </a:r>
            <a:endParaRPr lang="en-US" sz="1200" dirty="0"/>
          </a:p>
        </p:txBody>
      </p:sp>
      <p:sp>
        <p:nvSpPr>
          <p:cNvPr id="7" name="arrow 0"/>
          <p:cNvSpPr/>
          <p:nvPr/>
        </p:nvSpPr>
        <p:spPr>
          <a:xfrm>
            <a:off x="1497753" y="1771588"/>
            <a:ext cx="213360" cy="204628"/>
          </a:xfrm>
          <a:prstGeom prst="rightArrow">
            <a:avLst/>
          </a:prstGeom>
          <a:solidFill>
            <a:srgbClr val="0F8D91"/>
          </a:solidFill>
          <a:ln w="12700">
            <a:solidFill>
              <a:srgbClr val="0F8D91"/>
            </a:solidFill>
            <a:prstDash val="solid"/>
          </a:ln>
        </p:spPr>
      </p:sp>
      <p:sp>
        <p:nvSpPr>
          <p:cNvPr id="8" name="flow Django"/>
          <p:cNvSpPr/>
          <p:nvPr/>
        </p:nvSpPr>
        <p:spPr>
          <a:xfrm>
            <a:off x="1746673" y="1404963"/>
            <a:ext cx="1096433" cy="937878"/>
          </a:xfrm>
          <a:prstGeom prst="roundRect">
            <a:avLst>
              <a:gd name="adj" fmla="val 9750"/>
            </a:avLst>
          </a:prstGeom>
          <a:solidFill>
            <a:srgbClr val="5DA144"/>
          </a:solidFill>
          <a:ln w="12700">
            <a:solidFill>
              <a:srgbClr val="5DA144"/>
            </a:solidFill>
            <a:prstDash val="solid"/>
          </a:ln>
          <a:effectLst>
            <a:outerShdw sx="100000" sy="100000" kx="0" ky="0" algn="bl" rotWithShape="0" blurRad="76200" dist="25400" dir="5400000">
              <a:srgbClr val="000000">
                <a:alpha val="18000"/>
              </a:srgbClr>
            </a:outerShdw>
          </a:effectLst>
        </p:spPr>
      </p:sp>
      <p:pic>
        <p:nvPicPr>
          <p:cNvPr id="9" name="flow icon Django" descr="preencoded.png">    </p:cNvPr>
          <p:cNvPicPr>
            <a:picLocks noChangeAspect="1"/>
          </p:cNvPicPr>
          <p:nvPr/>
        </p:nvPicPr>
        <p:blipFill>
          <a:blip r:embed="rId2"/>
          <a:stretch>
            <a:fillRect/>
          </a:stretch>
        </p:blipFill>
        <p:spPr>
          <a:xfrm>
            <a:off x="2117090" y="1532856"/>
            <a:ext cx="355600" cy="341046"/>
          </a:xfrm>
          <a:prstGeom prst="rect">
            <a:avLst/>
          </a:prstGeom>
        </p:spPr>
      </p:pic>
      <p:sp>
        <p:nvSpPr>
          <p:cNvPr id="10" name="flow label Django"/>
          <p:cNvSpPr txBox="1"/>
          <p:nvPr/>
        </p:nvSpPr>
        <p:spPr>
          <a:xfrm>
            <a:off x="1791123" y="1873902"/>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Django</a:t>
            </a:r>
            <a:endParaRPr lang="en-US" sz="1200" dirty="0"/>
          </a:p>
        </p:txBody>
      </p:sp>
      <p:sp>
        <p:nvSpPr>
          <p:cNvPr id="11" name="arrow 1"/>
          <p:cNvSpPr/>
          <p:nvPr/>
        </p:nvSpPr>
        <p:spPr>
          <a:xfrm>
            <a:off x="2878667" y="1771588"/>
            <a:ext cx="213360" cy="204628"/>
          </a:xfrm>
          <a:prstGeom prst="rightArrow">
            <a:avLst/>
          </a:prstGeom>
          <a:solidFill>
            <a:srgbClr val="0F8D91"/>
          </a:solidFill>
          <a:ln w="12700">
            <a:solidFill>
              <a:srgbClr val="0F8D91"/>
            </a:solidFill>
            <a:prstDash val="solid"/>
          </a:ln>
        </p:spPr>
      </p:sp>
      <p:sp>
        <p:nvSpPr>
          <p:cNvPr id="12" name="flow Web app"/>
          <p:cNvSpPr/>
          <p:nvPr/>
        </p:nvSpPr>
        <p:spPr>
          <a:xfrm>
            <a:off x="3127587" y="1404963"/>
            <a:ext cx="1096433" cy="937878"/>
          </a:xfrm>
          <a:prstGeom prst="roundRect">
            <a:avLst>
              <a:gd name="adj" fmla="val 9750"/>
            </a:avLst>
          </a:prstGeom>
          <a:solidFill>
            <a:srgbClr val="8FD3CC"/>
          </a:solidFill>
          <a:ln w="12700">
            <a:solidFill>
              <a:srgbClr val="8FD3CC"/>
            </a:solidFill>
            <a:prstDash val="solid"/>
          </a:ln>
          <a:effectLst>
            <a:outerShdw sx="100000" sy="100000" kx="0" ky="0" algn="bl" rotWithShape="0" blurRad="76200" dist="25400" dir="5400000">
              <a:srgbClr val="000000">
                <a:alpha val="18000"/>
              </a:srgbClr>
            </a:outerShdw>
          </a:effectLst>
        </p:spPr>
      </p:sp>
      <p:pic>
        <p:nvPicPr>
          <p:cNvPr id="13" name="flow icon Web app" descr="preencoded.png">    </p:cNvPr>
          <p:cNvPicPr>
            <a:picLocks noChangeAspect="1"/>
          </p:cNvPicPr>
          <p:nvPr/>
        </p:nvPicPr>
        <p:blipFill>
          <a:blip r:embed="rId3"/>
          <a:stretch>
            <a:fillRect/>
          </a:stretch>
        </p:blipFill>
        <p:spPr>
          <a:xfrm>
            <a:off x="3498003" y="1532856"/>
            <a:ext cx="355600" cy="341046"/>
          </a:xfrm>
          <a:prstGeom prst="rect">
            <a:avLst/>
          </a:prstGeom>
        </p:spPr>
      </p:pic>
      <p:sp>
        <p:nvSpPr>
          <p:cNvPr id="14" name="flow label Web app"/>
          <p:cNvSpPr txBox="1"/>
          <p:nvPr/>
        </p:nvSpPr>
        <p:spPr>
          <a:xfrm>
            <a:off x="3172037" y="1873902"/>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Web app</a:t>
            </a:r>
            <a:endParaRPr lang="en-US" sz="1200" dirty="0"/>
          </a:p>
        </p:txBody>
      </p:sp>
      <p:sp>
        <p:nvSpPr>
          <p:cNvPr id="15" name="arrow 2"/>
          <p:cNvSpPr/>
          <p:nvPr/>
        </p:nvSpPr>
        <p:spPr>
          <a:xfrm>
            <a:off x="4259580" y="1771588"/>
            <a:ext cx="213360" cy="204628"/>
          </a:xfrm>
          <a:prstGeom prst="rightArrow">
            <a:avLst/>
          </a:prstGeom>
          <a:solidFill>
            <a:srgbClr val="0F8D91"/>
          </a:solidFill>
          <a:ln w="12700">
            <a:solidFill>
              <a:srgbClr val="0F8D91"/>
            </a:solidFill>
            <a:prstDash val="solid"/>
          </a:ln>
        </p:spPr>
      </p:sp>
      <p:sp>
        <p:nvSpPr>
          <p:cNvPr id="16" name="flow Database"/>
          <p:cNvSpPr/>
          <p:nvPr/>
        </p:nvSpPr>
        <p:spPr>
          <a:xfrm>
            <a:off x="4508500" y="1404963"/>
            <a:ext cx="1096433" cy="937878"/>
          </a:xfrm>
          <a:prstGeom prst="roundRect">
            <a:avLst>
              <a:gd name="adj" fmla="val 9750"/>
            </a:avLst>
          </a:prstGeom>
          <a:solidFill>
            <a:srgbClr val="1B6F86"/>
          </a:solidFill>
          <a:ln w="12700">
            <a:solidFill>
              <a:srgbClr val="1B6F86"/>
            </a:solidFill>
            <a:prstDash val="solid"/>
          </a:ln>
          <a:effectLst>
            <a:outerShdw sx="100000" sy="100000" kx="0" ky="0" algn="bl" rotWithShape="0" blurRad="76200" dist="25400" dir="5400000">
              <a:srgbClr val="000000">
                <a:alpha val="18000"/>
              </a:srgbClr>
            </a:outerShdw>
          </a:effectLst>
        </p:spPr>
      </p:sp>
      <p:pic>
        <p:nvPicPr>
          <p:cNvPr id="17" name="flow icon Database" descr="preencoded.png">    </p:cNvPr>
          <p:cNvPicPr>
            <a:picLocks noChangeAspect="1"/>
          </p:cNvPicPr>
          <p:nvPr/>
        </p:nvPicPr>
        <p:blipFill>
          <a:blip r:embed="rId4"/>
          <a:stretch>
            <a:fillRect/>
          </a:stretch>
        </p:blipFill>
        <p:spPr>
          <a:xfrm>
            <a:off x="4878917" y="1532856"/>
            <a:ext cx="355600" cy="341046"/>
          </a:xfrm>
          <a:prstGeom prst="rect">
            <a:avLst/>
          </a:prstGeom>
        </p:spPr>
      </p:pic>
      <p:sp>
        <p:nvSpPr>
          <p:cNvPr id="18" name="flow label Database"/>
          <p:cNvSpPr txBox="1"/>
          <p:nvPr/>
        </p:nvSpPr>
        <p:spPr>
          <a:xfrm>
            <a:off x="4552950" y="1873902"/>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Database</a:t>
            </a:r>
            <a:endParaRPr lang="en-US" sz="1200" dirty="0"/>
          </a:p>
        </p:txBody>
      </p:sp>
      <p:sp>
        <p:nvSpPr>
          <p:cNvPr id="19" name="arrow 3"/>
          <p:cNvSpPr/>
          <p:nvPr/>
        </p:nvSpPr>
        <p:spPr>
          <a:xfrm>
            <a:off x="5640493" y="1771588"/>
            <a:ext cx="213360" cy="204628"/>
          </a:xfrm>
          <a:prstGeom prst="rightArrow">
            <a:avLst/>
          </a:prstGeom>
          <a:solidFill>
            <a:srgbClr val="0F8D91"/>
          </a:solidFill>
          <a:ln w="12700">
            <a:solidFill>
              <a:srgbClr val="0F8D91"/>
            </a:solidFill>
            <a:prstDash val="solid"/>
          </a:ln>
        </p:spPr>
      </p:sp>
      <p:sp>
        <p:nvSpPr>
          <p:cNvPr id="20" name="flow External API"/>
          <p:cNvSpPr/>
          <p:nvPr/>
        </p:nvSpPr>
        <p:spPr>
          <a:xfrm>
            <a:off x="5889413" y="1404963"/>
            <a:ext cx="1096433" cy="937878"/>
          </a:xfrm>
          <a:prstGeom prst="roundRect">
            <a:avLst>
              <a:gd name="adj" fmla="val 9750"/>
            </a:avLst>
          </a:prstGeom>
          <a:solidFill>
            <a:srgbClr val="04B1A4"/>
          </a:solidFill>
          <a:ln w="12700">
            <a:solidFill>
              <a:srgbClr val="04B1A4"/>
            </a:solidFill>
            <a:prstDash val="solid"/>
          </a:ln>
          <a:effectLst>
            <a:outerShdw sx="100000" sy="100000" kx="0" ky="0" algn="bl" rotWithShape="0" blurRad="76200" dist="25400" dir="5400000">
              <a:srgbClr val="000000">
                <a:alpha val="18000"/>
              </a:srgbClr>
            </a:outerShdw>
          </a:effectLst>
        </p:spPr>
      </p:sp>
      <p:pic>
        <p:nvPicPr>
          <p:cNvPr id="21" name="flow icon External API" descr="preencoded.png">    </p:cNvPr>
          <p:cNvPicPr>
            <a:picLocks noChangeAspect="1"/>
          </p:cNvPicPr>
          <p:nvPr/>
        </p:nvPicPr>
        <p:blipFill>
          <a:blip r:embed="rId5"/>
          <a:stretch>
            <a:fillRect/>
          </a:stretch>
        </p:blipFill>
        <p:spPr>
          <a:xfrm>
            <a:off x="6259830" y="1532856"/>
            <a:ext cx="355600" cy="341046"/>
          </a:xfrm>
          <a:prstGeom prst="rect">
            <a:avLst/>
          </a:prstGeom>
        </p:spPr>
      </p:pic>
      <p:sp>
        <p:nvSpPr>
          <p:cNvPr id="22" name="flow label External API"/>
          <p:cNvSpPr txBox="1"/>
          <p:nvPr/>
        </p:nvSpPr>
        <p:spPr>
          <a:xfrm>
            <a:off x="5933863" y="1873902"/>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External API</a:t>
            </a:r>
            <a:endParaRPr lang="en-US" sz="1200" dirty="0"/>
          </a:p>
        </p:txBody>
      </p:sp>
      <p:sp>
        <p:nvSpPr>
          <p:cNvPr id="23" name="arrow 4"/>
          <p:cNvSpPr/>
          <p:nvPr/>
        </p:nvSpPr>
        <p:spPr>
          <a:xfrm>
            <a:off x="7021407" y="1771588"/>
            <a:ext cx="213360" cy="204628"/>
          </a:xfrm>
          <a:prstGeom prst="rightArrow">
            <a:avLst/>
          </a:prstGeom>
          <a:solidFill>
            <a:srgbClr val="0F8D91"/>
          </a:solidFill>
          <a:ln w="12700">
            <a:solidFill>
              <a:srgbClr val="0F8D91"/>
            </a:solidFill>
            <a:prstDash val="solid"/>
          </a:ln>
        </p:spPr>
      </p:sp>
      <p:sp>
        <p:nvSpPr>
          <p:cNvPr id="24" name="flow AI feature"/>
          <p:cNvSpPr/>
          <p:nvPr/>
        </p:nvSpPr>
        <p:spPr>
          <a:xfrm>
            <a:off x="7270327" y="1404963"/>
            <a:ext cx="1096433" cy="937878"/>
          </a:xfrm>
          <a:prstGeom prst="roundRect">
            <a:avLst>
              <a:gd name="adj" fmla="val 9750"/>
            </a:avLst>
          </a:prstGeom>
          <a:solidFill>
            <a:srgbClr val="D9534F"/>
          </a:solidFill>
          <a:ln w="12700">
            <a:solidFill>
              <a:srgbClr val="D9534F"/>
            </a:solidFill>
            <a:prstDash val="solid"/>
          </a:ln>
          <a:effectLst>
            <a:outerShdw sx="100000" sy="100000" kx="0" ky="0" algn="bl" rotWithShape="0" blurRad="76200" dist="25400" dir="5400000">
              <a:srgbClr val="000000">
                <a:alpha val="18000"/>
              </a:srgbClr>
            </a:outerShdw>
          </a:effectLst>
        </p:spPr>
      </p:sp>
      <p:pic>
        <p:nvPicPr>
          <p:cNvPr id="25" name="flow icon AI feature" descr="preencoded.png">    </p:cNvPr>
          <p:cNvPicPr>
            <a:picLocks noChangeAspect="1"/>
          </p:cNvPicPr>
          <p:nvPr/>
        </p:nvPicPr>
        <p:blipFill>
          <a:blip r:embed="rId6"/>
          <a:stretch>
            <a:fillRect/>
          </a:stretch>
        </p:blipFill>
        <p:spPr>
          <a:xfrm>
            <a:off x="7640743" y="1532856"/>
            <a:ext cx="355600" cy="341046"/>
          </a:xfrm>
          <a:prstGeom prst="rect">
            <a:avLst/>
          </a:prstGeom>
        </p:spPr>
      </p:pic>
      <p:sp>
        <p:nvSpPr>
          <p:cNvPr id="26" name="flow label AI feature"/>
          <p:cNvSpPr txBox="1"/>
          <p:nvPr/>
        </p:nvSpPr>
        <p:spPr>
          <a:xfrm>
            <a:off x="7314777" y="1873902"/>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AI feature</a:t>
            </a:r>
            <a:endParaRPr lang="en-US" sz="1200" dirty="0"/>
          </a:p>
        </p:txBody>
      </p:sp>
      <p:sp>
        <p:nvSpPr>
          <p:cNvPr id="27" name="badge 1"/>
          <p:cNvSpPr/>
          <p:nvPr/>
        </p:nvSpPr>
        <p:spPr>
          <a:xfrm>
            <a:off x="365760" y="2726518"/>
            <a:ext cx="400050" cy="383677"/>
          </a:xfrm>
          <a:prstGeom prst="ellipse">
            <a:avLst/>
          </a:prstGeom>
          <a:solidFill>
            <a:srgbClr val="F99508"/>
          </a:solidFill>
          <a:ln w="12700">
            <a:solidFill>
              <a:srgbClr val="F99508"/>
            </a:solidFill>
            <a:prstDash val="solid"/>
          </a:ln>
        </p:spPr>
      </p:sp>
      <p:sp>
        <p:nvSpPr>
          <p:cNvPr id="28" name="badge 1 text"/>
          <p:cNvSpPr txBox="1"/>
          <p:nvPr/>
        </p:nvSpPr>
        <p:spPr>
          <a:xfrm>
            <a:off x="365760" y="2726518"/>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29" name="step 1"/>
          <p:cNvSpPr txBox="1"/>
          <p:nvPr/>
        </p:nvSpPr>
        <p:spPr>
          <a:xfrm>
            <a:off x="899160" y="2683888"/>
            <a:ext cx="3289300" cy="596831"/>
          </a:xfrm>
          <a:prstGeom prst="rect">
            <a:avLst/>
          </a:prstGeom>
          <a:noFill/>
          <a:ln/>
        </p:spPr>
        <p:txBody>
          <a:bodyPr wrap="square" lIns="0" tIns="0" rIns="0" bIns="0" rtlCol="0" anchor="t"/>
          <a:lstStyle/>
          <a:p>
            <a:pPr indent="0" marL="0">
              <a:buNone/>
            </a:pPr>
            <a:r>
              <a:rPr lang="en-US" sz="1500" b="1" dirty="0">
                <a:solidFill>
                  <a:srgbClr val="000000"/>
                </a:solidFill>
              </a:rPr>
              <a:t>Part 1 · Python (20 min)</a:t>
            </a:r>
            <a:endParaRPr lang="en-US" sz="1500" dirty="0"/>
          </a:p>
          <a:p>
            <a:pPr indent="0" marL="0">
              <a:buNone/>
            </a:pPr>
            <a:r>
              <a:rPr lang="en-US" sz="1300" dirty="0">
                <a:solidFill>
                  <a:srgbClr val="0F8D91"/>
                </a:solidFill>
              </a:rPr>
              <a:t>Only the pieces the app needs.</a:t>
            </a:r>
            <a:endParaRPr lang="en-US" sz="1500" dirty="0"/>
          </a:p>
        </p:txBody>
      </p:sp>
      <p:sp>
        <p:nvSpPr>
          <p:cNvPr id="30" name="badge 2"/>
          <p:cNvSpPr/>
          <p:nvPr/>
        </p:nvSpPr>
        <p:spPr>
          <a:xfrm>
            <a:off x="365760" y="3408611"/>
            <a:ext cx="400050" cy="383677"/>
          </a:xfrm>
          <a:prstGeom prst="ellipse">
            <a:avLst/>
          </a:prstGeom>
          <a:solidFill>
            <a:srgbClr val="5DA144"/>
          </a:solidFill>
          <a:ln w="12700">
            <a:solidFill>
              <a:srgbClr val="5DA144"/>
            </a:solidFill>
            <a:prstDash val="solid"/>
          </a:ln>
        </p:spPr>
      </p:sp>
      <p:sp>
        <p:nvSpPr>
          <p:cNvPr id="31" name="badge 2 text"/>
          <p:cNvSpPr txBox="1"/>
          <p:nvPr/>
        </p:nvSpPr>
        <p:spPr>
          <a:xfrm>
            <a:off x="365760" y="3408611"/>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32" name="step 2"/>
          <p:cNvSpPr txBox="1"/>
          <p:nvPr/>
        </p:nvSpPr>
        <p:spPr>
          <a:xfrm>
            <a:off x="899160" y="3365981"/>
            <a:ext cx="3289300" cy="596831"/>
          </a:xfrm>
          <a:prstGeom prst="rect">
            <a:avLst/>
          </a:prstGeom>
          <a:noFill/>
          <a:ln/>
        </p:spPr>
        <p:txBody>
          <a:bodyPr wrap="square" lIns="0" tIns="0" rIns="0" bIns="0" rtlCol="0" anchor="t"/>
          <a:lstStyle/>
          <a:p>
            <a:pPr indent="0" marL="0">
              <a:buNone/>
            </a:pPr>
            <a:r>
              <a:rPr lang="en-US" sz="1500" b="1" dirty="0">
                <a:solidFill>
                  <a:srgbClr val="000000"/>
                </a:solidFill>
              </a:rPr>
              <a:t>Part 2 · Django app (35 min)</a:t>
            </a:r>
            <a:endParaRPr lang="en-US" sz="1500" dirty="0"/>
          </a:p>
          <a:p>
            <a:pPr indent="0" marL="0">
              <a:buNone/>
            </a:pPr>
            <a:r>
              <a:rPr lang="en-US" sz="1300" dirty="0">
                <a:solidFill>
                  <a:srgbClr val="0F8D91"/>
                </a:solidFill>
              </a:rPr>
              <a:t>Models, admin, URLs, views, templates.</a:t>
            </a:r>
            <a:endParaRPr lang="en-US" sz="1500" dirty="0"/>
          </a:p>
        </p:txBody>
      </p:sp>
      <p:sp>
        <p:nvSpPr>
          <p:cNvPr id="33" name="badge 3"/>
          <p:cNvSpPr/>
          <p:nvPr/>
        </p:nvSpPr>
        <p:spPr>
          <a:xfrm>
            <a:off x="4544060" y="2726518"/>
            <a:ext cx="400050" cy="383677"/>
          </a:xfrm>
          <a:prstGeom prst="ellipse">
            <a:avLst/>
          </a:prstGeom>
          <a:solidFill>
            <a:srgbClr val="8FD3CC"/>
          </a:solidFill>
          <a:ln w="12700">
            <a:solidFill>
              <a:srgbClr val="8FD3CC"/>
            </a:solidFill>
            <a:prstDash val="solid"/>
          </a:ln>
        </p:spPr>
      </p:sp>
      <p:sp>
        <p:nvSpPr>
          <p:cNvPr id="34" name="badge 3 text"/>
          <p:cNvSpPr txBox="1"/>
          <p:nvPr/>
        </p:nvSpPr>
        <p:spPr>
          <a:xfrm>
            <a:off x="4544060" y="2726518"/>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35" name="step 3"/>
          <p:cNvSpPr txBox="1"/>
          <p:nvPr/>
        </p:nvSpPr>
        <p:spPr>
          <a:xfrm>
            <a:off x="5077460" y="2683888"/>
            <a:ext cx="3289300" cy="596831"/>
          </a:xfrm>
          <a:prstGeom prst="rect">
            <a:avLst/>
          </a:prstGeom>
          <a:noFill/>
          <a:ln/>
        </p:spPr>
        <p:txBody>
          <a:bodyPr wrap="square" lIns="0" tIns="0" rIns="0" bIns="0" rtlCol="0" anchor="t"/>
          <a:lstStyle/>
          <a:p>
            <a:pPr indent="0" marL="0">
              <a:buNone/>
            </a:pPr>
            <a:r>
              <a:rPr lang="en-US" sz="1500" b="1" dirty="0">
                <a:solidFill>
                  <a:srgbClr val="000000"/>
                </a:solidFill>
              </a:rPr>
              <a:t>Part 3 · Quiz experience (30 min)</a:t>
            </a:r>
            <a:endParaRPr lang="en-US" sz="1500" dirty="0"/>
          </a:p>
          <a:p>
            <a:pPr indent="0" marL="0">
              <a:buNone/>
            </a:pPr>
            <a:r>
              <a:rPr lang="en-US" sz="1300" dirty="0">
                <a:solidFill>
                  <a:srgbClr val="0F8D91"/>
                </a:solidFill>
              </a:rPr>
              <a:t>Forms, shareable link, grading, results.</a:t>
            </a:r>
            <a:endParaRPr lang="en-US" sz="1500" dirty="0"/>
          </a:p>
        </p:txBody>
      </p:sp>
      <p:sp>
        <p:nvSpPr>
          <p:cNvPr id="36" name="badge 4"/>
          <p:cNvSpPr/>
          <p:nvPr/>
        </p:nvSpPr>
        <p:spPr>
          <a:xfrm>
            <a:off x="4544060" y="3408611"/>
            <a:ext cx="400050" cy="383677"/>
          </a:xfrm>
          <a:prstGeom prst="ellipse">
            <a:avLst/>
          </a:prstGeom>
          <a:solidFill>
            <a:srgbClr val="04B1A4"/>
          </a:solidFill>
          <a:ln w="12700">
            <a:solidFill>
              <a:srgbClr val="04B1A4"/>
            </a:solidFill>
            <a:prstDash val="solid"/>
          </a:ln>
        </p:spPr>
      </p:sp>
      <p:sp>
        <p:nvSpPr>
          <p:cNvPr id="37" name="badge 4 text"/>
          <p:cNvSpPr txBox="1"/>
          <p:nvPr/>
        </p:nvSpPr>
        <p:spPr>
          <a:xfrm>
            <a:off x="4544060" y="3408611"/>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8" name="step 4"/>
          <p:cNvSpPr txBox="1"/>
          <p:nvPr/>
        </p:nvSpPr>
        <p:spPr>
          <a:xfrm>
            <a:off x="5077460" y="3365981"/>
            <a:ext cx="3289300" cy="596831"/>
          </a:xfrm>
          <a:prstGeom prst="rect">
            <a:avLst/>
          </a:prstGeom>
          <a:noFill/>
          <a:ln/>
        </p:spPr>
        <p:txBody>
          <a:bodyPr wrap="square" lIns="0" tIns="0" rIns="0" bIns="0" rtlCol="0" anchor="t"/>
          <a:lstStyle/>
          <a:p>
            <a:pPr indent="0" marL="0">
              <a:buNone/>
            </a:pPr>
            <a:r>
              <a:rPr lang="en-US" sz="1500" b="1" dirty="0">
                <a:solidFill>
                  <a:srgbClr val="000000"/>
                </a:solidFill>
              </a:rPr>
              <a:t>Part 4 · Generative AI (30 min)</a:t>
            </a:r>
            <a:endParaRPr lang="en-US" sz="1500" dirty="0"/>
          </a:p>
          <a:p>
            <a:pPr indent="0" marL="0">
              <a:buNone/>
            </a:pPr>
            <a:r>
              <a:rPr lang="en-US" sz="1300" dirty="0">
                <a:solidFill>
                  <a:srgbClr val="0F8D91"/>
                </a:solidFill>
              </a:rPr>
              <a:t>Structured output, validation, human review.</a:t>
            </a:r>
            <a:endParaRPr lang="en-US" sz="15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Before we start: setup check</a:t>
            </a:r>
            <a:endParaRPr lang="en-US" sz="2400" dirty="0"/>
          </a:p>
        </p:txBody>
      </p:sp>
      <p:sp>
        <p:nvSpPr>
          <p:cNvPr id="4" name="code card"/>
          <p:cNvSpPr/>
          <p:nvPr/>
        </p:nvSpPr>
        <p:spPr>
          <a:xfrm>
            <a:off x="365760" y="1234440"/>
            <a:ext cx="54229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91567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91567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terminal</a:t>
            </a:r>
            <a:endParaRPr lang="en-US" sz="1000" dirty="0"/>
          </a:p>
        </p:txBody>
      </p:sp>
      <p:sp>
        <p:nvSpPr>
          <p:cNvPr id="7" name="code"/>
          <p:cNvSpPr txBox="1"/>
          <p:nvPr/>
        </p:nvSpPr>
        <p:spPr>
          <a:xfrm>
            <a:off x="588010" y="1660748"/>
            <a:ext cx="4978400" cy="2600479"/>
          </a:xfrm>
          <a:prstGeom prst="rect">
            <a:avLst/>
          </a:prstGeom>
          <a:noFill/>
          <a:ln/>
        </p:spPr>
        <p:txBody>
          <a:bodyPr wrap="square" lIns="0" tIns="0" rIns="0" bIns="0" rtlCol="0" anchor="t"/>
          <a:lstStyle/>
          <a:p>
            <a:pPr indent="0" marL="0">
              <a:buNone/>
            </a:pPr>
            <a:r>
              <a:rPr lang="en-US" sz="1150" dirty="0">
                <a:solidFill>
                  <a:srgbClr val="9A9B8C"/>
                </a:solidFill>
                <a:latin typeface="Courier New" pitchFamily="34" charset="0"/>
                <a:ea typeface="Courier New" pitchFamily="34" charset="-122"/>
                <a:cs typeface="Courier New" pitchFamily="34" charset="-120"/>
              </a:rPr>
              <a:t># 1. Python 3.12 or newer?</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python </a:t>
            </a:r>
            <a:pPr indent="0" marL="0">
              <a:buNone/>
            </a:pPr>
            <a:r>
              <a:rPr lang="en-US" sz="1150" dirty="0">
                <a:solidFill>
                  <a:srgbClr val="F8F8F2"/>
                </a:solidFill>
                <a:latin typeface="Courier New" pitchFamily="34" charset="0"/>
                <a:ea typeface="Courier New" pitchFamily="34" charset="-122"/>
                <a:cs typeface="Courier New" pitchFamily="34" charset="-120"/>
              </a:rPr>
              <a:t>--version</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2. Get the workshop code</a:t>
            </a:r>
            <a:endParaRPr lang="en-US" sz="1150" dirty="0"/>
          </a:p>
          <a:p>
            <a:pPr indent="0" marL="0">
              <a:buNone/>
            </a:pPr>
            <a:r>
              <a:rPr lang="en-US" sz="1150" dirty="0">
                <a:solidFill>
                  <a:srgbClr val="A6E22E"/>
                </a:solidFill>
                <a:latin typeface="Courier New" pitchFamily="34" charset="0"/>
                <a:ea typeface="Courier New" pitchFamily="34" charset="-122"/>
                <a:cs typeface="Courier New" pitchFamily="34" charset="-120"/>
              </a:rPr>
              <a:t>git</a:t>
            </a:r>
            <a:pPr indent="0" marL="0">
              <a:buNone/>
            </a:pPr>
            <a:r>
              <a:rPr lang="en-US" sz="1150" dirty="0">
                <a:solidFill>
                  <a:srgbClr val="F8F8F2"/>
                </a:solidFill>
                <a:latin typeface="Courier New" pitchFamily="34" charset="0"/>
                <a:ea typeface="Courier New" pitchFamily="34" charset="-122"/>
                <a:cs typeface="Courier New" pitchFamily="34" charset="-120"/>
              </a:rPr>
              <a:t> clone https://github.com/73R3WY/pycon-davao-2026</a:t>
            </a:r>
            <a:endParaRPr lang="en-US" sz="1150" dirty="0"/>
          </a:p>
          <a:p>
            <a:pPr indent="0" marL="0">
              <a:buNone/>
            </a:pPr>
            <a:r>
              <a:rPr lang="en-US" sz="1150" dirty="0">
                <a:solidFill>
                  <a:srgbClr val="66D9EF"/>
                </a:solidFill>
                <a:latin typeface="Courier New" pitchFamily="34" charset="0"/>
                <a:ea typeface="Courier New" pitchFamily="34" charset="-122"/>
                <a:cs typeface="Courier New" pitchFamily="34" charset="-120"/>
              </a:rPr>
              <a:t>cd</a:t>
            </a:r>
            <a:pPr indent="0" marL="0">
              <a:buNone/>
            </a:pPr>
            <a:r>
              <a:rPr lang="en-US" sz="1150" dirty="0">
                <a:solidFill>
                  <a:srgbClr val="F8F8F2"/>
                </a:solidFill>
                <a:latin typeface="Courier New" pitchFamily="34" charset="0"/>
                <a:ea typeface="Courier New" pitchFamily="34" charset="-122"/>
                <a:cs typeface="Courier New" pitchFamily="34" charset="-120"/>
              </a:rPr>
              <a:t> pycon-davao-2026/quiz_reviewer</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3. A private 'lunchbox' for packages</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python </a:t>
            </a:r>
            <a:pPr indent="0" marL="0">
              <a:buNone/>
            </a:pPr>
            <a:r>
              <a:rPr lang="en-US" sz="1150" dirty="0">
                <a:solidFill>
                  <a:srgbClr val="F8F8F2"/>
                </a:solidFill>
                <a:latin typeface="Courier New" pitchFamily="34" charset="0"/>
                <a:ea typeface="Courier New" pitchFamily="34" charset="-122"/>
                <a:cs typeface="Courier New" pitchFamily="34" charset="-120"/>
              </a:rPr>
              <a:t>-m</a:t>
            </a:r>
            <a:pPr indent="0" marL="0">
              <a:buNone/>
            </a:pPr>
            <a:r>
              <a:rPr lang="en-US" sz="1150" dirty="0">
                <a:solidFill>
                  <a:srgbClr val="F8F8F2"/>
                </a:solidFill>
                <a:latin typeface="Courier New" pitchFamily="34" charset="0"/>
                <a:ea typeface="Courier New" pitchFamily="34" charset="-122"/>
                <a:cs typeface="Courier New" pitchFamily="34" charset="-120"/>
              </a:rPr>
              <a:t> venv .venv</a:t>
            </a:r>
            <a:endParaRPr lang="en-US" sz="1150" dirty="0"/>
          </a:p>
          <a:p>
            <a:pPr indent="0" marL="0">
              <a:buNone/>
            </a:pPr>
            <a:r>
              <a:rPr lang="en-US" sz="1150" dirty="0">
                <a:solidFill>
                  <a:srgbClr val="66D9EF"/>
                </a:solidFill>
                <a:latin typeface="Courier New" pitchFamily="34" charset="0"/>
                <a:ea typeface="Courier New" pitchFamily="34" charset="-122"/>
                <a:cs typeface="Courier New" pitchFamily="34" charset="-120"/>
              </a:rPr>
              <a:t>source</a:t>
            </a:r>
            <a:pPr indent="0" marL="0">
              <a:buNone/>
            </a:pPr>
            <a:r>
              <a:rPr lang="en-US" sz="1150" dirty="0">
                <a:solidFill>
                  <a:srgbClr val="F8F8F2"/>
                </a:solidFill>
                <a:latin typeface="Courier New" pitchFamily="34" charset="0"/>
                <a:ea typeface="Courier New" pitchFamily="34" charset="-122"/>
                <a:cs typeface="Courier New" pitchFamily="34" charset="-120"/>
              </a:rPr>
              <a:t> .venv/bin/activate</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Windows: .venv\Scripts\activate</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4. Install Django and friends</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pip </a:t>
            </a:r>
            <a:pPr indent="0" marL="0">
              <a:buNone/>
            </a:pPr>
            <a:r>
              <a:rPr lang="en-US" sz="1150" dirty="0">
                <a:solidFill>
                  <a:srgbClr val="A6E22E"/>
                </a:solidFill>
                <a:latin typeface="Courier New" pitchFamily="34" charset="0"/>
                <a:ea typeface="Courier New" pitchFamily="34" charset="-122"/>
                <a:cs typeface="Courier New" pitchFamily="34" charset="-120"/>
              </a:rPr>
              <a:t>install</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-r</a:t>
            </a:r>
            <a:pPr indent="0" marL="0">
              <a:buNone/>
            </a:pPr>
            <a:r>
              <a:rPr lang="en-US" sz="1150" dirty="0">
                <a:solidFill>
                  <a:srgbClr val="F8F8F2"/>
                </a:solidFill>
                <a:latin typeface="Courier New" pitchFamily="34" charset="0"/>
                <a:ea typeface="Courier New" pitchFamily="34" charset="-122"/>
                <a:cs typeface="Courier New" pitchFamily="34" charset="-120"/>
              </a:rPr>
              <a:t> requirements.txt</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5. Settings (FAKE_AI=1 already set)</a:t>
            </a:r>
            <a:endParaRPr lang="en-US" sz="1150" dirty="0"/>
          </a:p>
          <a:p>
            <a:pPr indent="0" marL="0">
              <a:buNone/>
            </a:pPr>
            <a:r>
              <a:rPr lang="en-US" sz="1150" dirty="0">
                <a:solidFill>
                  <a:srgbClr val="A6E22E"/>
                </a:solidFill>
                <a:latin typeface="Courier New" pitchFamily="34" charset="0"/>
                <a:ea typeface="Courier New" pitchFamily="34" charset="-122"/>
                <a:cs typeface="Courier New" pitchFamily="34" charset="-120"/>
              </a:rPr>
              <a:t>cp</a:t>
            </a:r>
            <a:pPr indent="0" marL="0">
              <a:buNone/>
            </a:pPr>
            <a:r>
              <a:rPr lang="en-US" sz="1150" dirty="0">
                <a:solidFill>
                  <a:srgbClr val="F8F8F2"/>
                </a:solidFill>
                <a:latin typeface="Courier New" pitchFamily="34" charset="0"/>
                <a:ea typeface="Courier New" pitchFamily="34" charset="-122"/>
                <a:cs typeface="Courier New" pitchFamily="34" charset="-120"/>
              </a:rPr>
              <a:t> .env.example .env</a:t>
            </a:r>
            <a:endParaRPr lang="en-US" sz="1150" dirty="0"/>
          </a:p>
        </p:txBody>
      </p:sp>
      <p:sp>
        <p:nvSpPr>
          <p:cNvPr id="8" name="bullets"/>
          <p:cNvSpPr txBox="1"/>
          <p:nvPr/>
        </p:nvSpPr>
        <p:spPr>
          <a:xfrm>
            <a:off x="5966460" y="1277071"/>
            <a:ext cx="2400300" cy="2046279"/>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72E47"/>
                </a:solidFill>
              </a:rPr>
              <a:t>A laptop and a code editor (VS Code)</a:t>
            </a:r>
            <a:endParaRPr lang="en-US" sz="1400" dirty="0"/>
          </a:p>
          <a:p>
            <a:pPr marL="342900" indent="-342900">
              <a:spcAft>
                <a:spcPts val="800"/>
              </a:spcAft>
              <a:buSzPct val="100000"/>
              <a:buChar char="•"/>
            </a:pPr>
            <a:r>
              <a:rPr lang="en-US" sz="1400" dirty="0">
                <a:solidFill>
                  <a:srgbClr val="072E47"/>
                </a:solidFill>
              </a:rPr>
              <a:t>Python 3.12+ and Git installed</a:t>
            </a:r>
            <a:endParaRPr lang="en-US" sz="1400" dirty="0"/>
          </a:p>
          <a:p>
            <a:pPr marL="342900" indent="-342900">
              <a:spcAft>
                <a:spcPts val="800"/>
              </a:spcAft>
              <a:buSzPct val="100000"/>
              <a:buChar char="•"/>
            </a:pPr>
            <a:r>
              <a:rPr lang="en-US" sz="1400" dirty="0">
                <a:solidFill>
                  <a:srgbClr val="072E47"/>
                </a:solidFill>
              </a:rPr>
              <a:t>A browser</a:t>
            </a:r>
            <a:endParaRPr lang="en-US" sz="1400" dirty="0"/>
          </a:p>
          <a:p>
            <a:pPr marL="342900" indent="-342900">
              <a:spcAft>
                <a:spcPts val="800"/>
              </a:spcAft>
              <a:buSzPct val="100000"/>
              <a:buChar char="•"/>
            </a:pPr>
            <a:r>
              <a:rPr lang="en-US" sz="1400" dirty="0">
                <a:solidFill>
                  <a:srgbClr val="072E47"/>
                </a:solidFill>
              </a:rPr>
              <a:t>OpenAI API key: optional!</a:t>
            </a:r>
            <a:endParaRPr lang="en-US" sz="1400" dirty="0"/>
          </a:p>
        </p:txBody>
      </p:sp>
      <p:sp>
        <p:nvSpPr>
          <p:cNvPr id="9" name="tip"/>
          <p:cNvSpPr/>
          <p:nvPr/>
        </p:nvSpPr>
        <p:spPr>
          <a:xfrm>
            <a:off x="5966460" y="3451242"/>
            <a:ext cx="2400300" cy="852616"/>
          </a:xfrm>
          <a:prstGeom prst="roundRect">
            <a:avLst>
              <a:gd name="adj" fmla="val 10725"/>
            </a:avLst>
          </a:prstGeom>
          <a:solidFill>
            <a:srgbClr val="FFFFFF"/>
          </a:solidFill>
          <a:ln w="12700">
            <a:solidFill>
              <a:srgbClr val="FFFFFF"/>
            </a:solidFill>
            <a:prstDash val="solid"/>
          </a:ln>
        </p:spPr>
      </p:sp>
      <p:sp>
        <p:nvSpPr>
          <p:cNvPr id="10" name="tip dot"/>
          <p:cNvSpPr/>
          <p:nvPr/>
        </p:nvSpPr>
        <p:spPr>
          <a:xfrm>
            <a:off x="6099810" y="3749658"/>
            <a:ext cx="266700" cy="255785"/>
          </a:xfrm>
          <a:prstGeom prst="ellipse">
            <a:avLst/>
          </a:prstGeom>
          <a:solidFill>
            <a:srgbClr val="04B1A4"/>
          </a:solidFill>
          <a:ln w="12700">
            <a:solidFill>
              <a:srgbClr val="04B1A4"/>
            </a:solidFill>
            <a:prstDash val="solid"/>
          </a:ln>
        </p:spPr>
      </p:sp>
      <p:sp>
        <p:nvSpPr>
          <p:cNvPr id="11" name="tip mark"/>
          <p:cNvSpPr txBox="1"/>
          <p:nvPr/>
        </p:nvSpPr>
        <p:spPr>
          <a:xfrm>
            <a:off x="6099810" y="3749658"/>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12" name="tip text"/>
          <p:cNvSpPr txBox="1"/>
          <p:nvPr/>
        </p:nvSpPr>
        <p:spPr>
          <a:xfrm>
            <a:off x="6499860" y="3451242"/>
            <a:ext cx="1733550" cy="852616"/>
          </a:xfrm>
          <a:prstGeom prst="rect">
            <a:avLst/>
          </a:prstGeom>
          <a:noFill/>
          <a:ln/>
        </p:spPr>
        <p:txBody>
          <a:bodyPr wrap="square" lIns="0" tIns="0" rIns="0" bIns="0" rtlCol="0" anchor="ctr"/>
          <a:lstStyle/>
          <a:p>
            <a:pPr indent="0" marL="0">
              <a:buNone/>
            </a:pPr>
            <a:r>
              <a:rPr lang="en-US" sz="1200" dirty="0">
                <a:solidFill>
                  <a:srgbClr val="072E47"/>
                </a:solidFill>
              </a:rPr>
              <a:t>No key? FAKE_AI=1 uses a built-in sample AI reply.</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983480" y="1463040"/>
            <a:ext cx="3749040" cy="1737360"/>
          </a:xfrm>
          <a:prstGeom prst="rect">
            <a:avLst/>
          </a:prstGeom>
          <a:noFill/>
          <a:ln/>
        </p:spPr>
        <p:txBody>
          <a:bodyPr wrap="square" lIns="0" tIns="0" rIns="0" bIns="0" rtlCol="0" anchor="b"/>
          <a:lstStyle/>
          <a:p>
            <a:pPr indent="0" marL="0">
              <a:buNone/>
            </a:pPr>
            <a:r>
              <a:rPr lang="en-US" sz="3000" b="1" dirty="0">
                <a:solidFill>
                  <a:srgbClr val="FEF9D7"/>
                </a:solidFill>
              </a:rPr>
              <a:t>Part 1 · Python foundations</a:t>
            </a:r>
            <a:endParaRPr lang="en-US" sz="3000" dirty="0"/>
          </a:p>
        </p:txBody>
      </p:sp>
      <p:sp>
        <p:nvSpPr>
          <p:cNvPr id="4" name="Text 0"/>
          <p:cNvSpPr/>
          <p:nvPr>
            <p:ph idx="100" type="title" hasCustomPrompt="1"/>
          </p:nvPr>
        </p:nvSpPr>
        <p:spPr>
          <a:xfrm>
            <a:off x="4983480" y="1463040"/>
            <a:ext cx="3749040" cy="1737360"/>
          </a:xfrm>
          <a:prstGeom prst="rect">
            <a:avLst/>
          </a:prstGeom>
          <a:noFill/>
          <a:ln/>
        </p:spPr>
        <p:txBody>
          <a:bodyPr wrap="square" lIns="0" tIns="0" rIns="0" bIns="0" rtlCol="0" anchor="b"/>
          <a:lstStyle/>
          <a:p>
            <a:pPr indent="0" marL="0">
              <a:buNone/>
            </a:pPr>
            <a:r>
              <a:rPr lang="en-US" sz="3000" b="1" dirty="0">
                <a:solidFill>
                  <a:srgbClr val="FEF9D7"/>
                </a:solidFill>
              </a:rPr>
              <a:t>Part 1 · Python foundations</a:t>
            </a:r>
            <a:endParaRPr lang="en-US" sz="3000" dirty="0"/>
          </a:p>
        </p:txBody>
      </p:sp>
      <p:sp>
        <p:nvSpPr>
          <p:cNvPr id="5" name="Text 0"/>
          <p:cNvSpPr/>
          <p:nvPr>
            <p:ph idx="101" type="body" hasCustomPrompt="1"/>
          </p:nvPr>
        </p:nvSpPr>
        <p:spPr>
          <a:xfrm>
            <a:off x="4983480" y="3291840"/>
            <a:ext cx="3749040" cy="731520"/>
          </a:xfrm>
          <a:prstGeom prst="rect">
            <a:avLst/>
          </a:prstGeom>
          <a:noFill/>
          <a:ln/>
        </p:spPr>
        <p:txBody>
          <a:bodyPr wrap="square" lIns="0" tIns="0" rIns="0" bIns="0" rtlCol="0" anchor="t"/>
          <a:lstStyle/>
          <a:p>
            <a:pPr indent="0" marL="0">
              <a:buNone/>
            </a:pPr>
            <a:r>
              <a:rPr lang="en-US" sz="1300" dirty="0">
                <a:solidFill>
                  <a:srgbClr val="8FD3CC"/>
                </a:solidFill>
              </a:rPr>
              <a:t>Variables · lists · dictionaries · if · functions · classes · pip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What is Python?</a:t>
            </a:r>
            <a:endParaRPr lang="en-US" sz="2400" dirty="0"/>
          </a:p>
        </p:txBody>
      </p:sp>
      <p:sp>
        <p:nvSpPr>
          <p:cNvPr id="4" name="card A recipe for the computer"/>
          <p:cNvSpPr/>
          <p:nvPr/>
        </p:nvSpPr>
        <p:spPr>
          <a:xfrm>
            <a:off x="365760" y="1234440"/>
            <a:ext cx="3822700" cy="1492078"/>
          </a:xfrm>
          <a:prstGeom prst="roundRect">
            <a:avLst>
              <a:gd name="adj" fmla="val 7354"/>
            </a:avLst>
          </a:prstGeom>
          <a:solidFill>
            <a:srgbClr val="FFFFFF"/>
          </a:solidFill>
          <a:ln w="12700">
            <a:solidFill>
              <a:srgbClr val="FFFFFF"/>
            </a:solidFill>
            <a:prstDash val="solid"/>
          </a:ln>
        </p:spPr>
      </p:sp>
      <p:sp>
        <p:nvSpPr>
          <p:cNvPr id="5" name="icon bg A recipe for the computer"/>
          <p:cNvSpPr/>
          <p:nvPr/>
        </p:nvSpPr>
        <p:spPr>
          <a:xfrm>
            <a:off x="543560" y="1387911"/>
            <a:ext cx="444500" cy="426308"/>
          </a:xfrm>
          <a:prstGeom prst="ellipse">
            <a:avLst/>
          </a:prstGeom>
          <a:solidFill>
            <a:srgbClr val="F99508"/>
          </a:solidFill>
          <a:ln w="12700">
            <a:solidFill>
              <a:srgbClr val="F99508"/>
            </a:solidFill>
            <a:prstDash val="solid"/>
          </a:ln>
        </p:spPr>
      </p:sp>
      <p:pic>
        <p:nvPicPr>
          <p:cNvPr id="6" name="icon A recipe for the computer" descr="preencoded.png">    </p:cNvPr>
          <p:cNvPicPr>
            <a:picLocks noChangeAspect="1"/>
          </p:cNvPicPr>
          <p:nvPr/>
        </p:nvPicPr>
        <p:blipFill>
          <a:blip r:embed="rId1"/>
          <a:stretch>
            <a:fillRect/>
          </a:stretch>
        </p:blipFill>
        <p:spPr>
          <a:xfrm>
            <a:off x="641350" y="1481699"/>
            <a:ext cx="248920" cy="238733"/>
          </a:xfrm>
          <a:prstGeom prst="rect">
            <a:avLst/>
          </a:prstGeom>
        </p:spPr>
      </p:pic>
      <p:sp>
        <p:nvSpPr>
          <p:cNvPr id="7" name="card title A recipe for the computer"/>
          <p:cNvSpPr txBox="1"/>
          <p:nvPr/>
        </p:nvSpPr>
        <p:spPr>
          <a:xfrm>
            <a:off x="1121410" y="1387911"/>
            <a:ext cx="2933700" cy="426308"/>
          </a:xfrm>
          <a:prstGeom prst="rect">
            <a:avLst/>
          </a:prstGeom>
          <a:noFill/>
          <a:ln/>
        </p:spPr>
        <p:txBody>
          <a:bodyPr wrap="square" lIns="0" tIns="0" rIns="0" bIns="0" rtlCol="0" anchor="ctr"/>
          <a:lstStyle/>
          <a:p>
            <a:pPr indent="0" marL="0">
              <a:buNone/>
            </a:pPr>
            <a:r>
              <a:rPr lang="en-US" sz="1400" b="1" dirty="0">
                <a:solidFill>
                  <a:srgbClr val="072E47"/>
                </a:solidFill>
              </a:rPr>
              <a:t>A recipe for the computer</a:t>
            </a:r>
            <a:endParaRPr lang="en-US" sz="1400" dirty="0"/>
          </a:p>
        </p:txBody>
      </p:sp>
      <p:sp>
        <p:nvSpPr>
          <p:cNvPr id="8" name="card body A recipe for the computer"/>
          <p:cNvSpPr txBox="1"/>
          <p:nvPr/>
        </p:nvSpPr>
        <p:spPr>
          <a:xfrm>
            <a:off x="543560" y="1916533"/>
            <a:ext cx="3467100" cy="682093"/>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A program is a list of steps, read top to bottom. Python is a language for writing those steps that looks almost like English.</a:t>
            </a:r>
            <a:endParaRPr lang="en-US" sz="1300" dirty="0"/>
          </a:p>
        </p:txBody>
      </p:sp>
      <p:sp>
        <p:nvSpPr>
          <p:cNvPr id="9" name="card Where it is used"/>
          <p:cNvSpPr/>
          <p:nvPr/>
        </p:nvSpPr>
        <p:spPr>
          <a:xfrm>
            <a:off x="365760" y="2854411"/>
            <a:ext cx="3822700" cy="1492078"/>
          </a:xfrm>
          <a:prstGeom prst="roundRect">
            <a:avLst>
              <a:gd name="adj" fmla="val 7354"/>
            </a:avLst>
          </a:prstGeom>
          <a:solidFill>
            <a:srgbClr val="FFFFFF"/>
          </a:solidFill>
          <a:ln w="12700">
            <a:solidFill>
              <a:srgbClr val="FFFFFF"/>
            </a:solidFill>
            <a:prstDash val="solid"/>
          </a:ln>
        </p:spPr>
      </p:sp>
      <p:sp>
        <p:nvSpPr>
          <p:cNvPr id="10" name="icon bg Where it is used"/>
          <p:cNvSpPr/>
          <p:nvPr/>
        </p:nvSpPr>
        <p:spPr>
          <a:xfrm>
            <a:off x="543560" y="3007882"/>
            <a:ext cx="444500" cy="426308"/>
          </a:xfrm>
          <a:prstGeom prst="ellipse">
            <a:avLst/>
          </a:prstGeom>
          <a:solidFill>
            <a:srgbClr val="5DA144"/>
          </a:solidFill>
          <a:ln w="12700">
            <a:solidFill>
              <a:srgbClr val="5DA144"/>
            </a:solidFill>
            <a:prstDash val="solid"/>
          </a:ln>
        </p:spPr>
      </p:sp>
      <p:pic>
        <p:nvPicPr>
          <p:cNvPr id="11" name="icon Where it is used" descr="preencoded.png">    </p:cNvPr>
          <p:cNvPicPr>
            <a:picLocks noChangeAspect="1"/>
          </p:cNvPicPr>
          <p:nvPr/>
        </p:nvPicPr>
        <p:blipFill>
          <a:blip r:embed="rId2"/>
          <a:stretch>
            <a:fillRect/>
          </a:stretch>
        </p:blipFill>
        <p:spPr>
          <a:xfrm>
            <a:off x="641350" y="3101670"/>
            <a:ext cx="248920" cy="238733"/>
          </a:xfrm>
          <a:prstGeom prst="rect">
            <a:avLst/>
          </a:prstGeom>
        </p:spPr>
      </p:pic>
      <p:sp>
        <p:nvSpPr>
          <p:cNvPr id="12" name="card title Where it is used"/>
          <p:cNvSpPr txBox="1"/>
          <p:nvPr/>
        </p:nvSpPr>
        <p:spPr>
          <a:xfrm>
            <a:off x="1121410" y="3007882"/>
            <a:ext cx="2933700" cy="426308"/>
          </a:xfrm>
          <a:prstGeom prst="rect">
            <a:avLst/>
          </a:prstGeom>
          <a:noFill/>
          <a:ln/>
        </p:spPr>
        <p:txBody>
          <a:bodyPr wrap="square" lIns="0" tIns="0" rIns="0" bIns="0" rtlCol="0" anchor="ctr"/>
          <a:lstStyle/>
          <a:p>
            <a:pPr indent="0" marL="0">
              <a:buNone/>
            </a:pPr>
            <a:r>
              <a:rPr lang="en-US" sz="1400" b="1" dirty="0">
                <a:solidFill>
                  <a:srgbClr val="072E47"/>
                </a:solidFill>
              </a:rPr>
              <a:t>Where it is used</a:t>
            </a:r>
            <a:endParaRPr lang="en-US" sz="1400" dirty="0"/>
          </a:p>
        </p:txBody>
      </p:sp>
      <p:sp>
        <p:nvSpPr>
          <p:cNvPr id="13" name="card body Where it is used"/>
          <p:cNvSpPr txBox="1"/>
          <p:nvPr/>
        </p:nvSpPr>
        <p:spPr>
          <a:xfrm>
            <a:off x="543560" y="3536504"/>
            <a:ext cx="3467100" cy="682093"/>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Websites (Instagram, YouTube), data science, AI (ChatGPT's tooling), games, robots, school projects.</a:t>
            </a:r>
            <a:endParaRPr lang="en-US" sz="1300" dirty="0"/>
          </a:p>
        </p:txBody>
      </p:sp>
      <p:sp>
        <p:nvSpPr>
          <p:cNvPr id="14" name="code card"/>
          <p:cNvSpPr/>
          <p:nvPr/>
        </p:nvSpPr>
        <p:spPr>
          <a:xfrm>
            <a:off x="4455160" y="1234440"/>
            <a:ext cx="3911600" cy="3112049"/>
          </a:xfrm>
          <a:prstGeom prst="roundRect">
            <a:avLst>
              <a:gd name="adj" fmla="val 3526"/>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15" name="file label"/>
          <p:cNvSpPr/>
          <p:nvPr/>
        </p:nvSpPr>
        <p:spPr>
          <a:xfrm>
            <a:off x="4632960" y="1336754"/>
            <a:ext cx="915670" cy="238733"/>
          </a:xfrm>
          <a:prstGeom prst="roundRect">
            <a:avLst>
              <a:gd name="adj" fmla="val 30642"/>
            </a:avLst>
          </a:prstGeom>
          <a:solidFill>
            <a:srgbClr val="F99508"/>
          </a:solidFill>
          <a:ln w="12700">
            <a:solidFill>
              <a:srgbClr val="F99508"/>
            </a:solidFill>
            <a:prstDash val="solid"/>
          </a:ln>
        </p:spPr>
      </p:sp>
      <p:sp>
        <p:nvSpPr>
          <p:cNvPr id="16" name="file label text"/>
          <p:cNvSpPr txBox="1"/>
          <p:nvPr/>
        </p:nvSpPr>
        <p:spPr>
          <a:xfrm>
            <a:off x="4632960" y="1336754"/>
            <a:ext cx="91567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hello.py</a:t>
            </a:r>
            <a:endParaRPr lang="en-US" sz="1000" dirty="0"/>
          </a:p>
        </p:txBody>
      </p:sp>
      <p:sp>
        <p:nvSpPr>
          <p:cNvPr id="17" name="code"/>
          <p:cNvSpPr txBox="1"/>
          <p:nvPr/>
        </p:nvSpPr>
        <p:spPr>
          <a:xfrm>
            <a:off x="4677410" y="1660748"/>
            <a:ext cx="3467100" cy="2557849"/>
          </a:xfrm>
          <a:prstGeom prst="rect">
            <a:avLst/>
          </a:prstGeom>
          <a:noFill/>
          <a:ln/>
        </p:spPr>
        <p:txBody>
          <a:bodyPr wrap="square" lIns="0" tIns="0" rIns="0" bIns="0" rtlCol="0" anchor="t"/>
          <a:lstStyle/>
          <a:p>
            <a:pPr indent="0" marL="0">
              <a:buNone/>
            </a:pPr>
            <a:r>
              <a:rPr lang="en-US" sz="1200" dirty="0">
                <a:solidFill>
                  <a:srgbClr val="9A9B8C"/>
                </a:solidFill>
                <a:latin typeface="Courier New" pitchFamily="34" charset="0"/>
                <a:ea typeface="Courier New" pitchFamily="34" charset="-122"/>
                <a:cs typeface="Courier New" pitchFamily="34" charset="-120"/>
              </a:rPr>
              <a:t># A comment. Python ignores it.</a:t>
            </a:r>
            <a:endParaRPr lang="en-US" sz="1200" dirty="0"/>
          </a:p>
          <a:p>
            <a:pPr indent="0" marL="0">
              <a:buNone/>
            </a:pPr>
            <a:r>
              <a:rPr lang="en-US" sz="1200" dirty="0">
                <a:solidFill>
                  <a:srgbClr val="9A9B8C"/>
                </a:solidFill>
                <a:latin typeface="Courier New" pitchFamily="34" charset="0"/>
                <a:ea typeface="Courier New" pitchFamily="34" charset="-122"/>
                <a:cs typeface="Courier New" pitchFamily="34" charset="-120"/>
              </a:rPr>
              <a:t># Comments explain WHY to humans.</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print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"Hello, PyCon Davao!"</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9A9B8C"/>
                </a:solidFill>
                <a:latin typeface="Courier New" pitchFamily="34" charset="0"/>
                <a:ea typeface="Courier New" pitchFamily="34" charset="-122"/>
                <a:cs typeface="Courier New" pitchFamily="34" charset="-120"/>
              </a:rPr>
              <a:t># Run it:</a:t>
            </a:r>
            <a:endParaRPr lang="en-US" sz="1200" dirty="0"/>
          </a:p>
          <a:p>
            <a:pPr indent="0" marL="0">
              <a:buNone/>
            </a:pPr>
            <a:r>
              <a:rPr lang="en-US" sz="1200" dirty="0">
                <a:solidFill>
                  <a:srgbClr val="9A9B8C"/>
                </a:solidFill>
                <a:latin typeface="Courier New" pitchFamily="34" charset="0"/>
                <a:ea typeface="Courier New" pitchFamily="34" charset="-122"/>
                <a:cs typeface="Courier New" pitchFamily="34" charset="-120"/>
              </a:rPr>
              <a:t>#   python hello.py</a:t>
            </a:r>
            <a:endParaRPr lang="en-US" sz="1200" dirty="0"/>
          </a:p>
          <a:p>
            <a:pPr indent="0" marL="0">
              <a:buNone/>
            </a:pPr>
            <a:r>
              <a:rPr lang="en-US" sz="1200" dirty="0">
                <a:solidFill>
                  <a:srgbClr val="9A9B8C"/>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A9B8C"/>
                </a:solidFill>
                <a:latin typeface="Courier New" pitchFamily="34" charset="0"/>
                <a:ea typeface="Courier New" pitchFamily="34" charset="-122"/>
                <a:cs typeface="Courier New" pitchFamily="34" charset="-120"/>
              </a:rPr>
              <a:t># Output:</a:t>
            </a:r>
            <a:endParaRPr lang="en-US" sz="1200" dirty="0"/>
          </a:p>
          <a:p>
            <a:pPr indent="0" marL="0">
              <a:buNone/>
            </a:pPr>
            <a:r>
              <a:rPr lang="en-US" sz="1200" dirty="0">
                <a:solidFill>
                  <a:srgbClr val="9A9B8C"/>
                </a:solidFill>
                <a:latin typeface="Courier New" pitchFamily="34" charset="0"/>
                <a:ea typeface="Courier New" pitchFamily="34" charset="-122"/>
                <a:cs typeface="Courier New" pitchFamily="34" charset="-120"/>
              </a:rPr>
              <a:t>#   Hello, PyCon Davao!</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Variables: labelled boxes</a:t>
            </a:r>
            <a:endParaRPr lang="en-US" sz="2400" dirty="0"/>
          </a:p>
        </p:txBody>
      </p:sp>
      <p:sp>
        <p:nvSpPr>
          <p:cNvPr id="4" name="code card"/>
          <p:cNvSpPr/>
          <p:nvPr/>
        </p:nvSpPr>
        <p:spPr>
          <a:xfrm>
            <a:off x="365760" y="1234440"/>
            <a:ext cx="5511800" cy="2557849"/>
          </a:xfrm>
          <a:prstGeom prst="roundRect">
            <a:avLst>
              <a:gd name="adj" fmla="val 429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250253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250253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python_basics/01_variables.py</a:t>
            </a:r>
            <a:endParaRPr lang="en-US" sz="1000" dirty="0"/>
          </a:p>
        </p:txBody>
      </p:sp>
      <p:sp>
        <p:nvSpPr>
          <p:cNvPr id="7" name="code"/>
          <p:cNvSpPr txBox="1"/>
          <p:nvPr/>
        </p:nvSpPr>
        <p:spPr>
          <a:xfrm>
            <a:off x="588010" y="1660748"/>
            <a:ext cx="5067300" cy="2003648"/>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title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"Python Fundamentals"</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str (text)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question_count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AE81FF"/>
                </a:solidFill>
                <a:latin typeface="Courier New" pitchFamily="34" charset="0"/>
                <a:ea typeface="Courier New" pitchFamily="34" charset="-122"/>
                <a:cs typeface="Courier New" pitchFamily="34" charset="-120"/>
              </a:rPr>
              <a:t>10</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int (whole number)</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mc_percent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AE81FF"/>
                </a:solidFill>
                <a:latin typeface="Courier New" pitchFamily="34" charset="0"/>
                <a:ea typeface="Courier New" pitchFamily="34" charset="-122"/>
                <a:cs typeface="Courier New" pitchFamily="34" charset="-120"/>
              </a:rPr>
              <a:t>70.0</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float (decimal)</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9A9B8C"/>
                </a:solidFill>
                <a:latin typeface="Courier New" pitchFamily="34" charset="0"/>
                <a:ea typeface="Courier New" pitchFamily="34" charset="-122"/>
                <a:cs typeface="Courier New" pitchFamily="34" charset="-120"/>
              </a:rPr>
              <a:t># f-string: fill in the blanks with {variables}</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print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f"</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title</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 has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question_count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 questions"</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mc_count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question_count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mc_percent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AE81FF"/>
                </a:solidFill>
                <a:latin typeface="Courier New" pitchFamily="34" charset="0"/>
                <a:ea typeface="Courier New" pitchFamily="34" charset="-122"/>
                <a:cs typeface="Courier New" pitchFamily="34" charset="-120"/>
              </a:rPr>
              <a:t>100</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print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mc_count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7</a:t>
            </a:r>
            <a:endParaRPr lang="en-US" sz="1200" dirty="0"/>
          </a:p>
        </p:txBody>
      </p:sp>
      <p:sp>
        <p:nvSpPr>
          <p:cNvPr id="8" name="badge 1"/>
          <p:cNvSpPr/>
          <p:nvPr/>
        </p:nvSpPr>
        <p:spPr>
          <a:xfrm>
            <a:off x="6055360" y="1277071"/>
            <a:ext cx="320040" cy="306942"/>
          </a:xfrm>
          <a:prstGeom prst="ellipse">
            <a:avLst/>
          </a:prstGeom>
          <a:solidFill>
            <a:srgbClr val="F99508"/>
          </a:solidFill>
          <a:ln w="12700">
            <a:solidFill>
              <a:srgbClr val="F99508"/>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639462"/>
          </a:xfrm>
          <a:prstGeom prst="rect">
            <a:avLst/>
          </a:prstGeom>
          <a:noFill/>
          <a:ln/>
        </p:spPr>
        <p:txBody>
          <a:bodyPr wrap="square" lIns="0" tIns="0" rIns="0" bIns="0" rtlCol="0" anchor="t"/>
          <a:lstStyle/>
          <a:p>
            <a:pPr indent="0" marL="0">
              <a:buNone/>
            </a:pPr>
            <a:r>
              <a:rPr lang="en-US" sz="1200" b="1" dirty="0">
                <a:solidFill>
                  <a:srgbClr val="000000"/>
                </a:solidFill>
              </a:rPr>
              <a:t>A name on the left</a:t>
            </a:r>
            <a:endParaRPr lang="en-US" sz="1200" dirty="0"/>
          </a:p>
          <a:p>
            <a:pPr indent="0" marL="0">
              <a:buNone/>
            </a:pPr>
            <a:r>
              <a:rPr lang="en-US" sz="1100" dirty="0">
                <a:solidFill>
                  <a:srgbClr val="0F8D91"/>
                </a:solidFill>
              </a:rPr>
              <a:t>The box's label. Use lowercase_with_underscores.</a:t>
            </a:r>
            <a:endParaRPr lang="en-US" sz="1200" dirty="0"/>
          </a:p>
        </p:txBody>
      </p:sp>
      <p:sp>
        <p:nvSpPr>
          <p:cNvPr id="11" name="badge 2"/>
          <p:cNvSpPr/>
          <p:nvPr/>
        </p:nvSpPr>
        <p:spPr>
          <a:xfrm>
            <a:off x="6055360" y="2044425"/>
            <a:ext cx="320040" cy="306942"/>
          </a:xfrm>
          <a:prstGeom prst="ellipse">
            <a:avLst/>
          </a:prstGeom>
          <a:solidFill>
            <a:srgbClr val="F99508"/>
          </a:solidFill>
          <a:ln w="12700">
            <a:solidFill>
              <a:srgbClr val="F99508"/>
            </a:solidFill>
            <a:prstDash val="solid"/>
          </a:ln>
        </p:spPr>
      </p:sp>
      <p:sp>
        <p:nvSpPr>
          <p:cNvPr id="12" name="badge 2 text"/>
          <p:cNvSpPr txBox="1"/>
          <p:nvPr/>
        </p:nvSpPr>
        <p:spPr>
          <a:xfrm>
            <a:off x="6055360" y="2044425"/>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001795"/>
            <a:ext cx="1884680" cy="639462"/>
          </a:xfrm>
          <a:prstGeom prst="rect">
            <a:avLst/>
          </a:prstGeom>
          <a:noFill/>
          <a:ln/>
        </p:spPr>
        <p:txBody>
          <a:bodyPr wrap="square" lIns="0" tIns="0" rIns="0" bIns="0" rtlCol="0" anchor="t"/>
          <a:lstStyle/>
          <a:p>
            <a:pPr indent="0" marL="0">
              <a:buNone/>
            </a:pPr>
            <a:r>
              <a:rPr lang="en-US" sz="1200" b="1" dirty="0">
                <a:solidFill>
                  <a:srgbClr val="000000"/>
                </a:solidFill>
              </a:rPr>
              <a:t>A value on the right</a:t>
            </a:r>
            <a:endParaRPr lang="en-US" sz="1200" dirty="0"/>
          </a:p>
          <a:p>
            <a:pPr indent="0" marL="0">
              <a:buNone/>
            </a:pPr>
            <a:r>
              <a:rPr lang="en-US" sz="1100" dirty="0">
                <a:solidFill>
                  <a:srgbClr val="0F8D91"/>
                </a:solidFill>
              </a:rPr>
              <a:t>Text in quotes, numbers without.</a:t>
            </a:r>
            <a:endParaRPr lang="en-US" sz="1200" dirty="0"/>
          </a:p>
        </p:txBody>
      </p:sp>
      <p:sp>
        <p:nvSpPr>
          <p:cNvPr id="14" name="badge 3"/>
          <p:cNvSpPr/>
          <p:nvPr/>
        </p:nvSpPr>
        <p:spPr>
          <a:xfrm>
            <a:off x="6055360" y="2811780"/>
            <a:ext cx="320040" cy="306942"/>
          </a:xfrm>
          <a:prstGeom prst="ellipse">
            <a:avLst/>
          </a:prstGeom>
          <a:solidFill>
            <a:srgbClr val="F99508"/>
          </a:solidFill>
          <a:ln w="12700">
            <a:solidFill>
              <a:srgbClr val="F99508"/>
            </a:solidFill>
            <a:prstDash val="solid"/>
          </a:ln>
        </p:spPr>
      </p:sp>
      <p:sp>
        <p:nvSpPr>
          <p:cNvPr id="15" name="badge 3 text"/>
          <p:cNvSpPr txBox="1"/>
          <p:nvPr/>
        </p:nvSpPr>
        <p:spPr>
          <a:xfrm>
            <a:off x="6055360" y="2811780"/>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769149"/>
            <a:ext cx="1884680" cy="639462"/>
          </a:xfrm>
          <a:prstGeom prst="rect">
            <a:avLst/>
          </a:prstGeom>
          <a:noFill/>
          <a:ln/>
        </p:spPr>
        <p:txBody>
          <a:bodyPr wrap="square" lIns="0" tIns="0" rIns="0" bIns="0" rtlCol="0" anchor="t"/>
          <a:lstStyle/>
          <a:p>
            <a:pPr indent="0" marL="0">
              <a:buNone/>
            </a:pPr>
            <a:r>
              <a:rPr lang="en-US" sz="1200" b="1" dirty="0">
                <a:solidFill>
                  <a:srgbClr val="000000"/>
                </a:solidFill>
              </a:rPr>
              <a:t>= means 'put into'</a:t>
            </a:r>
            <a:endParaRPr lang="en-US" sz="1200" dirty="0"/>
          </a:p>
          <a:p>
            <a:pPr indent="0" marL="0">
              <a:buNone/>
            </a:pPr>
            <a:r>
              <a:rPr lang="en-US" sz="1100" dirty="0">
                <a:solidFill>
                  <a:srgbClr val="0F8D91"/>
                </a:solidFill>
              </a:rPr>
              <a:t>Not 'equals' like in math. The box can be refilled later.</a:t>
            </a:r>
            <a:endParaRPr lang="en-US" sz="1200" dirty="0"/>
          </a:p>
        </p:txBody>
      </p:sp>
      <p:sp>
        <p:nvSpPr>
          <p:cNvPr id="17" name="tip"/>
          <p:cNvSpPr/>
          <p:nvPr/>
        </p:nvSpPr>
        <p:spPr>
          <a:xfrm>
            <a:off x="365760" y="3920181"/>
            <a:ext cx="8001000" cy="468939"/>
          </a:xfrm>
          <a:prstGeom prst="roundRect">
            <a:avLst>
              <a:gd name="adj" fmla="val 19499"/>
            </a:avLst>
          </a:prstGeom>
          <a:solidFill>
            <a:srgbClr val="FFFFFF"/>
          </a:solidFill>
          <a:ln w="12700">
            <a:solidFill>
              <a:srgbClr val="FFFFFF"/>
            </a:solidFill>
            <a:prstDash val="solid"/>
          </a:ln>
        </p:spPr>
      </p:sp>
      <p:sp>
        <p:nvSpPr>
          <p:cNvPr id="18" name="tip dot"/>
          <p:cNvSpPr/>
          <p:nvPr/>
        </p:nvSpPr>
        <p:spPr>
          <a:xfrm>
            <a:off x="499110" y="4026758"/>
            <a:ext cx="266700" cy="255785"/>
          </a:xfrm>
          <a:prstGeom prst="ellipse">
            <a:avLst/>
          </a:prstGeom>
          <a:solidFill>
            <a:srgbClr val="04B1A4"/>
          </a:solidFill>
          <a:ln w="12700">
            <a:solidFill>
              <a:srgbClr val="04B1A4"/>
            </a:solidFill>
            <a:prstDash val="solid"/>
          </a:ln>
        </p:spPr>
      </p:sp>
      <p:sp>
        <p:nvSpPr>
          <p:cNvPr id="19" name="tip mark"/>
          <p:cNvSpPr txBox="1"/>
          <p:nvPr/>
        </p:nvSpPr>
        <p:spPr>
          <a:xfrm>
            <a:off x="499110" y="4026758"/>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20" name="tip text"/>
          <p:cNvSpPr txBox="1"/>
          <p:nvPr/>
        </p:nvSpPr>
        <p:spPr>
          <a:xfrm>
            <a:off x="899160" y="3920181"/>
            <a:ext cx="7334250" cy="468939"/>
          </a:xfrm>
          <a:prstGeom prst="rect">
            <a:avLst/>
          </a:prstGeom>
          <a:noFill/>
          <a:ln/>
        </p:spPr>
        <p:txBody>
          <a:bodyPr wrap="square" lIns="0" tIns="0" rIns="0" bIns="0" rtlCol="0" anchor="ctr"/>
          <a:lstStyle/>
          <a:p>
            <a:pPr indent="0" marL="0">
              <a:buNone/>
            </a:pPr>
            <a:r>
              <a:rPr lang="en-US" sz="1200" dirty="0">
                <a:solidFill>
                  <a:srgbClr val="072E47"/>
                </a:solidFill>
              </a:rPr>
              <a:t>In the app: title, description and question count are exactly these kinds of values, just stored in a database.</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Lists: many things in order</a:t>
            </a:r>
            <a:endParaRPr lang="en-US" sz="2400" dirty="0"/>
          </a:p>
        </p:txBody>
      </p:sp>
      <p:sp>
        <p:nvSpPr>
          <p:cNvPr id="4" name="code card"/>
          <p:cNvSpPr/>
          <p:nvPr/>
        </p:nvSpPr>
        <p:spPr>
          <a:xfrm>
            <a:off x="365760" y="1234440"/>
            <a:ext cx="5511800" cy="2557849"/>
          </a:xfrm>
          <a:prstGeom prst="roundRect">
            <a:avLst>
              <a:gd name="adj" fmla="val 429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295592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295592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python_basics/02_lists_and_dicts.py</a:t>
            </a:r>
            <a:endParaRPr lang="en-US" sz="1000" dirty="0"/>
          </a:p>
        </p:txBody>
      </p:sp>
      <p:sp>
        <p:nvSpPr>
          <p:cNvPr id="7" name="code"/>
          <p:cNvSpPr txBox="1"/>
          <p:nvPr/>
        </p:nvSpPr>
        <p:spPr>
          <a:xfrm>
            <a:off x="588010" y="1660748"/>
            <a:ext cx="5067300" cy="2003648"/>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choices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"func"</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"def"</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"function"</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"define"</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choices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AE81FF"/>
                </a:solidFill>
                <a:latin typeface="Courier New" pitchFamily="34" charset="0"/>
                <a:ea typeface="Courier New" pitchFamily="34" charset="-122"/>
                <a:cs typeface="Courier New" pitchFamily="34" charset="-120"/>
              </a:rPr>
              <a:t>0</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"func"  &lt;- counts from 0!</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choices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AE81FF"/>
                </a:solidFill>
                <a:latin typeface="Courier New" pitchFamily="34" charset="0"/>
                <a:ea typeface="Courier New" pitchFamily="34" charset="-122"/>
                <a:cs typeface="Courier New" pitchFamily="34" charset="-120"/>
              </a:rPr>
              <a:t>1</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"def"</a:t>
            </a:r>
            <a:endParaRPr lang="en-US" sz="1200" dirty="0"/>
          </a:p>
          <a:p>
            <a:pPr indent="0" marL="0">
              <a:buNone/>
            </a:pPr>
            <a:r>
              <a:rPr lang="en-US" sz="1200" dirty="0">
                <a:solidFill>
                  <a:srgbClr val="66D9EF"/>
                </a:solidFill>
                <a:latin typeface="Courier New" pitchFamily="34" charset="0"/>
                <a:ea typeface="Courier New" pitchFamily="34" charset="-122"/>
                <a:cs typeface="Courier New" pitchFamily="34" charset="-120"/>
              </a:rPr>
              <a:t>len</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choices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4</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choices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append</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"lambda"</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add to the end</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for</a:t>
            </a:r>
            <a:pPr indent="0" marL="0">
              <a:buNone/>
            </a:pPr>
            <a:r>
              <a:rPr lang="en-US" sz="1200" dirty="0">
                <a:solidFill>
                  <a:srgbClr val="F8F8F2"/>
                </a:solidFill>
                <a:latin typeface="Courier New" pitchFamily="34" charset="0"/>
                <a:ea typeface="Courier New" pitchFamily="34" charset="-122"/>
                <a:cs typeface="Courier New" pitchFamily="34" charset="-120"/>
              </a:rPr>
              <a:t> choice </a:t>
            </a:r>
            <a:pPr indent="0" marL="0">
              <a:buNone/>
            </a:pPr>
            <a:r>
              <a:rPr lang="en-US" sz="1200" dirty="0">
                <a:solidFill>
                  <a:srgbClr val="F92672"/>
                </a:solidFill>
                <a:latin typeface="Courier New" pitchFamily="34" charset="0"/>
                <a:ea typeface="Courier New" pitchFamily="34" charset="-122"/>
                <a:cs typeface="Courier New" pitchFamily="34" charset="-120"/>
              </a:rPr>
              <a:t>in</a:t>
            </a:r>
            <a:pPr indent="0" marL="0">
              <a:buNone/>
            </a:pPr>
            <a:r>
              <a:rPr lang="en-US" sz="1200" dirty="0">
                <a:solidFill>
                  <a:srgbClr val="F8F8F2"/>
                </a:solidFill>
                <a:latin typeface="Courier New" pitchFamily="34" charset="0"/>
                <a:ea typeface="Courier New" pitchFamily="34" charset="-122"/>
                <a:cs typeface="Courier New" pitchFamily="34" charset="-120"/>
              </a:rPr>
              <a:t> choices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visit each one</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92672"/>
                </a:solidFill>
                <a:latin typeface="Courier New" pitchFamily="34" charset="0"/>
                <a:ea typeface="Courier New" pitchFamily="34" charset="-122"/>
                <a:cs typeface="Courier New" pitchFamily="34" charset="-120"/>
              </a:rPr>
              <a:t>print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choice</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p:txBody>
      </p:sp>
      <p:sp>
        <p:nvSpPr>
          <p:cNvPr id="8" name="card Square brackets"/>
          <p:cNvSpPr/>
          <p:nvPr/>
        </p:nvSpPr>
        <p:spPr>
          <a:xfrm>
            <a:off x="6055360" y="1234440"/>
            <a:ext cx="2311400" cy="1364186"/>
          </a:xfrm>
          <a:prstGeom prst="roundRect">
            <a:avLst>
              <a:gd name="adj" fmla="val 8043"/>
            </a:avLst>
          </a:prstGeom>
          <a:solidFill>
            <a:srgbClr val="FFFFFF"/>
          </a:solidFill>
          <a:ln w="12700">
            <a:solidFill>
              <a:srgbClr val="FFFFFF"/>
            </a:solidFill>
            <a:prstDash val="solid"/>
          </a:ln>
        </p:spPr>
      </p:sp>
      <p:sp>
        <p:nvSpPr>
          <p:cNvPr id="9" name="card title Square brackets"/>
          <p:cNvSpPr txBox="1"/>
          <p:nvPr/>
        </p:nvSpPr>
        <p:spPr>
          <a:xfrm>
            <a:off x="6233160" y="1362332"/>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Square brackets</a:t>
            </a:r>
            <a:endParaRPr lang="en-US" sz="1200" dirty="0"/>
          </a:p>
        </p:txBody>
      </p:sp>
      <p:sp>
        <p:nvSpPr>
          <p:cNvPr id="10" name="card body Square brackets"/>
          <p:cNvSpPr txBox="1"/>
          <p:nvPr/>
        </p:nvSpPr>
        <p:spPr>
          <a:xfrm>
            <a:off x="6233160" y="1746010"/>
            <a:ext cx="1955800" cy="724724"/>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 ] create a list. Items are separated by commas and keep their order.</a:t>
            </a:r>
            <a:endParaRPr lang="en-US" sz="1300" dirty="0"/>
          </a:p>
        </p:txBody>
      </p:sp>
      <p:sp>
        <p:nvSpPr>
          <p:cNvPr id="11" name="card In the app"/>
          <p:cNvSpPr/>
          <p:nvPr/>
        </p:nvSpPr>
        <p:spPr>
          <a:xfrm>
            <a:off x="6055360" y="2726518"/>
            <a:ext cx="2311400" cy="1065770"/>
          </a:xfrm>
          <a:prstGeom prst="roundRect">
            <a:avLst>
              <a:gd name="adj" fmla="val 10296"/>
            </a:avLst>
          </a:prstGeom>
          <a:solidFill>
            <a:srgbClr val="FFFFFF"/>
          </a:solidFill>
          <a:ln w="12700">
            <a:solidFill>
              <a:srgbClr val="FFFFFF"/>
            </a:solidFill>
            <a:prstDash val="solid"/>
          </a:ln>
        </p:spPr>
      </p:sp>
      <p:sp>
        <p:nvSpPr>
          <p:cNvPr id="12" name="card title In the app"/>
          <p:cNvSpPr txBox="1"/>
          <p:nvPr/>
        </p:nvSpPr>
        <p:spPr>
          <a:xfrm>
            <a:off x="6233160" y="2854411"/>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In the app</a:t>
            </a:r>
            <a:endParaRPr lang="en-US" sz="1200" dirty="0"/>
          </a:p>
        </p:txBody>
      </p:sp>
      <p:sp>
        <p:nvSpPr>
          <p:cNvPr id="13" name="card body In the app"/>
          <p:cNvSpPr txBox="1"/>
          <p:nvPr/>
        </p:nvSpPr>
        <p:spPr>
          <a:xfrm>
            <a:off x="6233160" y="3238088"/>
            <a:ext cx="1955800" cy="426308"/>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A question's four choices; a reviewer's questions.</a:t>
            </a:r>
            <a:endParaRPr lang="en-US" sz="13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Dictionaries: things with labels</a:t>
            </a:r>
            <a:endParaRPr lang="en-US" sz="2400" dirty="0"/>
          </a:p>
        </p:txBody>
      </p:sp>
      <p:sp>
        <p:nvSpPr>
          <p:cNvPr id="4" name="code card"/>
          <p:cNvSpPr/>
          <p:nvPr/>
        </p:nvSpPr>
        <p:spPr>
          <a:xfrm>
            <a:off x="365760" y="1234440"/>
            <a:ext cx="5511800" cy="2898895"/>
          </a:xfrm>
          <a:prstGeom prst="roundRect">
            <a:avLst>
              <a:gd name="adj" fmla="val 3785"/>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295592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295592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python_basics/02_lists_and_dicts.py</a:t>
            </a:r>
            <a:endParaRPr lang="en-US" sz="1000" dirty="0"/>
          </a:p>
        </p:txBody>
      </p:sp>
      <p:sp>
        <p:nvSpPr>
          <p:cNvPr id="7" name="code"/>
          <p:cNvSpPr txBox="1"/>
          <p:nvPr/>
        </p:nvSpPr>
        <p:spPr>
          <a:xfrm>
            <a:off x="588010" y="1660748"/>
            <a:ext cx="5067300" cy="2344695"/>
          </a:xfrm>
          <a:prstGeom prst="rect">
            <a:avLst/>
          </a:prstGeom>
          <a:noFill/>
          <a:ln/>
        </p:spPr>
        <p:txBody>
          <a:bodyPr wrap="square" lIns="0" tIns="0" rIns="0" bIns="0" rtlCol="0" anchor="t"/>
          <a:lstStyle/>
          <a:p>
            <a:pPr indent="0" marL="0">
              <a:buNone/>
            </a:pPr>
            <a:r>
              <a:rPr lang="en-US" sz="1150" dirty="0">
                <a:solidFill>
                  <a:srgbClr val="F8F8F2"/>
                </a:solidFill>
                <a:latin typeface="Courier New" pitchFamily="34" charset="0"/>
                <a:ea typeface="Courier New" pitchFamily="34" charset="-122"/>
                <a:cs typeface="Courier New" pitchFamily="34" charset="-120"/>
              </a:rPr>
              <a:t>question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"text"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"Which keyword defines a function?"</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"type"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"multiple_choice"</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"choices"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"func"</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"function"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"correct"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question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"text"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9A9B8C"/>
                </a:solidFill>
                <a:latin typeface="Courier New" pitchFamily="34" charset="0"/>
                <a:ea typeface="Courier New" pitchFamily="34" charset="-122"/>
                <a:cs typeface="Courier New" pitchFamily="34" charset="-120"/>
              </a:rPr>
              <a:t># look up by key</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question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"correct"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9A9B8C"/>
                </a:solidFill>
                <a:latin typeface="Courier New" pitchFamily="34" charset="0"/>
                <a:ea typeface="Courier New" pitchFamily="34" charset="-122"/>
                <a:cs typeface="Courier New" pitchFamily="34" charset="-120"/>
              </a:rPr>
              <a:t># "def"</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quiz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question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another_question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9A9B8C"/>
                </a:solidFill>
                <a:latin typeface="Courier New" pitchFamily="34" charset="0"/>
                <a:ea typeface="Courier New" pitchFamily="34" charset="-122"/>
                <a:cs typeface="Courier New" pitchFamily="34" charset="-120"/>
              </a:rPr>
              <a:t># a list of dicts</a:t>
            </a:r>
            <a:endParaRPr lang="en-US" sz="1150" dirty="0"/>
          </a:p>
        </p:txBody>
      </p:sp>
      <p:sp>
        <p:nvSpPr>
          <p:cNvPr id="8" name="card Curly braces"/>
          <p:cNvSpPr/>
          <p:nvPr/>
        </p:nvSpPr>
        <p:spPr>
          <a:xfrm>
            <a:off x="6055360" y="1234440"/>
            <a:ext cx="2311400" cy="1364186"/>
          </a:xfrm>
          <a:prstGeom prst="roundRect">
            <a:avLst>
              <a:gd name="adj" fmla="val 8043"/>
            </a:avLst>
          </a:prstGeom>
          <a:solidFill>
            <a:srgbClr val="FFFFFF"/>
          </a:solidFill>
          <a:ln w="12700">
            <a:solidFill>
              <a:srgbClr val="FFFFFF"/>
            </a:solidFill>
            <a:prstDash val="solid"/>
          </a:ln>
        </p:spPr>
      </p:sp>
      <p:sp>
        <p:nvSpPr>
          <p:cNvPr id="9" name="card title Curly braces"/>
          <p:cNvSpPr txBox="1"/>
          <p:nvPr/>
        </p:nvSpPr>
        <p:spPr>
          <a:xfrm>
            <a:off x="6233160" y="1362332"/>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Curly braces</a:t>
            </a:r>
            <a:endParaRPr lang="en-US" sz="1200" dirty="0"/>
          </a:p>
        </p:txBody>
      </p:sp>
      <p:sp>
        <p:nvSpPr>
          <p:cNvPr id="10" name="card body Curly braces"/>
          <p:cNvSpPr txBox="1"/>
          <p:nvPr/>
        </p:nvSpPr>
        <p:spPr>
          <a:xfrm>
            <a:off x="6233160" y="1746010"/>
            <a:ext cx="1955800" cy="724724"/>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 key: value } pairs. Look things up by name instead of position.</a:t>
            </a:r>
            <a:endParaRPr lang="en-US" sz="1300" dirty="0"/>
          </a:p>
        </p:txBody>
      </p:sp>
      <p:sp>
        <p:nvSpPr>
          <p:cNvPr id="11" name="card Remember this shape"/>
          <p:cNvSpPr/>
          <p:nvPr/>
        </p:nvSpPr>
        <p:spPr>
          <a:xfrm>
            <a:off x="6055360" y="2726518"/>
            <a:ext cx="2311400" cy="1406817"/>
          </a:xfrm>
          <a:prstGeom prst="roundRect">
            <a:avLst>
              <a:gd name="adj" fmla="val 7800"/>
            </a:avLst>
          </a:prstGeom>
          <a:solidFill>
            <a:srgbClr val="FFFFFF"/>
          </a:solidFill>
          <a:ln w="12700">
            <a:solidFill>
              <a:srgbClr val="FFFFFF"/>
            </a:solidFill>
            <a:prstDash val="solid"/>
          </a:ln>
        </p:spPr>
      </p:sp>
      <p:sp>
        <p:nvSpPr>
          <p:cNvPr id="12" name="card title Remember this shape"/>
          <p:cNvSpPr txBox="1"/>
          <p:nvPr/>
        </p:nvSpPr>
        <p:spPr>
          <a:xfrm>
            <a:off x="6233160" y="2854411"/>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Remember this shape</a:t>
            </a:r>
            <a:endParaRPr lang="en-US" sz="1200" dirty="0"/>
          </a:p>
        </p:txBody>
      </p:sp>
      <p:sp>
        <p:nvSpPr>
          <p:cNvPr id="13" name="card body Remember this shape"/>
          <p:cNvSpPr txBox="1"/>
          <p:nvPr/>
        </p:nvSpPr>
        <p:spPr>
          <a:xfrm>
            <a:off x="6233160" y="3238088"/>
            <a:ext cx="1955800" cy="767355"/>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In Part 4 the AI replies with a dictionary that has a list of question dictionaries. Same thing!</a:t>
            </a:r>
            <a:endParaRPr lang="en-US" sz="13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if / else: making a decision</a:t>
            </a:r>
            <a:endParaRPr lang="en-US" sz="2400" dirty="0"/>
          </a:p>
        </p:txBody>
      </p:sp>
      <p:sp>
        <p:nvSpPr>
          <p:cNvPr id="4" name="code card"/>
          <p:cNvSpPr/>
          <p:nvPr/>
        </p:nvSpPr>
        <p:spPr>
          <a:xfrm>
            <a:off x="365760" y="1234440"/>
            <a:ext cx="5511800" cy="2472587"/>
          </a:xfrm>
          <a:prstGeom prst="roundRect">
            <a:avLst>
              <a:gd name="adj" fmla="val 443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303149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303149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python_basics/03_if_and_functions.py</a:t>
            </a:r>
            <a:endParaRPr lang="en-US" sz="1000" dirty="0"/>
          </a:p>
        </p:txBody>
      </p:sp>
      <p:sp>
        <p:nvSpPr>
          <p:cNvPr id="7" name="code"/>
          <p:cNvSpPr txBox="1"/>
          <p:nvPr/>
        </p:nvSpPr>
        <p:spPr>
          <a:xfrm>
            <a:off x="588010" y="1660748"/>
            <a:ext cx="5067300" cy="1918386"/>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submitted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"Def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correct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"def"</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9A9B8C"/>
                </a:solidFill>
                <a:latin typeface="Courier New" pitchFamily="34" charset="0"/>
                <a:ea typeface="Courier New" pitchFamily="34" charset="-122"/>
                <a:cs typeface="Courier New" pitchFamily="34" charset="-120"/>
              </a:rPr>
              <a:t># .strip() drops spaces, .casefold() ignores case</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if</a:t>
            </a:r>
            <a:pPr indent="0" marL="0">
              <a:buNone/>
            </a:pPr>
            <a:r>
              <a:rPr lang="en-US" sz="1200" dirty="0">
                <a:solidFill>
                  <a:srgbClr val="F8F8F2"/>
                </a:solidFill>
                <a:latin typeface="Courier New" pitchFamily="34" charset="0"/>
                <a:ea typeface="Courier New" pitchFamily="34" charset="-122"/>
                <a:cs typeface="Courier New" pitchFamily="34" charset="-120"/>
              </a:rPr>
              <a:t> submitted</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strip</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casefold</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correct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92672"/>
                </a:solidFill>
                <a:latin typeface="Courier New" pitchFamily="34" charset="0"/>
                <a:ea typeface="Courier New" pitchFamily="34" charset="-122"/>
                <a:cs typeface="Courier New" pitchFamily="34" charset="-120"/>
              </a:rPr>
              <a:t>print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"Correct!"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else</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92672"/>
                </a:solidFill>
                <a:latin typeface="Courier New" pitchFamily="34" charset="0"/>
                <a:ea typeface="Courier New" pitchFamily="34" charset="-122"/>
                <a:cs typeface="Courier New" pitchFamily="34" charset="-120"/>
              </a:rPr>
              <a:t>print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f"Not quite. It is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correct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p:txBody>
      </p:sp>
      <p:sp>
        <p:nvSpPr>
          <p:cNvPr id="8" name="badge 1"/>
          <p:cNvSpPr/>
          <p:nvPr/>
        </p:nvSpPr>
        <p:spPr>
          <a:xfrm>
            <a:off x="6055360" y="1277071"/>
            <a:ext cx="320040" cy="306942"/>
          </a:xfrm>
          <a:prstGeom prst="ellipse">
            <a:avLst/>
          </a:prstGeom>
          <a:solidFill>
            <a:srgbClr val="F99508"/>
          </a:solidFill>
          <a:ln w="12700">
            <a:solidFill>
              <a:srgbClr val="F99508"/>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682093"/>
          </a:xfrm>
          <a:prstGeom prst="rect">
            <a:avLst/>
          </a:prstGeom>
          <a:noFill/>
          <a:ln/>
        </p:spPr>
        <p:txBody>
          <a:bodyPr wrap="square" lIns="0" tIns="0" rIns="0" bIns="0" rtlCol="0" anchor="t"/>
          <a:lstStyle/>
          <a:p>
            <a:pPr indent="0" marL="0">
              <a:buNone/>
            </a:pPr>
            <a:r>
              <a:rPr lang="en-US" sz="1200" b="1" dirty="0">
                <a:solidFill>
                  <a:srgbClr val="000000"/>
                </a:solidFill>
              </a:rPr>
              <a:t>Ask a yes/no question</a:t>
            </a:r>
            <a:endParaRPr lang="en-US" sz="1200" dirty="0"/>
          </a:p>
          <a:p>
            <a:pPr indent="0" marL="0">
              <a:buNone/>
            </a:pPr>
            <a:r>
              <a:rPr lang="en-US" sz="1100" dirty="0">
                <a:solidFill>
                  <a:srgbClr val="0F8D91"/>
                </a:solidFill>
              </a:rPr>
              <a:t>== compares two values. Result is True or False.</a:t>
            </a:r>
            <a:endParaRPr lang="en-US" sz="1200" dirty="0"/>
          </a:p>
        </p:txBody>
      </p:sp>
      <p:sp>
        <p:nvSpPr>
          <p:cNvPr id="11" name="badge 2"/>
          <p:cNvSpPr/>
          <p:nvPr/>
        </p:nvSpPr>
        <p:spPr>
          <a:xfrm>
            <a:off x="6055360" y="2044425"/>
            <a:ext cx="320040" cy="306942"/>
          </a:xfrm>
          <a:prstGeom prst="ellipse">
            <a:avLst/>
          </a:prstGeom>
          <a:solidFill>
            <a:srgbClr val="F99508"/>
          </a:solidFill>
          <a:ln w="12700">
            <a:solidFill>
              <a:srgbClr val="F99508"/>
            </a:solidFill>
            <a:prstDash val="solid"/>
          </a:ln>
        </p:spPr>
      </p:sp>
      <p:sp>
        <p:nvSpPr>
          <p:cNvPr id="12" name="badge 2 text"/>
          <p:cNvSpPr txBox="1"/>
          <p:nvPr/>
        </p:nvSpPr>
        <p:spPr>
          <a:xfrm>
            <a:off x="6055360" y="2044425"/>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001795"/>
            <a:ext cx="1884680" cy="682093"/>
          </a:xfrm>
          <a:prstGeom prst="rect">
            <a:avLst/>
          </a:prstGeom>
          <a:noFill/>
          <a:ln/>
        </p:spPr>
        <p:txBody>
          <a:bodyPr wrap="square" lIns="0" tIns="0" rIns="0" bIns="0" rtlCol="0" anchor="t"/>
          <a:lstStyle/>
          <a:p>
            <a:pPr indent="0" marL="0">
              <a:buNone/>
            </a:pPr>
            <a:r>
              <a:rPr lang="en-US" sz="1200" b="1" dirty="0">
                <a:solidFill>
                  <a:srgbClr val="000000"/>
                </a:solidFill>
              </a:rPr>
              <a:t>Indent what belongs</a:t>
            </a:r>
            <a:endParaRPr lang="en-US" sz="1200" dirty="0"/>
          </a:p>
          <a:p>
            <a:pPr indent="0" marL="0">
              <a:buNone/>
            </a:pPr>
            <a:r>
              <a:rPr lang="en-US" sz="1100" dirty="0">
                <a:solidFill>
                  <a:srgbClr val="0F8D91"/>
                </a:solidFill>
              </a:rPr>
              <a:t>4 spaces say 'these lines are inside the if'.</a:t>
            </a:r>
            <a:endParaRPr lang="en-US" sz="1200" dirty="0"/>
          </a:p>
        </p:txBody>
      </p:sp>
      <p:sp>
        <p:nvSpPr>
          <p:cNvPr id="14" name="badge 3"/>
          <p:cNvSpPr/>
          <p:nvPr/>
        </p:nvSpPr>
        <p:spPr>
          <a:xfrm>
            <a:off x="6055360" y="2811780"/>
            <a:ext cx="320040" cy="306942"/>
          </a:xfrm>
          <a:prstGeom prst="ellipse">
            <a:avLst/>
          </a:prstGeom>
          <a:solidFill>
            <a:srgbClr val="F99508"/>
          </a:solidFill>
          <a:ln w="12700">
            <a:solidFill>
              <a:srgbClr val="F99508"/>
            </a:solidFill>
            <a:prstDash val="solid"/>
          </a:ln>
        </p:spPr>
      </p:sp>
      <p:sp>
        <p:nvSpPr>
          <p:cNvPr id="15" name="badge 3 text"/>
          <p:cNvSpPr txBox="1"/>
          <p:nvPr/>
        </p:nvSpPr>
        <p:spPr>
          <a:xfrm>
            <a:off x="6055360" y="2811780"/>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769149"/>
            <a:ext cx="1884680" cy="682093"/>
          </a:xfrm>
          <a:prstGeom prst="rect">
            <a:avLst/>
          </a:prstGeom>
          <a:noFill/>
          <a:ln/>
        </p:spPr>
        <p:txBody>
          <a:bodyPr wrap="square" lIns="0" tIns="0" rIns="0" bIns="0" rtlCol="0" anchor="t"/>
          <a:lstStyle/>
          <a:p>
            <a:pPr indent="0" marL="0">
              <a:buNone/>
            </a:pPr>
            <a:r>
              <a:rPr lang="en-US" sz="1200" b="1" dirty="0">
                <a:solidFill>
                  <a:srgbClr val="000000"/>
                </a:solidFill>
              </a:rPr>
              <a:t>else = otherwise</a:t>
            </a:r>
            <a:endParaRPr lang="en-US" sz="1200" dirty="0"/>
          </a:p>
          <a:p>
            <a:pPr indent="0" marL="0">
              <a:buNone/>
            </a:pPr>
            <a:r>
              <a:rPr lang="en-US" sz="1100" dirty="0">
                <a:solidFill>
                  <a:srgbClr val="0F8D91"/>
                </a:solidFill>
              </a:rPr>
              <a:t>Runs only when the question was False.</a:t>
            </a:r>
            <a:endParaRPr lang="en-US" sz="1200" dirty="0"/>
          </a:p>
        </p:txBody>
      </p:sp>
      <p:sp>
        <p:nvSpPr>
          <p:cNvPr id="17" name="tip"/>
          <p:cNvSpPr/>
          <p:nvPr/>
        </p:nvSpPr>
        <p:spPr>
          <a:xfrm>
            <a:off x="365760" y="3877550"/>
            <a:ext cx="8001000" cy="468939"/>
          </a:xfrm>
          <a:prstGeom prst="roundRect">
            <a:avLst>
              <a:gd name="adj" fmla="val 19499"/>
            </a:avLst>
          </a:prstGeom>
          <a:solidFill>
            <a:srgbClr val="FFFFFF"/>
          </a:solidFill>
          <a:ln w="12700">
            <a:solidFill>
              <a:srgbClr val="FFFFFF"/>
            </a:solidFill>
            <a:prstDash val="solid"/>
          </a:ln>
        </p:spPr>
      </p:sp>
      <p:sp>
        <p:nvSpPr>
          <p:cNvPr id="18" name="tip dot"/>
          <p:cNvSpPr/>
          <p:nvPr/>
        </p:nvSpPr>
        <p:spPr>
          <a:xfrm>
            <a:off x="499110" y="3984127"/>
            <a:ext cx="266700" cy="255785"/>
          </a:xfrm>
          <a:prstGeom prst="ellipse">
            <a:avLst/>
          </a:prstGeom>
          <a:solidFill>
            <a:srgbClr val="04B1A4"/>
          </a:solidFill>
          <a:ln w="12700">
            <a:solidFill>
              <a:srgbClr val="04B1A4"/>
            </a:solidFill>
            <a:prstDash val="solid"/>
          </a:ln>
        </p:spPr>
      </p:sp>
      <p:sp>
        <p:nvSpPr>
          <p:cNvPr id="19" name="tip mark"/>
          <p:cNvSpPr txBox="1"/>
          <p:nvPr/>
        </p:nvSpPr>
        <p:spPr>
          <a:xfrm>
            <a:off x="499110" y="3984127"/>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20" name="tip text"/>
          <p:cNvSpPr txBox="1"/>
          <p:nvPr/>
        </p:nvSpPr>
        <p:spPr>
          <a:xfrm>
            <a:off x="899160" y="3877550"/>
            <a:ext cx="7334250" cy="468939"/>
          </a:xfrm>
          <a:prstGeom prst="rect">
            <a:avLst/>
          </a:prstGeom>
          <a:noFill/>
          <a:ln/>
        </p:spPr>
        <p:txBody>
          <a:bodyPr wrap="square" lIns="0" tIns="0" rIns="0" bIns="0" rtlCol="0" anchor="ctr"/>
          <a:lstStyle/>
          <a:p>
            <a:pPr indent="0" marL="0">
              <a:buNone/>
            </a:pPr>
            <a:r>
              <a:rPr lang="en-US" sz="1200" dirty="0">
                <a:solidFill>
                  <a:srgbClr val="072E47"/>
                </a:solidFill>
              </a:rPr>
              <a:t>In the app: this exact check decides whether a quiz taker's answer is right.</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Functions: name a recipe, reuse it</a:t>
            </a:r>
            <a:endParaRPr lang="en-US" sz="2400" dirty="0"/>
          </a:p>
        </p:txBody>
      </p:sp>
      <p:sp>
        <p:nvSpPr>
          <p:cNvPr id="4" name="code card"/>
          <p:cNvSpPr/>
          <p:nvPr/>
        </p:nvSpPr>
        <p:spPr>
          <a:xfrm>
            <a:off x="365760" y="1234440"/>
            <a:ext cx="5511800" cy="2557849"/>
          </a:xfrm>
          <a:prstGeom prst="roundRect">
            <a:avLst>
              <a:gd name="adj" fmla="val 429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303149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303149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python_basics/03_if_and_functions.py</a:t>
            </a:r>
            <a:endParaRPr lang="en-US" sz="1000" dirty="0"/>
          </a:p>
        </p:txBody>
      </p:sp>
      <p:sp>
        <p:nvSpPr>
          <p:cNvPr id="7" name="code"/>
          <p:cNvSpPr txBox="1"/>
          <p:nvPr/>
        </p:nvSpPr>
        <p:spPr>
          <a:xfrm>
            <a:off x="588010" y="1660748"/>
            <a:ext cx="5067300" cy="2003648"/>
          </a:xfrm>
          <a:prstGeom prst="rect">
            <a:avLst/>
          </a:prstGeom>
          <a:noFill/>
          <a:ln/>
        </p:spPr>
        <p:txBody>
          <a:bodyPr wrap="square" lIns="0" tIns="0" rIns="0" bIns="0" rtlCol="0" anchor="t"/>
          <a:lstStyle/>
          <a:p>
            <a:pPr indent="0" marL="0">
              <a:buNone/>
            </a:pPr>
            <a:r>
              <a:rPr lang="en-US" sz="1150" dirty="0">
                <a:solidFill>
                  <a:srgbClr val="F92672"/>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check_answer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submitted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66D9EF"/>
                </a:solidFill>
                <a:latin typeface="Courier New" pitchFamily="34" charset="0"/>
                <a:ea typeface="Courier New" pitchFamily="34" charset="-122"/>
                <a:cs typeface="Courier New" pitchFamily="34" charset="-120"/>
              </a:rPr>
              <a:t>str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correct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66D9EF"/>
                </a:solidFill>
                <a:latin typeface="Courier New" pitchFamily="34" charset="0"/>
                <a:ea typeface="Courier New" pitchFamily="34" charset="-122"/>
                <a:cs typeface="Courier New" pitchFamily="34" charset="-120"/>
              </a:rPr>
              <a:t>str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92672"/>
                </a:solidFill>
                <a:latin typeface="Courier New" pitchFamily="34" charset="0"/>
                <a:ea typeface="Courier New" pitchFamily="34" charset="-122"/>
                <a:cs typeface="Courier New" pitchFamily="34" charset="-120"/>
              </a:rPr>
              <a:t>&gt;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66D9EF"/>
                </a:solidFill>
                <a:latin typeface="Courier New" pitchFamily="34" charset="0"/>
                <a:ea typeface="Courier New" pitchFamily="34" charset="-122"/>
                <a:cs typeface="Courier New" pitchFamily="34" charset="-120"/>
              </a:rPr>
              <a:t>bool</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"""True when the typed answer matches."""</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return</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submitted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strip</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casefold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correct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casefold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check_answer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9A9B8C"/>
                </a:solidFill>
                <a:latin typeface="Courier New" pitchFamily="34" charset="0"/>
                <a:ea typeface="Courier New" pitchFamily="34" charset="-122"/>
                <a:cs typeface="Courier New" pitchFamily="34" charset="-120"/>
              </a:rPr>
              <a:t># True</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check_answer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"func"</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9A9B8C"/>
                </a:solidFill>
                <a:latin typeface="Courier New" pitchFamily="34" charset="0"/>
                <a:ea typeface="Courier New" pitchFamily="34" charset="-122"/>
                <a:cs typeface="Courier New" pitchFamily="34" charset="-120"/>
              </a:rPr>
              <a:t># False</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Write once, call a thousand times.</a:t>
            </a:r>
            <a:endParaRPr lang="en-US" sz="1150" dirty="0"/>
          </a:p>
        </p:txBody>
      </p:sp>
      <p:sp>
        <p:nvSpPr>
          <p:cNvPr id="8" name="badge 1"/>
          <p:cNvSpPr/>
          <p:nvPr/>
        </p:nvSpPr>
        <p:spPr>
          <a:xfrm>
            <a:off x="6055360" y="1277071"/>
            <a:ext cx="320040" cy="306942"/>
          </a:xfrm>
          <a:prstGeom prst="ellipse">
            <a:avLst/>
          </a:prstGeom>
          <a:solidFill>
            <a:srgbClr val="F99508"/>
          </a:solidFill>
          <a:ln w="12700">
            <a:solidFill>
              <a:srgbClr val="F99508"/>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639462"/>
          </a:xfrm>
          <a:prstGeom prst="rect">
            <a:avLst/>
          </a:prstGeom>
          <a:noFill/>
          <a:ln/>
        </p:spPr>
        <p:txBody>
          <a:bodyPr wrap="square" lIns="0" tIns="0" rIns="0" bIns="0" rtlCol="0" anchor="t"/>
          <a:lstStyle/>
          <a:p>
            <a:pPr indent="0" marL="0">
              <a:buNone/>
            </a:pPr>
            <a:r>
              <a:rPr lang="en-US" sz="1200" b="1" dirty="0">
                <a:solidFill>
                  <a:srgbClr val="000000"/>
                </a:solidFill>
              </a:rPr>
              <a:t>def + a name</a:t>
            </a:r>
            <a:endParaRPr lang="en-US" sz="1200" dirty="0"/>
          </a:p>
          <a:p>
            <a:pPr indent="0" marL="0">
              <a:buNone/>
            </a:pPr>
            <a:r>
              <a:rPr lang="en-US" sz="1100" dirty="0">
                <a:solidFill>
                  <a:srgbClr val="0F8D91"/>
                </a:solidFill>
              </a:rPr>
              <a:t>Followed by inputs in parentheses and a colon.</a:t>
            </a:r>
            <a:endParaRPr lang="en-US" sz="1200" dirty="0"/>
          </a:p>
        </p:txBody>
      </p:sp>
      <p:sp>
        <p:nvSpPr>
          <p:cNvPr id="11" name="badge 2"/>
          <p:cNvSpPr/>
          <p:nvPr/>
        </p:nvSpPr>
        <p:spPr>
          <a:xfrm>
            <a:off x="6055360" y="2001795"/>
            <a:ext cx="320040" cy="306942"/>
          </a:xfrm>
          <a:prstGeom prst="ellipse">
            <a:avLst/>
          </a:prstGeom>
          <a:solidFill>
            <a:srgbClr val="F99508"/>
          </a:solidFill>
          <a:ln w="12700">
            <a:solidFill>
              <a:srgbClr val="F99508"/>
            </a:solidFill>
            <a:prstDash val="solid"/>
          </a:ln>
        </p:spPr>
      </p:sp>
      <p:sp>
        <p:nvSpPr>
          <p:cNvPr id="12" name="badge 2 text"/>
          <p:cNvSpPr txBox="1"/>
          <p:nvPr/>
        </p:nvSpPr>
        <p:spPr>
          <a:xfrm>
            <a:off x="6055360" y="2001795"/>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1959164"/>
            <a:ext cx="1884680" cy="639462"/>
          </a:xfrm>
          <a:prstGeom prst="rect">
            <a:avLst/>
          </a:prstGeom>
          <a:noFill/>
          <a:ln/>
        </p:spPr>
        <p:txBody>
          <a:bodyPr wrap="square" lIns="0" tIns="0" rIns="0" bIns="0" rtlCol="0" anchor="t"/>
          <a:lstStyle/>
          <a:p>
            <a:pPr indent="0" marL="0">
              <a:buNone/>
            </a:pPr>
            <a:r>
              <a:rPr lang="en-US" sz="1200" b="1" dirty="0">
                <a:solidFill>
                  <a:srgbClr val="000000"/>
                </a:solidFill>
              </a:rPr>
              <a:t>The body</a:t>
            </a:r>
            <a:endParaRPr lang="en-US" sz="1200" dirty="0"/>
          </a:p>
          <a:p>
            <a:pPr indent="0" marL="0">
              <a:buNone/>
            </a:pPr>
            <a:r>
              <a:rPr lang="en-US" sz="1100" dirty="0">
                <a:solidFill>
                  <a:srgbClr val="0F8D91"/>
                </a:solidFill>
              </a:rPr>
              <a:t>Indented lines that do the work.</a:t>
            </a:r>
            <a:endParaRPr lang="en-US" sz="1200" dirty="0"/>
          </a:p>
        </p:txBody>
      </p:sp>
      <p:sp>
        <p:nvSpPr>
          <p:cNvPr id="14" name="badge 3"/>
          <p:cNvSpPr/>
          <p:nvPr/>
        </p:nvSpPr>
        <p:spPr>
          <a:xfrm>
            <a:off x="6055360" y="2726518"/>
            <a:ext cx="320040" cy="306942"/>
          </a:xfrm>
          <a:prstGeom prst="ellipse">
            <a:avLst/>
          </a:prstGeom>
          <a:solidFill>
            <a:srgbClr val="F99508"/>
          </a:solidFill>
          <a:ln w="12700">
            <a:solidFill>
              <a:srgbClr val="F99508"/>
            </a:solidFill>
            <a:prstDash val="solid"/>
          </a:ln>
        </p:spPr>
      </p:sp>
      <p:sp>
        <p:nvSpPr>
          <p:cNvPr id="15" name="badge 3 text"/>
          <p:cNvSpPr txBox="1"/>
          <p:nvPr/>
        </p:nvSpPr>
        <p:spPr>
          <a:xfrm>
            <a:off x="6055360" y="2726518"/>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683888"/>
            <a:ext cx="1884680" cy="639462"/>
          </a:xfrm>
          <a:prstGeom prst="rect">
            <a:avLst/>
          </a:prstGeom>
          <a:noFill/>
          <a:ln/>
        </p:spPr>
        <p:txBody>
          <a:bodyPr wrap="square" lIns="0" tIns="0" rIns="0" bIns="0" rtlCol="0" anchor="t"/>
          <a:lstStyle/>
          <a:p>
            <a:pPr indent="0" marL="0">
              <a:buNone/>
            </a:pPr>
            <a:r>
              <a:rPr lang="en-US" sz="1200" b="1" dirty="0">
                <a:solidFill>
                  <a:srgbClr val="000000"/>
                </a:solidFill>
              </a:rPr>
              <a:t>return</a:t>
            </a:r>
            <a:endParaRPr lang="en-US" sz="1200" dirty="0"/>
          </a:p>
          <a:p>
            <a:pPr indent="0" marL="0">
              <a:buNone/>
            </a:pPr>
            <a:r>
              <a:rPr lang="en-US" sz="1100" dirty="0">
                <a:solidFill>
                  <a:srgbClr val="0F8D91"/>
                </a:solidFill>
              </a:rPr>
              <a:t>Hands a result back to whoever called it.</a:t>
            </a:r>
            <a:endParaRPr lang="en-US" sz="1200" dirty="0"/>
          </a:p>
        </p:txBody>
      </p:sp>
      <p:sp>
        <p:nvSpPr>
          <p:cNvPr id="17" name="tip"/>
          <p:cNvSpPr/>
          <p:nvPr/>
        </p:nvSpPr>
        <p:spPr>
          <a:xfrm>
            <a:off x="365760" y="3920181"/>
            <a:ext cx="8001000" cy="468939"/>
          </a:xfrm>
          <a:prstGeom prst="roundRect">
            <a:avLst>
              <a:gd name="adj" fmla="val 19499"/>
            </a:avLst>
          </a:prstGeom>
          <a:solidFill>
            <a:srgbClr val="FFFFFF"/>
          </a:solidFill>
          <a:ln w="12700">
            <a:solidFill>
              <a:srgbClr val="FFFFFF"/>
            </a:solidFill>
            <a:prstDash val="solid"/>
          </a:ln>
        </p:spPr>
      </p:sp>
      <p:sp>
        <p:nvSpPr>
          <p:cNvPr id="18" name="tip dot"/>
          <p:cNvSpPr/>
          <p:nvPr/>
        </p:nvSpPr>
        <p:spPr>
          <a:xfrm>
            <a:off x="499110" y="4026758"/>
            <a:ext cx="266700" cy="255785"/>
          </a:xfrm>
          <a:prstGeom prst="ellipse">
            <a:avLst/>
          </a:prstGeom>
          <a:solidFill>
            <a:srgbClr val="04B1A4"/>
          </a:solidFill>
          <a:ln w="12700">
            <a:solidFill>
              <a:srgbClr val="04B1A4"/>
            </a:solidFill>
            <a:prstDash val="solid"/>
          </a:ln>
        </p:spPr>
      </p:sp>
      <p:sp>
        <p:nvSpPr>
          <p:cNvPr id="19" name="tip mark"/>
          <p:cNvSpPr txBox="1"/>
          <p:nvPr/>
        </p:nvSpPr>
        <p:spPr>
          <a:xfrm>
            <a:off x="499110" y="4026758"/>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20" name="tip text"/>
          <p:cNvSpPr txBox="1"/>
          <p:nvPr/>
        </p:nvSpPr>
        <p:spPr>
          <a:xfrm>
            <a:off x="899160" y="3920181"/>
            <a:ext cx="7334250" cy="468939"/>
          </a:xfrm>
          <a:prstGeom prst="rect">
            <a:avLst/>
          </a:prstGeom>
          <a:noFill/>
          <a:ln/>
        </p:spPr>
        <p:txBody>
          <a:bodyPr wrap="square" lIns="0" tIns="0" rIns="0" bIns="0" rtlCol="0" anchor="ctr"/>
          <a:lstStyle/>
          <a:p>
            <a:pPr indent="0" marL="0">
              <a:buNone/>
            </a:pPr>
            <a:r>
              <a:rPr lang="en-US" sz="1200" dirty="0">
                <a:solidFill>
                  <a:srgbClr val="072E47"/>
                </a:solidFill>
              </a:rPr>
              <a:t>In Django, every web page is a function: it receives a request and returns a response.</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Classes: a blueprint for many objects</a:t>
            </a:r>
            <a:endParaRPr lang="en-US" sz="2400" dirty="0"/>
          </a:p>
        </p:txBody>
      </p:sp>
      <p:sp>
        <p:nvSpPr>
          <p:cNvPr id="4" name="code card"/>
          <p:cNvSpPr/>
          <p:nvPr/>
        </p:nvSpPr>
        <p:spPr>
          <a:xfrm>
            <a:off x="365760" y="1234440"/>
            <a:ext cx="5511800" cy="2984157"/>
          </a:xfrm>
          <a:prstGeom prst="roundRect">
            <a:avLst>
              <a:gd name="adj" fmla="val 3677"/>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235140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235140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python_basics/04_classes.py</a:t>
            </a:r>
            <a:endParaRPr lang="en-US" sz="1000" dirty="0"/>
          </a:p>
        </p:txBody>
      </p:sp>
      <p:sp>
        <p:nvSpPr>
          <p:cNvPr id="7" name="code"/>
          <p:cNvSpPr txBox="1"/>
          <p:nvPr/>
        </p:nvSpPr>
        <p:spPr>
          <a:xfrm>
            <a:off x="588010" y="1660748"/>
            <a:ext cx="5067300" cy="2429956"/>
          </a:xfrm>
          <a:prstGeom prst="rect">
            <a:avLst/>
          </a:prstGeom>
          <a:noFill/>
          <a:ln/>
        </p:spPr>
        <p:txBody>
          <a:bodyPr wrap="square" lIns="0" tIns="0" rIns="0" bIns="0" rtlCol="0" anchor="t"/>
          <a:lstStyle/>
          <a:p>
            <a:pPr indent="0" marL="0">
              <a:buNone/>
            </a:pPr>
            <a:r>
              <a:rPr lang="en-US" sz="1150" dirty="0">
                <a:solidFill>
                  <a:srgbClr val="F92672"/>
                </a:solidFill>
                <a:latin typeface="Courier New" pitchFamily="34" charset="0"/>
                <a:ea typeface="Courier New" pitchFamily="34" charset="-122"/>
                <a:cs typeface="Courier New" pitchFamily="34" charset="-120"/>
              </a:rPr>
              <a:t>class</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Question</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"""The blueprint."""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__init__</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self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text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66D9EF"/>
                </a:solidFill>
                <a:latin typeface="Courier New" pitchFamily="34" charset="0"/>
                <a:ea typeface="Courier New" pitchFamily="34" charset="-122"/>
                <a:cs typeface="Courier New" pitchFamily="34" charset="-120"/>
              </a:rPr>
              <a:t>str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answer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66D9EF"/>
                </a:solidFill>
                <a:latin typeface="Courier New" pitchFamily="34" charset="0"/>
                <a:ea typeface="Courier New" pitchFamily="34" charset="-122"/>
                <a:cs typeface="Courier New" pitchFamily="34" charset="-120"/>
              </a:rPr>
              <a:t>str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self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text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text        </a:t>
            </a:r>
            <a:pPr indent="0" marL="0">
              <a:buNone/>
            </a:pPr>
            <a:r>
              <a:rPr lang="en-US" sz="1150" dirty="0">
                <a:solidFill>
                  <a:srgbClr val="9A9B8C"/>
                </a:solidFill>
                <a:latin typeface="Courier New" pitchFamily="34" charset="0"/>
                <a:ea typeface="Courier New" pitchFamily="34" charset="-122"/>
                <a:cs typeface="Courier New" pitchFamily="34" charset="-120"/>
              </a:rPr>
              <a:t># self = this question</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self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answer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answer</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is_correct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self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submitted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66D9EF"/>
                </a:solidFill>
                <a:latin typeface="Courier New" pitchFamily="34" charset="0"/>
                <a:ea typeface="Courier New" pitchFamily="34" charset="-122"/>
                <a:cs typeface="Courier New" pitchFamily="34" charset="-120"/>
              </a:rPr>
              <a:t>str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92672"/>
                </a:solidFill>
                <a:latin typeface="Courier New" pitchFamily="34" charset="0"/>
                <a:ea typeface="Courier New" pitchFamily="34" charset="-122"/>
                <a:cs typeface="Courier New" pitchFamily="34" charset="-120"/>
              </a:rPr>
              <a:t>&gt;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66D9EF"/>
                </a:solidFill>
                <a:latin typeface="Courier New" pitchFamily="34" charset="0"/>
                <a:ea typeface="Courier New" pitchFamily="34" charset="-122"/>
                <a:cs typeface="Courier New" pitchFamily="34" charset="-120"/>
              </a:rPr>
              <a:t>bool</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return</a:t>
            </a:r>
            <a:pPr indent="0" marL="0">
              <a:buNone/>
            </a:pPr>
            <a:r>
              <a:rPr lang="en-US" sz="1150" dirty="0">
                <a:solidFill>
                  <a:srgbClr val="F8F8F2"/>
                </a:solidFill>
                <a:latin typeface="Courier New" pitchFamily="34" charset="0"/>
                <a:ea typeface="Courier New" pitchFamily="34" charset="-122"/>
                <a:cs typeface="Courier New" pitchFamily="34" charset="-120"/>
              </a:rPr>
              <a:t> submitted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casefold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self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answer</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q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Question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"Which keyword makes a function?"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q</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is_correct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9A9B8C"/>
                </a:solidFill>
                <a:latin typeface="Courier New" pitchFamily="34" charset="0"/>
                <a:ea typeface="Courier New" pitchFamily="34" charset="-122"/>
                <a:cs typeface="Courier New" pitchFamily="34" charset="-120"/>
              </a:rPr>
              <a:t># True</a:t>
            </a:r>
            <a:endParaRPr lang="en-US" sz="1150" dirty="0"/>
          </a:p>
        </p:txBody>
      </p:sp>
      <p:sp>
        <p:nvSpPr>
          <p:cNvPr id="8" name="card Attributes"/>
          <p:cNvSpPr/>
          <p:nvPr/>
        </p:nvSpPr>
        <p:spPr>
          <a:xfrm>
            <a:off x="6055360" y="1234440"/>
            <a:ext cx="2311400" cy="1449448"/>
          </a:xfrm>
          <a:prstGeom prst="roundRect">
            <a:avLst>
              <a:gd name="adj" fmla="val 7570"/>
            </a:avLst>
          </a:prstGeom>
          <a:solidFill>
            <a:srgbClr val="FFFFFF"/>
          </a:solidFill>
          <a:ln w="12700">
            <a:solidFill>
              <a:srgbClr val="FFFFFF"/>
            </a:solidFill>
            <a:prstDash val="solid"/>
          </a:ln>
        </p:spPr>
      </p:sp>
      <p:sp>
        <p:nvSpPr>
          <p:cNvPr id="9" name="card title Attributes"/>
          <p:cNvSpPr txBox="1"/>
          <p:nvPr/>
        </p:nvSpPr>
        <p:spPr>
          <a:xfrm>
            <a:off x="6233160" y="1362332"/>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Attributes</a:t>
            </a:r>
            <a:endParaRPr lang="en-US" sz="1200" dirty="0"/>
          </a:p>
        </p:txBody>
      </p:sp>
      <p:sp>
        <p:nvSpPr>
          <p:cNvPr id="10" name="card body Attributes"/>
          <p:cNvSpPr txBox="1"/>
          <p:nvPr/>
        </p:nvSpPr>
        <p:spPr>
          <a:xfrm>
            <a:off x="6233160" y="1746010"/>
            <a:ext cx="1955800" cy="809985"/>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Data each object carries: q.text, q.answer. Like dictionary keys, but fixed by the blueprint.</a:t>
            </a:r>
            <a:endParaRPr lang="en-US" sz="1300" dirty="0"/>
          </a:p>
        </p:txBody>
      </p:sp>
      <p:sp>
        <p:nvSpPr>
          <p:cNvPr id="11" name="card Methods"/>
          <p:cNvSpPr/>
          <p:nvPr/>
        </p:nvSpPr>
        <p:spPr>
          <a:xfrm>
            <a:off x="6055360" y="2811780"/>
            <a:ext cx="2311400" cy="1406817"/>
          </a:xfrm>
          <a:prstGeom prst="roundRect">
            <a:avLst>
              <a:gd name="adj" fmla="val 7800"/>
            </a:avLst>
          </a:prstGeom>
          <a:solidFill>
            <a:srgbClr val="FFFFFF"/>
          </a:solidFill>
          <a:ln w="12700">
            <a:solidFill>
              <a:srgbClr val="FFFFFF"/>
            </a:solidFill>
            <a:prstDash val="solid"/>
          </a:ln>
        </p:spPr>
      </p:sp>
      <p:sp>
        <p:nvSpPr>
          <p:cNvPr id="12" name="card title Methods"/>
          <p:cNvSpPr txBox="1"/>
          <p:nvPr/>
        </p:nvSpPr>
        <p:spPr>
          <a:xfrm>
            <a:off x="6233160" y="2939672"/>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Methods</a:t>
            </a:r>
            <a:endParaRPr lang="en-US" sz="1200" dirty="0"/>
          </a:p>
        </p:txBody>
      </p:sp>
      <p:sp>
        <p:nvSpPr>
          <p:cNvPr id="13" name="card body Methods"/>
          <p:cNvSpPr txBox="1"/>
          <p:nvPr/>
        </p:nvSpPr>
        <p:spPr>
          <a:xfrm>
            <a:off x="6233160" y="3323350"/>
            <a:ext cx="1955800" cy="767355"/>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Functions inside the class that can use self, like q.is_correct().</a:t>
            </a:r>
            <a:endParaRPr lang="en-US" sz="13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Virtual environments and pip</a:t>
            </a:r>
            <a:endParaRPr lang="en-US" sz="2400" dirty="0"/>
          </a:p>
        </p:txBody>
      </p:sp>
      <p:sp>
        <p:nvSpPr>
          <p:cNvPr id="4" name="card Virtual environment = lunchbox"/>
          <p:cNvSpPr/>
          <p:nvPr/>
        </p:nvSpPr>
        <p:spPr>
          <a:xfrm>
            <a:off x="365760" y="1234440"/>
            <a:ext cx="3822700" cy="1449448"/>
          </a:xfrm>
          <a:prstGeom prst="roundRect">
            <a:avLst>
              <a:gd name="adj" fmla="val 7570"/>
            </a:avLst>
          </a:prstGeom>
          <a:solidFill>
            <a:srgbClr val="FFFFFF"/>
          </a:solidFill>
          <a:ln w="12700">
            <a:solidFill>
              <a:srgbClr val="FFFFFF"/>
            </a:solidFill>
            <a:prstDash val="solid"/>
          </a:ln>
        </p:spPr>
      </p:sp>
      <p:sp>
        <p:nvSpPr>
          <p:cNvPr id="5" name="icon bg Virtual environment = lunchbox"/>
          <p:cNvSpPr/>
          <p:nvPr/>
        </p:nvSpPr>
        <p:spPr>
          <a:xfrm>
            <a:off x="543560" y="1387911"/>
            <a:ext cx="444500" cy="426308"/>
          </a:xfrm>
          <a:prstGeom prst="ellipse">
            <a:avLst/>
          </a:prstGeom>
          <a:solidFill>
            <a:srgbClr val="F99508"/>
          </a:solidFill>
          <a:ln w="12700">
            <a:solidFill>
              <a:srgbClr val="F99508"/>
            </a:solidFill>
            <a:prstDash val="solid"/>
          </a:ln>
        </p:spPr>
      </p:sp>
      <p:pic>
        <p:nvPicPr>
          <p:cNvPr id="6" name="icon Virtual environment = lunchbox" descr="preencoded.png">    </p:cNvPr>
          <p:cNvPicPr>
            <a:picLocks noChangeAspect="1"/>
          </p:cNvPicPr>
          <p:nvPr/>
        </p:nvPicPr>
        <p:blipFill>
          <a:blip r:embed="rId1"/>
          <a:stretch>
            <a:fillRect/>
          </a:stretch>
        </p:blipFill>
        <p:spPr>
          <a:xfrm>
            <a:off x="641350" y="1481699"/>
            <a:ext cx="248920" cy="238733"/>
          </a:xfrm>
          <a:prstGeom prst="rect">
            <a:avLst/>
          </a:prstGeom>
        </p:spPr>
      </p:pic>
      <p:sp>
        <p:nvSpPr>
          <p:cNvPr id="7" name="card title Virtual environment = lunchbox"/>
          <p:cNvSpPr txBox="1"/>
          <p:nvPr/>
        </p:nvSpPr>
        <p:spPr>
          <a:xfrm>
            <a:off x="1121410" y="1387911"/>
            <a:ext cx="2933700" cy="426308"/>
          </a:xfrm>
          <a:prstGeom prst="rect">
            <a:avLst/>
          </a:prstGeom>
          <a:noFill/>
          <a:ln/>
        </p:spPr>
        <p:txBody>
          <a:bodyPr wrap="square" lIns="0" tIns="0" rIns="0" bIns="0" rtlCol="0" anchor="ctr"/>
          <a:lstStyle/>
          <a:p>
            <a:pPr indent="0" marL="0">
              <a:buNone/>
            </a:pPr>
            <a:r>
              <a:rPr lang="en-US" sz="1400" b="1" dirty="0">
                <a:solidFill>
                  <a:srgbClr val="072E47"/>
                </a:solidFill>
              </a:rPr>
              <a:t>Virtual environment = lunchbox</a:t>
            </a:r>
            <a:endParaRPr lang="en-US" sz="1400" dirty="0"/>
          </a:p>
        </p:txBody>
      </p:sp>
      <p:sp>
        <p:nvSpPr>
          <p:cNvPr id="8" name="card body Virtual environment = lunchbox"/>
          <p:cNvSpPr txBox="1"/>
          <p:nvPr/>
        </p:nvSpPr>
        <p:spPr>
          <a:xfrm>
            <a:off x="543560" y="1916533"/>
            <a:ext cx="3467100" cy="639462"/>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A private folder (.venv) holding the exact packages THIS project needs. Other projects can't mess with it.</a:t>
            </a:r>
            <a:endParaRPr lang="en-US" sz="1300" dirty="0"/>
          </a:p>
        </p:txBody>
      </p:sp>
      <p:sp>
        <p:nvSpPr>
          <p:cNvPr id="9" name="card pip = package delivery"/>
          <p:cNvSpPr/>
          <p:nvPr/>
        </p:nvSpPr>
        <p:spPr>
          <a:xfrm>
            <a:off x="365760" y="2811780"/>
            <a:ext cx="3822700" cy="1449448"/>
          </a:xfrm>
          <a:prstGeom prst="roundRect">
            <a:avLst>
              <a:gd name="adj" fmla="val 7570"/>
            </a:avLst>
          </a:prstGeom>
          <a:solidFill>
            <a:srgbClr val="FFFFFF"/>
          </a:solidFill>
          <a:ln w="12700">
            <a:solidFill>
              <a:srgbClr val="FFFFFF"/>
            </a:solidFill>
            <a:prstDash val="solid"/>
          </a:ln>
        </p:spPr>
      </p:sp>
      <p:sp>
        <p:nvSpPr>
          <p:cNvPr id="10" name="icon bg pip = package delivery"/>
          <p:cNvSpPr/>
          <p:nvPr/>
        </p:nvSpPr>
        <p:spPr>
          <a:xfrm>
            <a:off x="543560" y="2965251"/>
            <a:ext cx="444500" cy="426308"/>
          </a:xfrm>
          <a:prstGeom prst="ellipse">
            <a:avLst/>
          </a:prstGeom>
          <a:solidFill>
            <a:srgbClr val="5DA144"/>
          </a:solidFill>
          <a:ln w="12700">
            <a:solidFill>
              <a:srgbClr val="5DA144"/>
            </a:solidFill>
            <a:prstDash val="solid"/>
          </a:ln>
        </p:spPr>
      </p:sp>
      <p:pic>
        <p:nvPicPr>
          <p:cNvPr id="11" name="icon pip = package delivery" descr="preencoded.png">    </p:cNvPr>
          <p:cNvPicPr>
            <a:picLocks noChangeAspect="1"/>
          </p:cNvPicPr>
          <p:nvPr/>
        </p:nvPicPr>
        <p:blipFill>
          <a:blip r:embed="rId2"/>
          <a:stretch>
            <a:fillRect/>
          </a:stretch>
        </p:blipFill>
        <p:spPr>
          <a:xfrm>
            <a:off x="641350" y="3059039"/>
            <a:ext cx="248920" cy="238733"/>
          </a:xfrm>
          <a:prstGeom prst="rect">
            <a:avLst/>
          </a:prstGeom>
        </p:spPr>
      </p:pic>
      <p:sp>
        <p:nvSpPr>
          <p:cNvPr id="12" name="card title pip = package delivery"/>
          <p:cNvSpPr txBox="1"/>
          <p:nvPr/>
        </p:nvSpPr>
        <p:spPr>
          <a:xfrm>
            <a:off x="1121410" y="2965251"/>
            <a:ext cx="2933700" cy="426308"/>
          </a:xfrm>
          <a:prstGeom prst="rect">
            <a:avLst/>
          </a:prstGeom>
          <a:noFill/>
          <a:ln/>
        </p:spPr>
        <p:txBody>
          <a:bodyPr wrap="square" lIns="0" tIns="0" rIns="0" bIns="0" rtlCol="0" anchor="ctr"/>
          <a:lstStyle/>
          <a:p>
            <a:pPr indent="0" marL="0">
              <a:buNone/>
            </a:pPr>
            <a:r>
              <a:rPr lang="en-US" sz="1400" b="1" dirty="0">
                <a:solidFill>
                  <a:srgbClr val="072E47"/>
                </a:solidFill>
              </a:rPr>
              <a:t>pip = package delivery</a:t>
            </a:r>
            <a:endParaRPr lang="en-US" sz="1400" dirty="0"/>
          </a:p>
        </p:txBody>
      </p:sp>
      <p:sp>
        <p:nvSpPr>
          <p:cNvPr id="13" name="card body pip = package delivery"/>
          <p:cNvSpPr txBox="1"/>
          <p:nvPr/>
        </p:nvSpPr>
        <p:spPr>
          <a:xfrm>
            <a:off x="543560" y="3493873"/>
            <a:ext cx="3467100" cy="639462"/>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Downloads code other people wrote (Django, openai) from PyPI, the Python Package Index.</a:t>
            </a:r>
            <a:endParaRPr lang="en-US" sz="1300" dirty="0"/>
          </a:p>
        </p:txBody>
      </p:sp>
      <p:sp>
        <p:nvSpPr>
          <p:cNvPr id="14" name="code card"/>
          <p:cNvSpPr/>
          <p:nvPr/>
        </p:nvSpPr>
        <p:spPr>
          <a:xfrm>
            <a:off x="4455160" y="1234440"/>
            <a:ext cx="3911600" cy="3026788"/>
          </a:xfrm>
          <a:prstGeom prst="roundRect">
            <a:avLst>
              <a:gd name="adj" fmla="val 3625"/>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15" name="file label"/>
          <p:cNvSpPr/>
          <p:nvPr/>
        </p:nvSpPr>
        <p:spPr>
          <a:xfrm>
            <a:off x="4632960" y="1336754"/>
            <a:ext cx="915670" cy="238733"/>
          </a:xfrm>
          <a:prstGeom prst="roundRect">
            <a:avLst>
              <a:gd name="adj" fmla="val 30642"/>
            </a:avLst>
          </a:prstGeom>
          <a:solidFill>
            <a:srgbClr val="F99508"/>
          </a:solidFill>
          <a:ln w="12700">
            <a:solidFill>
              <a:srgbClr val="F99508"/>
            </a:solidFill>
            <a:prstDash val="solid"/>
          </a:ln>
        </p:spPr>
      </p:sp>
      <p:sp>
        <p:nvSpPr>
          <p:cNvPr id="16" name="file label text"/>
          <p:cNvSpPr txBox="1"/>
          <p:nvPr/>
        </p:nvSpPr>
        <p:spPr>
          <a:xfrm>
            <a:off x="4632960" y="1336754"/>
            <a:ext cx="91567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terminal</a:t>
            </a:r>
            <a:endParaRPr lang="en-US" sz="1000" dirty="0"/>
          </a:p>
        </p:txBody>
      </p:sp>
      <p:sp>
        <p:nvSpPr>
          <p:cNvPr id="17" name="code"/>
          <p:cNvSpPr txBox="1"/>
          <p:nvPr/>
        </p:nvSpPr>
        <p:spPr>
          <a:xfrm>
            <a:off x="4677410" y="1660748"/>
            <a:ext cx="3467100" cy="2472587"/>
          </a:xfrm>
          <a:prstGeom prst="rect">
            <a:avLst/>
          </a:prstGeom>
          <a:noFill/>
          <a:ln/>
        </p:spPr>
        <p:txBody>
          <a:bodyPr wrap="square" lIns="0" tIns="0" rIns="0" bIns="0" rtlCol="0" anchor="t"/>
          <a:lstStyle/>
          <a:p>
            <a:pPr indent="0" marL="0">
              <a:buNone/>
            </a:pPr>
            <a:r>
              <a:rPr lang="en-US" sz="1150" dirty="0">
                <a:solidFill>
                  <a:srgbClr val="F8F8F2"/>
                </a:solidFill>
                <a:latin typeface="Courier New" pitchFamily="34" charset="0"/>
                <a:ea typeface="Courier New" pitchFamily="34" charset="-122"/>
                <a:cs typeface="Courier New" pitchFamily="34" charset="-120"/>
              </a:rPr>
              <a:t>python </a:t>
            </a:r>
            <a:pPr indent="0" marL="0">
              <a:buNone/>
            </a:pPr>
            <a:r>
              <a:rPr lang="en-US" sz="1150" dirty="0">
                <a:solidFill>
                  <a:srgbClr val="F8F8F2"/>
                </a:solidFill>
                <a:latin typeface="Courier New" pitchFamily="34" charset="0"/>
                <a:ea typeface="Courier New" pitchFamily="34" charset="-122"/>
                <a:cs typeface="Courier New" pitchFamily="34" charset="-120"/>
              </a:rPr>
              <a:t>-m</a:t>
            </a:r>
            <a:pPr indent="0" marL="0">
              <a:buNone/>
            </a:pPr>
            <a:r>
              <a:rPr lang="en-US" sz="1150" dirty="0">
                <a:solidFill>
                  <a:srgbClr val="F8F8F2"/>
                </a:solidFill>
                <a:latin typeface="Courier New" pitchFamily="34" charset="0"/>
                <a:ea typeface="Courier New" pitchFamily="34" charset="-122"/>
                <a:cs typeface="Courier New" pitchFamily="34" charset="-120"/>
              </a:rPr>
              <a:t> venv .venv</a:t>
            </a:r>
            <a:endParaRPr lang="en-US" sz="1150" dirty="0"/>
          </a:p>
          <a:p>
            <a:pPr indent="0" marL="0">
              <a:buNone/>
            </a:pPr>
            <a:r>
              <a:rPr lang="en-US" sz="1150" dirty="0">
                <a:solidFill>
                  <a:srgbClr val="66D9EF"/>
                </a:solidFill>
                <a:latin typeface="Courier New" pitchFamily="34" charset="0"/>
                <a:ea typeface="Courier New" pitchFamily="34" charset="-122"/>
                <a:cs typeface="Courier New" pitchFamily="34" charset="-120"/>
              </a:rPr>
              <a:t>source</a:t>
            </a:r>
            <a:pPr indent="0" marL="0">
              <a:buNone/>
            </a:pPr>
            <a:r>
              <a:rPr lang="en-US" sz="1150" dirty="0">
                <a:solidFill>
                  <a:srgbClr val="F8F8F2"/>
                </a:solidFill>
                <a:latin typeface="Courier New" pitchFamily="34" charset="0"/>
                <a:ea typeface="Courier New" pitchFamily="34" charset="-122"/>
                <a:cs typeface="Courier New" pitchFamily="34" charset="-120"/>
              </a:rPr>
              <a:t> .venv/bin/activate</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(.venv) appears in your prompt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pip </a:t>
            </a:r>
            <a:pPr indent="0" marL="0">
              <a:buNone/>
            </a:pPr>
            <a:r>
              <a:rPr lang="en-US" sz="1150" dirty="0">
                <a:solidFill>
                  <a:srgbClr val="A6E22E"/>
                </a:solidFill>
                <a:latin typeface="Courier New" pitchFamily="34" charset="0"/>
                <a:ea typeface="Courier New" pitchFamily="34" charset="-122"/>
                <a:cs typeface="Courier New" pitchFamily="34" charset="-120"/>
              </a:rPr>
              <a:t>install</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-r</a:t>
            </a:r>
            <a:pPr indent="0" marL="0">
              <a:buNone/>
            </a:pPr>
            <a:r>
              <a:rPr lang="en-US" sz="1150" dirty="0">
                <a:solidFill>
                  <a:srgbClr val="F8F8F2"/>
                </a:solidFill>
                <a:latin typeface="Courier New" pitchFamily="34" charset="0"/>
                <a:ea typeface="Courier New" pitchFamily="34" charset="-122"/>
                <a:cs typeface="Courier New" pitchFamily="34" charset="-120"/>
              </a:rPr>
              <a:t> requirements.txt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requirements.txt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django</a:t>
            </a:r>
            <a:pPr indent="0" marL="0">
              <a:buNone/>
            </a:pPr>
            <a:r>
              <a:rPr lang="en-US" sz="1150" dirty="0">
                <a:solidFill>
                  <a:srgbClr val="F92672"/>
                </a:solidFill>
                <a:latin typeface="Courier New" pitchFamily="34" charset="0"/>
                <a:ea typeface="Courier New" pitchFamily="34" charset="-122"/>
                <a:cs typeface="Courier New" pitchFamily="34" charset="-120"/>
              </a:rPr>
              <a:t>&gt;=</a:t>
            </a:r>
            <a:pPr indent="0" marL="0">
              <a:buNone/>
            </a:pPr>
            <a:r>
              <a:rPr lang="en-US" sz="1150" dirty="0">
                <a:solidFill>
                  <a:srgbClr val="AE81FF"/>
                </a:solidFill>
                <a:latin typeface="Courier New" pitchFamily="34" charset="0"/>
                <a:ea typeface="Courier New" pitchFamily="34" charset="-122"/>
                <a:cs typeface="Courier New" pitchFamily="34" charset="-120"/>
              </a:rPr>
              <a:t>5.2</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92672"/>
                </a:solidFill>
                <a:latin typeface="Courier New" pitchFamily="34" charset="0"/>
                <a:ea typeface="Courier New" pitchFamily="34" charset="-122"/>
                <a:cs typeface="Courier New" pitchFamily="34" charset="-120"/>
              </a:rPr>
              <a:t>&lt;</a:t>
            </a:r>
            <a:pPr indent="0" marL="0">
              <a:buNone/>
            </a:pPr>
            <a:r>
              <a:rPr lang="en-US" sz="1150" dirty="0">
                <a:solidFill>
                  <a:srgbClr val="AE81FF"/>
                </a:solidFill>
                <a:latin typeface="Courier New" pitchFamily="34" charset="0"/>
                <a:ea typeface="Courier New" pitchFamily="34" charset="-122"/>
                <a:cs typeface="Courier New" pitchFamily="34" charset="-120"/>
              </a:rPr>
              <a:t>6</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openai</a:t>
            </a:r>
            <a:pPr indent="0" marL="0">
              <a:buNone/>
            </a:pPr>
            <a:r>
              <a:rPr lang="en-US" sz="1150" dirty="0">
                <a:solidFill>
                  <a:srgbClr val="F92672"/>
                </a:solidFill>
                <a:latin typeface="Courier New" pitchFamily="34" charset="0"/>
                <a:ea typeface="Courier New" pitchFamily="34" charset="-122"/>
                <a:cs typeface="Courier New" pitchFamily="34" charset="-120"/>
              </a:rPr>
              <a:t>&gt;=</a:t>
            </a:r>
            <a:pPr indent="0" marL="0">
              <a:buNone/>
            </a:pPr>
            <a:r>
              <a:rPr lang="en-US" sz="1150" dirty="0">
                <a:solidFill>
                  <a:srgbClr val="AE81FF"/>
                </a:solidFill>
                <a:latin typeface="Courier New" pitchFamily="34" charset="0"/>
                <a:ea typeface="Courier New" pitchFamily="34" charset="-122"/>
                <a:cs typeface="Courier New" pitchFamily="34" charset="-120"/>
              </a:rPr>
              <a:t>1.50</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python-dotenv</a:t>
            </a:r>
            <a:pPr indent="0" marL="0">
              <a:buNone/>
            </a:pPr>
            <a:r>
              <a:rPr lang="en-US" sz="1150" dirty="0">
                <a:solidFill>
                  <a:srgbClr val="F92672"/>
                </a:solidFill>
                <a:latin typeface="Courier New" pitchFamily="34" charset="0"/>
                <a:ea typeface="Courier New" pitchFamily="34" charset="-122"/>
                <a:cs typeface="Courier New" pitchFamily="34" charset="-120"/>
              </a:rPr>
              <a:t>&gt;=</a:t>
            </a:r>
            <a:pPr indent="0" marL="0">
              <a:buNone/>
            </a:pPr>
            <a:r>
              <a:rPr lang="en-US" sz="1150" dirty="0">
                <a:solidFill>
                  <a:srgbClr val="AE81FF"/>
                </a:solidFill>
                <a:latin typeface="Courier New" pitchFamily="34" charset="0"/>
                <a:ea typeface="Courier New" pitchFamily="34" charset="-122"/>
                <a:cs typeface="Courier New" pitchFamily="34" charset="-120"/>
              </a:rPr>
              <a:t>1.0</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python </a:t>
            </a:r>
            <a:pPr indent="0" marL="0">
              <a:buNone/>
            </a:pPr>
            <a:r>
              <a:rPr lang="en-US" sz="1150" dirty="0">
                <a:solidFill>
                  <a:srgbClr val="F8F8F2"/>
                </a:solidFill>
                <a:latin typeface="Courier New" pitchFamily="34" charset="0"/>
                <a:ea typeface="Courier New" pitchFamily="34" charset="-122"/>
                <a:cs typeface="Courier New" pitchFamily="34" charset="-120"/>
              </a:rPr>
              <a:t>-m</a:t>
            </a:r>
            <a:pPr indent="0" marL="0">
              <a:buNone/>
            </a:pPr>
            <a:r>
              <a:rPr lang="en-US" sz="1150" dirty="0">
                <a:solidFill>
                  <a:srgbClr val="F8F8F2"/>
                </a:solidFill>
                <a:latin typeface="Courier New" pitchFamily="34" charset="0"/>
                <a:ea typeface="Courier New" pitchFamily="34" charset="-122"/>
                <a:cs typeface="Courier New" pitchFamily="34" charset="-120"/>
              </a:rPr>
              <a:t> django </a:t>
            </a:r>
            <a:pPr indent="0" marL="0">
              <a:buNone/>
            </a:pPr>
            <a:r>
              <a:rPr lang="en-US" sz="1150" dirty="0">
                <a:solidFill>
                  <a:srgbClr val="F8F8F2"/>
                </a:solidFill>
                <a:latin typeface="Courier New" pitchFamily="34" charset="0"/>
                <a:ea typeface="Courier New" pitchFamily="34" charset="-122"/>
                <a:cs typeface="Courier New" pitchFamily="34" charset="-120"/>
              </a:rPr>
              <a:t>--version</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9A9B8C"/>
                </a:solidFill>
                <a:latin typeface="Courier New" pitchFamily="34" charset="0"/>
                <a:ea typeface="Courier New" pitchFamily="34" charset="-122"/>
                <a:cs typeface="Courier New" pitchFamily="34" charset="-120"/>
              </a:rPr>
              <a:t># 5.2.x</a:t>
            </a:r>
            <a:endParaRPr lang="en-US" sz="115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4983480" y="1463040"/>
            <a:ext cx="3749040" cy="1737360"/>
          </a:xfrm>
          <a:prstGeom prst="rect">
            <a:avLst/>
          </a:prstGeom>
          <a:noFill/>
          <a:ln/>
        </p:spPr>
        <p:txBody>
          <a:bodyPr wrap="square" lIns="0" tIns="0" rIns="0" bIns="0" rtlCol="0" anchor="b"/>
          <a:lstStyle/>
          <a:p>
            <a:pPr indent="0" marL="0">
              <a:buNone/>
            </a:pPr>
            <a:r>
              <a:rPr lang="en-US" sz="3000" b="1" dirty="0">
                <a:solidFill>
                  <a:srgbClr val="FEF9D7"/>
                </a:solidFill>
              </a:rPr>
              <a:t>Part 2 · Build the Django app</a:t>
            </a:r>
            <a:endParaRPr lang="en-US" sz="3000" dirty="0"/>
          </a:p>
        </p:txBody>
      </p:sp>
      <p:sp>
        <p:nvSpPr>
          <p:cNvPr id="4" name="Text 0"/>
          <p:cNvSpPr/>
          <p:nvPr>
            <p:ph idx="101" type="body" hasCustomPrompt="1"/>
          </p:nvPr>
        </p:nvSpPr>
        <p:spPr>
          <a:xfrm>
            <a:off x="4983480" y="3291840"/>
            <a:ext cx="3749040" cy="731520"/>
          </a:xfrm>
          <a:prstGeom prst="rect">
            <a:avLst/>
          </a:prstGeom>
          <a:noFill/>
          <a:ln/>
        </p:spPr>
        <p:txBody>
          <a:bodyPr wrap="square" lIns="0" tIns="0" rIns="0" bIns="0" rtlCol="0" anchor="t"/>
          <a:lstStyle/>
          <a:p>
            <a:pPr indent="0" marL="0">
              <a:buNone/>
            </a:pPr>
            <a:r>
              <a:rPr lang="en-US" sz="1300" dirty="0">
                <a:solidFill>
                  <a:srgbClr val="8FD3CC"/>
                </a:solidFill>
              </a:rPr>
              <a:t>Project · app · models · migrations · admin · URLs · views · templates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What is Django? A restaurant for web pages</a:t>
            </a:r>
            <a:endParaRPr lang="en-US" sz="2400" dirty="0"/>
          </a:p>
        </p:txBody>
      </p:sp>
      <p:sp>
        <p:nvSpPr>
          <p:cNvPr id="4" name="flow URL the order"/>
          <p:cNvSpPr/>
          <p:nvPr/>
        </p:nvSpPr>
        <p:spPr>
          <a:xfrm>
            <a:off x="365760" y="1319702"/>
            <a:ext cx="1786890" cy="1023139"/>
          </a:xfrm>
          <a:prstGeom prst="roundRect">
            <a:avLst>
              <a:gd name="adj" fmla="val 8937"/>
            </a:avLst>
          </a:prstGeom>
          <a:solidFill>
            <a:srgbClr val="8FD3CC"/>
          </a:solidFill>
          <a:ln w="12700">
            <a:solidFill>
              <a:srgbClr val="8FD3CC"/>
            </a:solidFill>
            <a:prstDash val="solid"/>
          </a:ln>
          <a:effectLst>
            <a:outerShdw sx="100000" sy="100000" kx="0" ky="0" algn="bl" rotWithShape="0" blurRad="76200" dist="25400" dir="5400000">
              <a:srgbClr val="000000">
                <a:alpha val="18000"/>
              </a:srgbClr>
            </a:outerShdw>
          </a:effectLst>
        </p:spPr>
      </p:sp>
      <p:pic>
        <p:nvPicPr>
          <p:cNvPr id="5" name="flow icon URL the order" descr="preencoded.png">    </p:cNvPr>
          <p:cNvPicPr>
            <a:picLocks noChangeAspect="1"/>
          </p:cNvPicPr>
          <p:nvPr/>
        </p:nvPicPr>
        <p:blipFill>
          <a:blip r:embed="rId1"/>
          <a:stretch>
            <a:fillRect/>
          </a:stretch>
        </p:blipFill>
        <p:spPr>
          <a:xfrm>
            <a:off x="1081405" y="1447594"/>
            <a:ext cx="355600" cy="341046"/>
          </a:xfrm>
          <a:prstGeom prst="rect">
            <a:avLst/>
          </a:prstGeom>
        </p:spPr>
      </p:pic>
      <p:sp>
        <p:nvSpPr>
          <p:cNvPr id="6" name="flow label URL the order"/>
          <p:cNvSpPr txBox="1"/>
          <p:nvPr/>
        </p:nvSpPr>
        <p:spPr>
          <a:xfrm>
            <a:off x="410210" y="1788641"/>
            <a:ext cx="1697990" cy="511570"/>
          </a:xfrm>
          <a:prstGeom prst="rect">
            <a:avLst/>
          </a:prstGeom>
          <a:noFill/>
          <a:ln/>
        </p:spPr>
        <p:txBody>
          <a:bodyPr wrap="square" lIns="0" tIns="0" rIns="0" bIns="0" rtlCol="0" anchor="t"/>
          <a:lstStyle/>
          <a:p>
            <a:pPr algn="ctr" indent="0" marL="0">
              <a:buNone/>
            </a:pPr>
            <a:r>
              <a:rPr lang="en-US" sz="1200" b="1" dirty="0">
                <a:solidFill>
                  <a:srgbClr val="072E47"/>
                </a:solidFill>
              </a:rPr>
              <a:t>URL</a:t>
            </a:r>
            <a:endParaRPr lang="en-US" sz="1200" dirty="0"/>
          </a:p>
          <a:p>
            <a:pPr algn="ctr" indent="0" marL="0">
              <a:buNone/>
            </a:pPr>
            <a:r>
              <a:rPr lang="en-US" sz="1200" b="1" dirty="0">
                <a:solidFill>
                  <a:srgbClr val="072E47"/>
                </a:solidFill>
              </a:rPr>
              <a:t>the order</a:t>
            </a:r>
            <a:endParaRPr lang="en-US" sz="1200" dirty="0"/>
          </a:p>
        </p:txBody>
      </p:sp>
      <p:sp>
        <p:nvSpPr>
          <p:cNvPr id="7" name="arrow 0"/>
          <p:cNvSpPr/>
          <p:nvPr/>
        </p:nvSpPr>
        <p:spPr>
          <a:xfrm>
            <a:off x="2188210" y="1728957"/>
            <a:ext cx="213360" cy="204628"/>
          </a:xfrm>
          <a:prstGeom prst="rightArrow">
            <a:avLst/>
          </a:prstGeom>
          <a:solidFill>
            <a:srgbClr val="0F8D91"/>
          </a:solidFill>
          <a:ln w="12700">
            <a:solidFill>
              <a:srgbClr val="0F8D91"/>
            </a:solidFill>
            <a:prstDash val="solid"/>
          </a:ln>
        </p:spPr>
      </p:sp>
      <p:sp>
        <p:nvSpPr>
          <p:cNvPr id="8" name="flow View the kitchen"/>
          <p:cNvSpPr/>
          <p:nvPr/>
        </p:nvSpPr>
        <p:spPr>
          <a:xfrm>
            <a:off x="2437130" y="1319702"/>
            <a:ext cx="1786890" cy="1023139"/>
          </a:xfrm>
          <a:prstGeom prst="roundRect">
            <a:avLst>
              <a:gd name="adj" fmla="val 8937"/>
            </a:avLst>
          </a:prstGeom>
          <a:solidFill>
            <a:srgbClr val="5DA144"/>
          </a:solidFill>
          <a:ln w="12700">
            <a:solidFill>
              <a:srgbClr val="5DA144"/>
            </a:solidFill>
            <a:prstDash val="solid"/>
          </a:ln>
          <a:effectLst>
            <a:outerShdw sx="100000" sy="100000" kx="0" ky="0" algn="bl" rotWithShape="0" blurRad="76200" dist="25400" dir="5400000">
              <a:srgbClr val="000000">
                <a:alpha val="18000"/>
              </a:srgbClr>
            </a:outerShdw>
          </a:effectLst>
        </p:spPr>
      </p:sp>
      <p:pic>
        <p:nvPicPr>
          <p:cNvPr id="9" name="flow icon View the kitchen" descr="preencoded.png">    </p:cNvPr>
          <p:cNvPicPr>
            <a:picLocks noChangeAspect="1"/>
          </p:cNvPicPr>
          <p:nvPr/>
        </p:nvPicPr>
        <p:blipFill>
          <a:blip r:embed="rId2"/>
          <a:stretch>
            <a:fillRect/>
          </a:stretch>
        </p:blipFill>
        <p:spPr>
          <a:xfrm>
            <a:off x="3152775" y="1447594"/>
            <a:ext cx="355600" cy="341046"/>
          </a:xfrm>
          <a:prstGeom prst="rect">
            <a:avLst/>
          </a:prstGeom>
        </p:spPr>
      </p:pic>
      <p:sp>
        <p:nvSpPr>
          <p:cNvPr id="10" name="flow label View the kitchen"/>
          <p:cNvSpPr txBox="1"/>
          <p:nvPr/>
        </p:nvSpPr>
        <p:spPr>
          <a:xfrm>
            <a:off x="2481580" y="1788641"/>
            <a:ext cx="1697990" cy="511570"/>
          </a:xfrm>
          <a:prstGeom prst="rect">
            <a:avLst/>
          </a:prstGeom>
          <a:noFill/>
          <a:ln/>
        </p:spPr>
        <p:txBody>
          <a:bodyPr wrap="square" lIns="0" tIns="0" rIns="0" bIns="0" rtlCol="0" anchor="t"/>
          <a:lstStyle/>
          <a:p>
            <a:pPr algn="ctr" indent="0" marL="0">
              <a:buNone/>
            </a:pPr>
            <a:r>
              <a:rPr lang="en-US" sz="1200" b="1" dirty="0">
                <a:solidFill>
                  <a:srgbClr val="072E47"/>
                </a:solidFill>
              </a:rPr>
              <a:t>View</a:t>
            </a:r>
            <a:endParaRPr lang="en-US" sz="1200" dirty="0"/>
          </a:p>
          <a:p>
            <a:pPr algn="ctr" indent="0" marL="0">
              <a:buNone/>
            </a:pPr>
            <a:r>
              <a:rPr lang="en-US" sz="1200" b="1" dirty="0">
                <a:solidFill>
                  <a:srgbClr val="072E47"/>
                </a:solidFill>
              </a:rPr>
              <a:t>the kitchen</a:t>
            </a:r>
            <a:endParaRPr lang="en-US" sz="1200" dirty="0"/>
          </a:p>
        </p:txBody>
      </p:sp>
      <p:sp>
        <p:nvSpPr>
          <p:cNvPr id="11" name="arrow 1"/>
          <p:cNvSpPr/>
          <p:nvPr/>
        </p:nvSpPr>
        <p:spPr>
          <a:xfrm>
            <a:off x="4259580" y="1728957"/>
            <a:ext cx="213360" cy="204628"/>
          </a:xfrm>
          <a:prstGeom prst="rightArrow">
            <a:avLst/>
          </a:prstGeom>
          <a:solidFill>
            <a:srgbClr val="0F8D91"/>
          </a:solidFill>
          <a:ln w="12700">
            <a:solidFill>
              <a:srgbClr val="0F8D91"/>
            </a:solidFill>
            <a:prstDash val="solid"/>
          </a:ln>
        </p:spPr>
      </p:sp>
      <p:sp>
        <p:nvSpPr>
          <p:cNvPr id="12" name="flow Model the pantry"/>
          <p:cNvSpPr/>
          <p:nvPr/>
        </p:nvSpPr>
        <p:spPr>
          <a:xfrm>
            <a:off x="4508500" y="1319702"/>
            <a:ext cx="1786890" cy="1023139"/>
          </a:xfrm>
          <a:prstGeom prst="roundRect">
            <a:avLst>
              <a:gd name="adj" fmla="val 8937"/>
            </a:avLst>
          </a:prstGeom>
          <a:solidFill>
            <a:srgbClr val="1B6F86"/>
          </a:solidFill>
          <a:ln w="12700">
            <a:solidFill>
              <a:srgbClr val="1B6F86"/>
            </a:solidFill>
            <a:prstDash val="solid"/>
          </a:ln>
          <a:effectLst>
            <a:outerShdw sx="100000" sy="100000" kx="0" ky="0" algn="bl" rotWithShape="0" blurRad="76200" dist="25400" dir="5400000">
              <a:srgbClr val="000000">
                <a:alpha val="18000"/>
              </a:srgbClr>
            </a:outerShdw>
          </a:effectLst>
        </p:spPr>
      </p:sp>
      <p:pic>
        <p:nvPicPr>
          <p:cNvPr id="13" name="flow icon Model the pantry" descr="preencoded.png">    </p:cNvPr>
          <p:cNvPicPr>
            <a:picLocks noChangeAspect="1"/>
          </p:cNvPicPr>
          <p:nvPr/>
        </p:nvPicPr>
        <p:blipFill>
          <a:blip r:embed="rId3"/>
          <a:stretch>
            <a:fillRect/>
          </a:stretch>
        </p:blipFill>
        <p:spPr>
          <a:xfrm>
            <a:off x="5224145" y="1447594"/>
            <a:ext cx="355600" cy="341046"/>
          </a:xfrm>
          <a:prstGeom prst="rect">
            <a:avLst/>
          </a:prstGeom>
        </p:spPr>
      </p:pic>
      <p:sp>
        <p:nvSpPr>
          <p:cNvPr id="14" name="flow label Model the pantry"/>
          <p:cNvSpPr txBox="1"/>
          <p:nvPr/>
        </p:nvSpPr>
        <p:spPr>
          <a:xfrm>
            <a:off x="4552950" y="1788641"/>
            <a:ext cx="1697990" cy="511570"/>
          </a:xfrm>
          <a:prstGeom prst="rect">
            <a:avLst/>
          </a:prstGeom>
          <a:noFill/>
          <a:ln/>
        </p:spPr>
        <p:txBody>
          <a:bodyPr wrap="square" lIns="0" tIns="0" rIns="0" bIns="0" rtlCol="0" anchor="t"/>
          <a:lstStyle/>
          <a:p>
            <a:pPr algn="ctr" indent="0" marL="0">
              <a:buNone/>
            </a:pPr>
            <a:r>
              <a:rPr lang="en-US" sz="1200" b="1" dirty="0">
                <a:solidFill>
                  <a:srgbClr val="072E47"/>
                </a:solidFill>
              </a:rPr>
              <a:t>Model</a:t>
            </a:r>
            <a:endParaRPr lang="en-US" sz="1200" dirty="0"/>
          </a:p>
          <a:p>
            <a:pPr algn="ctr" indent="0" marL="0">
              <a:buNone/>
            </a:pPr>
            <a:r>
              <a:rPr lang="en-US" sz="1200" b="1" dirty="0">
                <a:solidFill>
                  <a:srgbClr val="072E47"/>
                </a:solidFill>
              </a:rPr>
              <a:t>the pantry</a:t>
            </a:r>
            <a:endParaRPr lang="en-US" sz="1200" dirty="0"/>
          </a:p>
        </p:txBody>
      </p:sp>
      <p:sp>
        <p:nvSpPr>
          <p:cNvPr id="15" name="arrow 2"/>
          <p:cNvSpPr/>
          <p:nvPr/>
        </p:nvSpPr>
        <p:spPr>
          <a:xfrm>
            <a:off x="6330950" y="1728957"/>
            <a:ext cx="213360" cy="204628"/>
          </a:xfrm>
          <a:prstGeom prst="rightArrow">
            <a:avLst/>
          </a:prstGeom>
          <a:solidFill>
            <a:srgbClr val="0F8D91"/>
          </a:solidFill>
          <a:ln w="12700">
            <a:solidFill>
              <a:srgbClr val="0F8D91"/>
            </a:solidFill>
            <a:prstDash val="solid"/>
          </a:ln>
        </p:spPr>
      </p:sp>
      <p:sp>
        <p:nvSpPr>
          <p:cNvPr id="16" name="flow Template the plate"/>
          <p:cNvSpPr/>
          <p:nvPr/>
        </p:nvSpPr>
        <p:spPr>
          <a:xfrm>
            <a:off x="6579870" y="1319702"/>
            <a:ext cx="1786890" cy="1023139"/>
          </a:xfrm>
          <a:prstGeom prst="roundRect">
            <a:avLst>
              <a:gd name="adj" fmla="val 8937"/>
            </a:avLst>
          </a:prstGeom>
          <a:solidFill>
            <a:srgbClr val="F99508"/>
          </a:solidFill>
          <a:ln w="12700">
            <a:solidFill>
              <a:srgbClr val="F99508"/>
            </a:solidFill>
            <a:prstDash val="solid"/>
          </a:ln>
          <a:effectLst>
            <a:outerShdw sx="100000" sy="100000" kx="0" ky="0" algn="bl" rotWithShape="0" blurRad="76200" dist="25400" dir="5400000">
              <a:srgbClr val="000000">
                <a:alpha val="18000"/>
              </a:srgbClr>
            </a:outerShdw>
          </a:effectLst>
        </p:spPr>
      </p:sp>
      <p:pic>
        <p:nvPicPr>
          <p:cNvPr id="17" name="flow icon Template the plate" descr="preencoded.png">    </p:cNvPr>
          <p:cNvPicPr>
            <a:picLocks noChangeAspect="1"/>
          </p:cNvPicPr>
          <p:nvPr/>
        </p:nvPicPr>
        <p:blipFill>
          <a:blip r:embed="rId4"/>
          <a:stretch>
            <a:fillRect/>
          </a:stretch>
        </p:blipFill>
        <p:spPr>
          <a:xfrm>
            <a:off x="7295515" y="1447594"/>
            <a:ext cx="355600" cy="341046"/>
          </a:xfrm>
          <a:prstGeom prst="rect">
            <a:avLst/>
          </a:prstGeom>
        </p:spPr>
      </p:pic>
      <p:sp>
        <p:nvSpPr>
          <p:cNvPr id="18" name="flow label Template the plate"/>
          <p:cNvSpPr txBox="1"/>
          <p:nvPr/>
        </p:nvSpPr>
        <p:spPr>
          <a:xfrm>
            <a:off x="6624320" y="1788641"/>
            <a:ext cx="1697990" cy="511570"/>
          </a:xfrm>
          <a:prstGeom prst="rect">
            <a:avLst/>
          </a:prstGeom>
          <a:noFill/>
          <a:ln/>
        </p:spPr>
        <p:txBody>
          <a:bodyPr wrap="square" lIns="0" tIns="0" rIns="0" bIns="0" rtlCol="0" anchor="t"/>
          <a:lstStyle/>
          <a:p>
            <a:pPr algn="ctr" indent="0" marL="0">
              <a:buNone/>
            </a:pPr>
            <a:r>
              <a:rPr lang="en-US" sz="1200" b="1" dirty="0">
                <a:solidFill>
                  <a:srgbClr val="072E47"/>
                </a:solidFill>
              </a:rPr>
              <a:t>Template</a:t>
            </a:r>
            <a:endParaRPr lang="en-US" sz="1200" dirty="0"/>
          </a:p>
          <a:p>
            <a:pPr algn="ctr" indent="0" marL="0">
              <a:buNone/>
            </a:pPr>
            <a:r>
              <a:rPr lang="en-US" sz="1200" b="1" dirty="0">
                <a:solidFill>
                  <a:srgbClr val="072E47"/>
                </a:solidFill>
              </a:rPr>
              <a:t>the plate</a:t>
            </a:r>
            <a:endParaRPr lang="en-US" sz="1200" dirty="0"/>
          </a:p>
        </p:txBody>
      </p:sp>
      <p:sp>
        <p:nvSpPr>
          <p:cNvPr id="19" name="bullets"/>
          <p:cNvSpPr txBox="1"/>
          <p:nvPr/>
        </p:nvSpPr>
        <p:spPr>
          <a:xfrm>
            <a:off x="365760" y="2641257"/>
            <a:ext cx="3911600" cy="1790494"/>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72E47"/>
                </a:solidFill>
              </a:rPr>
              <a:t>A framework = the building, kitchen and staff already set up</a:t>
            </a:r>
            <a:endParaRPr lang="en-US" sz="1400" dirty="0"/>
          </a:p>
          <a:p>
            <a:pPr marL="342900" indent="-342900">
              <a:spcAft>
                <a:spcPts val="800"/>
              </a:spcAft>
              <a:buSzPct val="100000"/>
              <a:buChar char="•"/>
            </a:pPr>
            <a:r>
              <a:rPr lang="en-US" sz="1400" dirty="0">
                <a:solidFill>
                  <a:srgbClr val="072E47"/>
                </a:solidFill>
              </a:rPr>
              <a:t>You write the menu (URLs), recipes (views) and plating (templates)</a:t>
            </a:r>
            <a:endParaRPr lang="en-US" sz="1400" dirty="0"/>
          </a:p>
          <a:p>
            <a:pPr marL="342900" indent="-342900">
              <a:spcAft>
                <a:spcPts val="800"/>
              </a:spcAft>
              <a:buSzPct val="100000"/>
              <a:buChar char="•"/>
            </a:pPr>
            <a:r>
              <a:rPr lang="en-US" sz="1400" dirty="0">
                <a:solidFill>
                  <a:srgbClr val="072E47"/>
                </a:solidFill>
              </a:rPr>
              <a:t>Django also brings a free admin site, security and a database layer</a:t>
            </a:r>
            <a:endParaRPr lang="en-US" sz="1400" dirty="0"/>
          </a:p>
        </p:txBody>
      </p:sp>
      <p:sp>
        <p:nvSpPr>
          <p:cNvPr id="20" name="card Used by"/>
          <p:cNvSpPr/>
          <p:nvPr/>
        </p:nvSpPr>
        <p:spPr>
          <a:xfrm>
            <a:off x="4544060" y="2641257"/>
            <a:ext cx="3822700" cy="1705232"/>
          </a:xfrm>
          <a:prstGeom prst="roundRect">
            <a:avLst>
              <a:gd name="adj" fmla="val 6435"/>
            </a:avLst>
          </a:prstGeom>
          <a:solidFill>
            <a:srgbClr val="FFFFFF"/>
          </a:solidFill>
          <a:ln w="12700">
            <a:solidFill>
              <a:srgbClr val="FFFFFF"/>
            </a:solidFill>
            <a:prstDash val="solid"/>
          </a:ln>
        </p:spPr>
      </p:sp>
      <p:sp>
        <p:nvSpPr>
          <p:cNvPr id="21" name="card title Used by"/>
          <p:cNvSpPr txBox="1"/>
          <p:nvPr/>
        </p:nvSpPr>
        <p:spPr>
          <a:xfrm>
            <a:off x="4721860" y="2769149"/>
            <a:ext cx="3467100" cy="341046"/>
          </a:xfrm>
          <a:prstGeom prst="rect">
            <a:avLst/>
          </a:prstGeom>
          <a:noFill/>
          <a:ln/>
        </p:spPr>
        <p:txBody>
          <a:bodyPr wrap="square" lIns="0" tIns="0" rIns="0" bIns="0" rtlCol="0" anchor="ctr"/>
          <a:lstStyle/>
          <a:p>
            <a:pPr indent="0" marL="0">
              <a:buNone/>
            </a:pPr>
            <a:r>
              <a:rPr lang="en-US" sz="1400" b="1" dirty="0">
                <a:solidFill>
                  <a:srgbClr val="072E47"/>
                </a:solidFill>
              </a:rPr>
              <a:t>Used by</a:t>
            </a:r>
            <a:endParaRPr lang="en-US" sz="1400" dirty="0"/>
          </a:p>
        </p:txBody>
      </p:sp>
      <p:sp>
        <p:nvSpPr>
          <p:cNvPr id="22" name="card body Used by"/>
          <p:cNvSpPr txBox="1"/>
          <p:nvPr/>
        </p:nvSpPr>
        <p:spPr>
          <a:xfrm>
            <a:off x="4721860" y="3152826"/>
            <a:ext cx="3467100" cy="106577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8D91"/>
                </a:solidFill>
              </a:rPr>
              <a:t>Instagram, Spotify, Pinterest, NASA, The Washington Post</a:t>
            </a:r>
            <a:endParaRPr lang="en-US" sz="1300" dirty="0"/>
          </a:p>
          <a:p>
            <a:pPr marL="342900" indent="-342900">
              <a:spcAft>
                <a:spcPts val="400"/>
              </a:spcAft>
              <a:buSzPct val="100000"/>
              <a:buChar char="•"/>
            </a:pPr>
            <a:r>
              <a:rPr lang="en-US" sz="1300" dirty="0">
                <a:solidFill>
                  <a:srgbClr val="0F8D91"/>
                </a:solidFill>
              </a:rPr>
              <a:t>and today: your quiz app</a:t>
            </a:r>
            <a:endParaRPr lang="en-US" sz="13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Every page follows the same path</a:t>
            </a:r>
            <a:endParaRPr lang="en-US" sz="2400" dirty="0"/>
          </a:p>
        </p:txBody>
      </p:sp>
      <p:sp>
        <p:nvSpPr>
          <p:cNvPr id="4" name="flow Browser"/>
          <p:cNvSpPr/>
          <p:nvPr/>
        </p:nvSpPr>
        <p:spPr>
          <a:xfrm>
            <a:off x="365760" y="1319702"/>
            <a:ext cx="1096433" cy="937878"/>
          </a:xfrm>
          <a:prstGeom prst="roundRect">
            <a:avLst>
              <a:gd name="adj" fmla="val 9750"/>
            </a:avLst>
          </a:prstGeom>
          <a:solidFill>
            <a:srgbClr val="8FD3CC"/>
          </a:solidFill>
          <a:ln w="12700">
            <a:solidFill>
              <a:srgbClr val="8FD3CC"/>
            </a:solidFill>
            <a:prstDash val="solid"/>
          </a:ln>
          <a:effectLst>
            <a:outerShdw sx="100000" sy="100000" kx="0" ky="0" algn="bl" rotWithShape="0" blurRad="76200" dist="25400" dir="5400000">
              <a:srgbClr val="000000">
                <a:alpha val="18000"/>
              </a:srgbClr>
            </a:outerShdw>
          </a:effectLst>
        </p:spPr>
      </p:sp>
      <p:pic>
        <p:nvPicPr>
          <p:cNvPr id="5" name="flow icon Browser" descr="preencoded.png">    </p:cNvPr>
          <p:cNvPicPr>
            <a:picLocks noChangeAspect="1"/>
          </p:cNvPicPr>
          <p:nvPr/>
        </p:nvPicPr>
        <p:blipFill>
          <a:blip r:embed="rId1"/>
          <a:stretch>
            <a:fillRect/>
          </a:stretch>
        </p:blipFill>
        <p:spPr>
          <a:xfrm>
            <a:off x="736177" y="1447594"/>
            <a:ext cx="355600" cy="341046"/>
          </a:xfrm>
          <a:prstGeom prst="rect">
            <a:avLst/>
          </a:prstGeom>
        </p:spPr>
      </p:pic>
      <p:sp>
        <p:nvSpPr>
          <p:cNvPr id="6" name="flow label Browser"/>
          <p:cNvSpPr txBox="1"/>
          <p:nvPr/>
        </p:nvSpPr>
        <p:spPr>
          <a:xfrm>
            <a:off x="410210" y="1788641"/>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Browser</a:t>
            </a:r>
            <a:endParaRPr lang="en-US" sz="1200" dirty="0"/>
          </a:p>
        </p:txBody>
      </p:sp>
      <p:sp>
        <p:nvSpPr>
          <p:cNvPr id="7" name="arrow 0"/>
          <p:cNvSpPr/>
          <p:nvPr/>
        </p:nvSpPr>
        <p:spPr>
          <a:xfrm>
            <a:off x="1497753" y="1686327"/>
            <a:ext cx="213360" cy="204628"/>
          </a:xfrm>
          <a:prstGeom prst="rightArrow">
            <a:avLst/>
          </a:prstGeom>
          <a:solidFill>
            <a:srgbClr val="0F8D91"/>
          </a:solidFill>
          <a:ln w="12700">
            <a:solidFill>
              <a:srgbClr val="0F8D91"/>
            </a:solidFill>
            <a:prstDash val="solid"/>
          </a:ln>
        </p:spPr>
      </p:sp>
      <p:sp>
        <p:nvSpPr>
          <p:cNvPr id="8" name="flow urls.py"/>
          <p:cNvSpPr/>
          <p:nvPr/>
        </p:nvSpPr>
        <p:spPr>
          <a:xfrm>
            <a:off x="1746673" y="1319702"/>
            <a:ext cx="1096433" cy="937878"/>
          </a:xfrm>
          <a:prstGeom prst="roundRect">
            <a:avLst>
              <a:gd name="adj" fmla="val 9750"/>
            </a:avLst>
          </a:prstGeom>
          <a:solidFill>
            <a:srgbClr val="5DA144"/>
          </a:solidFill>
          <a:ln w="12700">
            <a:solidFill>
              <a:srgbClr val="5DA144"/>
            </a:solidFill>
            <a:prstDash val="solid"/>
          </a:ln>
          <a:effectLst>
            <a:outerShdw sx="100000" sy="100000" kx="0" ky="0" algn="bl" rotWithShape="0" blurRad="76200" dist="25400" dir="5400000">
              <a:srgbClr val="000000">
                <a:alpha val="18000"/>
              </a:srgbClr>
            </a:outerShdw>
          </a:effectLst>
        </p:spPr>
      </p:sp>
      <p:pic>
        <p:nvPicPr>
          <p:cNvPr id="9" name="flow icon urls.py" descr="preencoded.png">    </p:cNvPr>
          <p:cNvPicPr>
            <a:picLocks noChangeAspect="1"/>
          </p:cNvPicPr>
          <p:nvPr/>
        </p:nvPicPr>
        <p:blipFill>
          <a:blip r:embed="rId2"/>
          <a:stretch>
            <a:fillRect/>
          </a:stretch>
        </p:blipFill>
        <p:spPr>
          <a:xfrm>
            <a:off x="2117090" y="1447594"/>
            <a:ext cx="355600" cy="341046"/>
          </a:xfrm>
          <a:prstGeom prst="rect">
            <a:avLst/>
          </a:prstGeom>
        </p:spPr>
      </p:pic>
      <p:sp>
        <p:nvSpPr>
          <p:cNvPr id="10" name="flow label urls.py"/>
          <p:cNvSpPr txBox="1"/>
          <p:nvPr/>
        </p:nvSpPr>
        <p:spPr>
          <a:xfrm>
            <a:off x="1791123" y="1788641"/>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urls.py</a:t>
            </a:r>
            <a:endParaRPr lang="en-US" sz="1200" dirty="0"/>
          </a:p>
        </p:txBody>
      </p:sp>
      <p:sp>
        <p:nvSpPr>
          <p:cNvPr id="11" name="arrow 1"/>
          <p:cNvSpPr/>
          <p:nvPr/>
        </p:nvSpPr>
        <p:spPr>
          <a:xfrm>
            <a:off x="2878667" y="1686327"/>
            <a:ext cx="213360" cy="204628"/>
          </a:xfrm>
          <a:prstGeom prst="rightArrow">
            <a:avLst/>
          </a:prstGeom>
          <a:solidFill>
            <a:srgbClr val="0F8D91"/>
          </a:solidFill>
          <a:ln w="12700">
            <a:solidFill>
              <a:srgbClr val="0F8D91"/>
            </a:solidFill>
            <a:prstDash val="solid"/>
          </a:ln>
        </p:spPr>
      </p:sp>
      <p:sp>
        <p:nvSpPr>
          <p:cNvPr id="12" name="flow views.py"/>
          <p:cNvSpPr/>
          <p:nvPr/>
        </p:nvSpPr>
        <p:spPr>
          <a:xfrm>
            <a:off x="3127587" y="1319702"/>
            <a:ext cx="1096433" cy="937878"/>
          </a:xfrm>
          <a:prstGeom prst="roundRect">
            <a:avLst>
              <a:gd name="adj" fmla="val 9750"/>
            </a:avLst>
          </a:prstGeom>
          <a:solidFill>
            <a:srgbClr val="5DA144"/>
          </a:solidFill>
          <a:ln w="12700">
            <a:solidFill>
              <a:srgbClr val="5DA144"/>
            </a:solidFill>
            <a:prstDash val="solid"/>
          </a:ln>
          <a:effectLst>
            <a:outerShdw sx="100000" sy="100000" kx="0" ky="0" algn="bl" rotWithShape="0" blurRad="76200" dist="25400" dir="5400000">
              <a:srgbClr val="000000">
                <a:alpha val="18000"/>
              </a:srgbClr>
            </a:outerShdw>
          </a:effectLst>
        </p:spPr>
      </p:sp>
      <p:pic>
        <p:nvPicPr>
          <p:cNvPr id="13" name="flow icon views.py" descr="preencoded.png">    </p:cNvPr>
          <p:cNvPicPr>
            <a:picLocks noChangeAspect="1"/>
          </p:cNvPicPr>
          <p:nvPr/>
        </p:nvPicPr>
        <p:blipFill>
          <a:blip r:embed="rId3"/>
          <a:stretch>
            <a:fillRect/>
          </a:stretch>
        </p:blipFill>
        <p:spPr>
          <a:xfrm>
            <a:off x="3498003" y="1447594"/>
            <a:ext cx="355600" cy="341046"/>
          </a:xfrm>
          <a:prstGeom prst="rect">
            <a:avLst/>
          </a:prstGeom>
        </p:spPr>
      </p:pic>
      <p:sp>
        <p:nvSpPr>
          <p:cNvPr id="14" name="flow label views.py"/>
          <p:cNvSpPr txBox="1"/>
          <p:nvPr/>
        </p:nvSpPr>
        <p:spPr>
          <a:xfrm>
            <a:off x="3172037" y="1788641"/>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views.py</a:t>
            </a:r>
            <a:endParaRPr lang="en-US" sz="1200" dirty="0"/>
          </a:p>
        </p:txBody>
      </p:sp>
      <p:sp>
        <p:nvSpPr>
          <p:cNvPr id="15" name="arrow 2"/>
          <p:cNvSpPr/>
          <p:nvPr/>
        </p:nvSpPr>
        <p:spPr>
          <a:xfrm>
            <a:off x="4259580" y="1686327"/>
            <a:ext cx="213360" cy="204628"/>
          </a:xfrm>
          <a:prstGeom prst="rightArrow">
            <a:avLst/>
          </a:prstGeom>
          <a:solidFill>
            <a:srgbClr val="0F8D91"/>
          </a:solidFill>
          <a:ln w="12700">
            <a:solidFill>
              <a:srgbClr val="0F8D91"/>
            </a:solidFill>
            <a:prstDash val="solid"/>
          </a:ln>
        </p:spPr>
      </p:sp>
      <p:sp>
        <p:nvSpPr>
          <p:cNvPr id="16" name="flow models.py"/>
          <p:cNvSpPr/>
          <p:nvPr/>
        </p:nvSpPr>
        <p:spPr>
          <a:xfrm>
            <a:off x="4508500" y="1319702"/>
            <a:ext cx="1096433" cy="937878"/>
          </a:xfrm>
          <a:prstGeom prst="roundRect">
            <a:avLst>
              <a:gd name="adj" fmla="val 9750"/>
            </a:avLst>
          </a:prstGeom>
          <a:solidFill>
            <a:srgbClr val="1B6F86"/>
          </a:solidFill>
          <a:ln w="12700">
            <a:solidFill>
              <a:srgbClr val="1B6F86"/>
            </a:solidFill>
            <a:prstDash val="solid"/>
          </a:ln>
          <a:effectLst>
            <a:outerShdw sx="100000" sy="100000" kx="0" ky="0" algn="bl" rotWithShape="0" blurRad="76200" dist="25400" dir="5400000">
              <a:srgbClr val="000000">
                <a:alpha val="18000"/>
              </a:srgbClr>
            </a:outerShdw>
          </a:effectLst>
        </p:spPr>
      </p:sp>
      <p:pic>
        <p:nvPicPr>
          <p:cNvPr id="17" name="flow icon models.py" descr="preencoded.png">    </p:cNvPr>
          <p:cNvPicPr>
            <a:picLocks noChangeAspect="1"/>
          </p:cNvPicPr>
          <p:nvPr/>
        </p:nvPicPr>
        <p:blipFill>
          <a:blip r:embed="rId4"/>
          <a:stretch>
            <a:fillRect/>
          </a:stretch>
        </p:blipFill>
        <p:spPr>
          <a:xfrm>
            <a:off x="4878917" y="1447594"/>
            <a:ext cx="355600" cy="341046"/>
          </a:xfrm>
          <a:prstGeom prst="rect">
            <a:avLst/>
          </a:prstGeom>
        </p:spPr>
      </p:pic>
      <p:sp>
        <p:nvSpPr>
          <p:cNvPr id="18" name="flow label models.py"/>
          <p:cNvSpPr txBox="1"/>
          <p:nvPr/>
        </p:nvSpPr>
        <p:spPr>
          <a:xfrm>
            <a:off x="4552950" y="1788641"/>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models.py</a:t>
            </a:r>
            <a:endParaRPr lang="en-US" sz="1200" dirty="0"/>
          </a:p>
        </p:txBody>
      </p:sp>
      <p:sp>
        <p:nvSpPr>
          <p:cNvPr id="19" name="arrow 3"/>
          <p:cNvSpPr/>
          <p:nvPr/>
        </p:nvSpPr>
        <p:spPr>
          <a:xfrm>
            <a:off x="5640493" y="1686327"/>
            <a:ext cx="213360" cy="204628"/>
          </a:xfrm>
          <a:prstGeom prst="rightArrow">
            <a:avLst/>
          </a:prstGeom>
          <a:solidFill>
            <a:srgbClr val="0F8D91"/>
          </a:solidFill>
          <a:ln w="12700">
            <a:solidFill>
              <a:srgbClr val="0F8D91"/>
            </a:solidFill>
            <a:prstDash val="solid"/>
          </a:ln>
        </p:spPr>
      </p:sp>
      <p:sp>
        <p:nvSpPr>
          <p:cNvPr id="20" name="flow template"/>
          <p:cNvSpPr/>
          <p:nvPr/>
        </p:nvSpPr>
        <p:spPr>
          <a:xfrm>
            <a:off x="5889413" y="1319702"/>
            <a:ext cx="1096433" cy="937878"/>
          </a:xfrm>
          <a:prstGeom prst="roundRect">
            <a:avLst>
              <a:gd name="adj" fmla="val 9750"/>
            </a:avLst>
          </a:prstGeom>
          <a:solidFill>
            <a:srgbClr val="F99508"/>
          </a:solidFill>
          <a:ln w="12700">
            <a:solidFill>
              <a:srgbClr val="F99508"/>
            </a:solidFill>
            <a:prstDash val="solid"/>
          </a:ln>
          <a:effectLst>
            <a:outerShdw sx="100000" sy="100000" kx="0" ky="0" algn="bl" rotWithShape="0" blurRad="76200" dist="25400" dir="5400000">
              <a:srgbClr val="000000">
                <a:alpha val="18000"/>
              </a:srgbClr>
            </a:outerShdw>
          </a:effectLst>
        </p:spPr>
      </p:sp>
      <p:pic>
        <p:nvPicPr>
          <p:cNvPr id="21" name="flow icon template" descr="preencoded.png">    </p:cNvPr>
          <p:cNvPicPr>
            <a:picLocks noChangeAspect="1"/>
          </p:cNvPicPr>
          <p:nvPr/>
        </p:nvPicPr>
        <p:blipFill>
          <a:blip r:embed="rId5"/>
          <a:stretch>
            <a:fillRect/>
          </a:stretch>
        </p:blipFill>
        <p:spPr>
          <a:xfrm>
            <a:off x="6259830" y="1447594"/>
            <a:ext cx="355600" cy="341046"/>
          </a:xfrm>
          <a:prstGeom prst="rect">
            <a:avLst/>
          </a:prstGeom>
        </p:spPr>
      </p:pic>
      <p:sp>
        <p:nvSpPr>
          <p:cNvPr id="22" name="flow label template"/>
          <p:cNvSpPr txBox="1"/>
          <p:nvPr/>
        </p:nvSpPr>
        <p:spPr>
          <a:xfrm>
            <a:off x="5933863" y="1788641"/>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template</a:t>
            </a:r>
            <a:endParaRPr lang="en-US" sz="1200" dirty="0"/>
          </a:p>
        </p:txBody>
      </p:sp>
      <p:sp>
        <p:nvSpPr>
          <p:cNvPr id="23" name="arrow 4"/>
          <p:cNvSpPr/>
          <p:nvPr/>
        </p:nvSpPr>
        <p:spPr>
          <a:xfrm>
            <a:off x="7021407" y="1686327"/>
            <a:ext cx="213360" cy="204628"/>
          </a:xfrm>
          <a:prstGeom prst="rightArrow">
            <a:avLst/>
          </a:prstGeom>
          <a:solidFill>
            <a:srgbClr val="0F8D91"/>
          </a:solidFill>
          <a:ln w="12700">
            <a:solidFill>
              <a:srgbClr val="0F8D91"/>
            </a:solidFill>
            <a:prstDash val="solid"/>
          </a:ln>
        </p:spPr>
      </p:sp>
      <p:sp>
        <p:nvSpPr>
          <p:cNvPr id="24" name="flow HTML back"/>
          <p:cNvSpPr/>
          <p:nvPr/>
        </p:nvSpPr>
        <p:spPr>
          <a:xfrm>
            <a:off x="7270327" y="1319702"/>
            <a:ext cx="1096433" cy="937878"/>
          </a:xfrm>
          <a:prstGeom prst="roundRect">
            <a:avLst>
              <a:gd name="adj" fmla="val 9750"/>
            </a:avLst>
          </a:prstGeom>
          <a:solidFill>
            <a:srgbClr val="8FD3CC"/>
          </a:solidFill>
          <a:ln w="12700">
            <a:solidFill>
              <a:srgbClr val="8FD3CC"/>
            </a:solidFill>
            <a:prstDash val="solid"/>
          </a:ln>
          <a:effectLst>
            <a:outerShdw sx="100000" sy="100000" kx="0" ky="0" algn="bl" rotWithShape="0" blurRad="76200" dist="25400" dir="5400000">
              <a:srgbClr val="000000">
                <a:alpha val="18000"/>
              </a:srgbClr>
            </a:outerShdw>
          </a:effectLst>
        </p:spPr>
      </p:sp>
      <p:pic>
        <p:nvPicPr>
          <p:cNvPr id="25" name="flow icon HTML back" descr="preencoded.png">    </p:cNvPr>
          <p:cNvPicPr>
            <a:picLocks noChangeAspect="1"/>
          </p:cNvPicPr>
          <p:nvPr/>
        </p:nvPicPr>
        <p:blipFill>
          <a:blip r:embed="rId6"/>
          <a:stretch>
            <a:fillRect/>
          </a:stretch>
        </p:blipFill>
        <p:spPr>
          <a:xfrm>
            <a:off x="7640743" y="1447594"/>
            <a:ext cx="355600" cy="341046"/>
          </a:xfrm>
          <a:prstGeom prst="rect">
            <a:avLst/>
          </a:prstGeom>
        </p:spPr>
      </p:pic>
      <p:sp>
        <p:nvSpPr>
          <p:cNvPr id="26" name="flow label HTML back"/>
          <p:cNvSpPr txBox="1"/>
          <p:nvPr/>
        </p:nvSpPr>
        <p:spPr>
          <a:xfrm>
            <a:off x="7314777" y="1788641"/>
            <a:ext cx="1007533" cy="426308"/>
          </a:xfrm>
          <a:prstGeom prst="rect">
            <a:avLst/>
          </a:prstGeom>
          <a:noFill/>
          <a:ln/>
        </p:spPr>
        <p:txBody>
          <a:bodyPr wrap="square" lIns="0" tIns="0" rIns="0" bIns="0" rtlCol="0" anchor="t"/>
          <a:lstStyle/>
          <a:p>
            <a:pPr algn="ctr" indent="0" marL="0">
              <a:buNone/>
            </a:pPr>
            <a:r>
              <a:rPr lang="en-US" sz="1200" b="1" dirty="0">
                <a:solidFill>
                  <a:srgbClr val="072E47"/>
                </a:solidFill>
              </a:rPr>
              <a:t>HTML back</a:t>
            </a:r>
            <a:endParaRPr lang="en-US" sz="1200" dirty="0"/>
          </a:p>
        </p:txBody>
      </p:sp>
      <p:sp>
        <p:nvSpPr>
          <p:cNvPr id="27" name="code card"/>
          <p:cNvSpPr/>
          <p:nvPr/>
        </p:nvSpPr>
        <p:spPr>
          <a:xfrm>
            <a:off x="365760" y="2513364"/>
            <a:ext cx="8001000" cy="1875756"/>
          </a:xfrm>
          <a:prstGeom prst="roundRect">
            <a:avLst>
              <a:gd name="adj" fmla="val 585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28" name="file label"/>
          <p:cNvSpPr/>
          <p:nvPr/>
        </p:nvSpPr>
        <p:spPr>
          <a:xfrm>
            <a:off x="543560" y="2615678"/>
            <a:ext cx="2200275" cy="238733"/>
          </a:xfrm>
          <a:prstGeom prst="roundRect">
            <a:avLst>
              <a:gd name="adj" fmla="val 30642"/>
            </a:avLst>
          </a:prstGeom>
          <a:solidFill>
            <a:srgbClr val="F99508"/>
          </a:solidFill>
          <a:ln w="12700">
            <a:solidFill>
              <a:srgbClr val="F99508"/>
            </a:solidFill>
            <a:prstDash val="solid"/>
          </a:ln>
        </p:spPr>
      </p:sp>
      <p:sp>
        <p:nvSpPr>
          <p:cNvPr id="29" name="file label text"/>
          <p:cNvSpPr txBox="1"/>
          <p:nvPr/>
        </p:nvSpPr>
        <p:spPr>
          <a:xfrm>
            <a:off x="543560" y="2615678"/>
            <a:ext cx="220027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one request, step by step</a:t>
            </a:r>
            <a:endParaRPr lang="en-US" sz="1000" dirty="0"/>
          </a:p>
        </p:txBody>
      </p:sp>
      <p:sp>
        <p:nvSpPr>
          <p:cNvPr id="30" name="code"/>
          <p:cNvSpPr txBox="1"/>
          <p:nvPr/>
        </p:nvSpPr>
        <p:spPr>
          <a:xfrm>
            <a:off x="588010" y="2939672"/>
            <a:ext cx="7556500" cy="1321555"/>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GET /reviewer/python-fundamentals/            # 1. browser asks</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-&gt; urls.py matches  "reviewer/&lt;slug:slug&gt;/"   # 2. which view?</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-&gt; views.take(request, slug="python-fundamentals")   # 3. the kitchen</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-&gt; Reviewer.objects.get(slug=slug)           # 4. fetch from database</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-&gt; render(request, "take.html", {...})       # 5. fill the template</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&lt;- 200 OK  &lt;html&gt;...&lt;/html&gt;                   # 6. the page you see</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 · Create the project</a:t>
            </a:r>
            <a:endParaRPr lang="en-US" sz="2400" dirty="0"/>
          </a:p>
        </p:txBody>
      </p:sp>
      <p:sp>
        <p:nvSpPr>
          <p:cNvPr id="4" name="code card"/>
          <p:cNvSpPr/>
          <p:nvPr/>
        </p:nvSpPr>
        <p:spPr>
          <a:xfrm>
            <a:off x="365760" y="1234440"/>
            <a:ext cx="5511800" cy="2216802"/>
          </a:xfrm>
          <a:prstGeom prst="roundRect">
            <a:avLst>
              <a:gd name="adj" fmla="val 495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91567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91567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terminal</a:t>
            </a:r>
            <a:endParaRPr lang="en-US" sz="1000" dirty="0"/>
          </a:p>
        </p:txBody>
      </p:sp>
      <p:sp>
        <p:nvSpPr>
          <p:cNvPr id="7" name="code"/>
          <p:cNvSpPr txBox="1"/>
          <p:nvPr/>
        </p:nvSpPr>
        <p:spPr>
          <a:xfrm>
            <a:off x="588010" y="1660748"/>
            <a:ext cx="5067300" cy="1662602"/>
          </a:xfrm>
          <a:prstGeom prst="rect">
            <a:avLst/>
          </a:prstGeom>
          <a:noFill/>
          <a:ln/>
        </p:spPr>
        <p:txBody>
          <a:bodyPr wrap="square" lIns="0" tIns="0" rIns="0" bIns="0" rtlCol="0" anchor="t"/>
          <a:lstStyle/>
          <a:p>
            <a:pPr indent="0" marL="0">
              <a:buNone/>
            </a:pPr>
            <a:r>
              <a:rPr lang="en-US" sz="1150" dirty="0">
                <a:solidFill>
                  <a:srgbClr val="9A9B8C"/>
                </a:solidFill>
                <a:latin typeface="Courier New" pitchFamily="34" charset="0"/>
                <a:ea typeface="Courier New" pitchFamily="34" charset="-122"/>
                <a:cs typeface="Courier New" pitchFamily="34" charset="-120"/>
              </a:rPr>
              <a:t># inside quiz_reviewer/ with .venv active</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django-admin startproject config </a:t>
            </a:r>
            <a:pPr indent="0" marL="0">
              <a:buNone/>
            </a:pPr>
            <a:r>
              <a:rPr lang="en-US" sz="1150" dirty="0">
                <a:solidFill>
                  <a:srgbClr val="66D9E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python manage.py runserver</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Starting development server at http://127.0.0.1:8000/</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open that address in your browser -&gt; rocket!</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Ctrl + C stops the server</a:t>
            </a:r>
            <a:endParaRPr lang="en-US" sz="1150" dirty="0"/>
          </a:p>
        </p:txBody>
      </p:sp>
      <p:sp>
        <p:nvSpPr>
          <p:cNvPr id="8" name="badge 1"/>
          <p:cNvSpPr/>
          <p:nvPr/>
        </p:nvSpPr>
        <p:spPr>
          <a:xfrm>
            <a:off x="6055360" y="1277071"/>
            <a:ext cx="320040" cy="306942"/>
          </a:xfrm>
          <a:prstGeom prst="ellipse">
            <a:avLst/>
          </a:prstGeom>
          <a:solidFill>
            <a:srgbClr val="5DA144"/>
          </a:solidFill>
          <a:ln w="12700">
            <a:solidFill>
              <a:srgbClr val="5DA144"/>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682093"/>
          </a:xfrm>
          <a:prstGeom prst="rect">
            <a:avLst/>
          </a:prstGeom>
          <a:noFill/>
          <a:ln/>
        </p:spPr>
        <p:txBody>
          <a:bodyPr wrap="square" lIns="0" tIns="0" rIns="0" bIns="0" rtlCol="0" anchor="t"/>
          <a:lstStyle/>
          <a:p>
            <a:pPr indent="0" marL="0">
              <a:buNone/>
            </a:pPr>
            <a:r>
              <a:rPr lang="en-US" sz="1200" b="1" dirty="0">
                <a:solidFill>
                  <a:srgbClr val="000000"/>
                </a:solidFill>
              </a:rPr>
              <a:t>startproject</a:t>
            </a:r>
            <a:endParaRPr lang="en-US" sz="1200" dirty="0"/>
          </a:p>
          <a:p>
            <a:pPr indent="0" marL="0">
              <a:buNone/>
            </a:pPr>
            <a:r>
              <a:rPr lang="en-US" sz="1100" dirty="0">
                <a:solidFill>
                  <a:srgbClr val="0F8D91"/>
                </a:solidFill>
              </a:rPr>
              <a:t>Creates the skeleton: settings, URLs, manage.py.</a:t>
            </a:r>
            <a:endParaRPr lang="en-US" sz="1200" dirty="0"/>
          </a:p>
        </p:txBody>
      </p:sp>
      <p:sp>
        <p:nvSpPr>
          <p:cNvPr id="11" name="badge 2"/>
          <p:cNvSpPr/>
          <p:nvPr/>
        </p:nvSpPr>
        <p:spPr>
          <a:xfrm>
            <a:off x="6055360" y="2044425"/>
            <a:ext cx="320040" cy="306942"/>
          </a:xfrm>
          <a:prstGeom prst="ellipse">
            <a:avLst/>
          </a:prstGeom>
          <a:solidFill>
            <a:srgbClr val="5DA144"/>
          </a:solidFill>
          <a:ln w="12700">
            <a:solidFill>
              <a:srgbClr val="5DA144"/>
            </a:solidFill>
            <a:prstDash val="solid"/>
          </a:ln>
        </p:spPr>
      </p:sp>
      <p:sp>
        <p:nvSpPr>
          <p:cNvPr id="12" name="badge 2 text"/>
          <p:cNvSpPr txBox="1"/>
          <p:nvPr/>
        </p:nvSpPr>
        <p:spPr>
          <a:xfrm>
            <a:off x="6055360" y="2044425"/>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001795"/>
            <a:ext cx="1884680" cy="682093"/>
          </a:xfrm>
          <a:prstGeom prst="rect">
            <a:avLst/>
          </a:prstGeom>
          <a:noFill/>
          <a:ln/>
        </p:spPr>
        <p:txBody>
          <a:bodyPr wrap="square" lIns="0" tIns="0" rIns="0" bIns="0" rtlCol="0" anchor="t"/>
          <a:lstStyle/>
          <a:p>
            <a:pPr indent="0" marL="0">
              <a:buNone/>
            </a:pPr>
            <a:r>
              <a:rPr lang="en-US" sz="1200" b="1" dirty="0">
                <a:solidFill>
                  <a:srgbClr val="000000"/>
                </a:solidFill>
              </a:rPr>
              <a:t>The dot .</a:t>
            </a:r>
            <a:endParaRPr lang="en-US" sz="1200" dirty="0"/>
          </a:p>
          <a:p>
            <a:pPr indent="0" marL="0">
              <a:buNone/>
            </a:pPr>
            <a:r>
              <a:rPr lang="en-US" sz="1100" dirty="0">
                <a:solidFill>
                  <a:srgbClr val="0F8D91"/>
                </a:solidFill>
              </a:rPr>
              <a:t>'Put it right here', not in another folder.</a:t>
            </a:r>
            <a:endParaRPr lang="en-US" sz="1200" dirty="0"/>
          </a:p>
        </p:txBody>
      </p:sp>
      <p:sp>
        <p:nvSpPr>
          <p:cNvPr id="14" name="badge 3"/>
          <p:cNvSpPr/>
          <p:nvPr/>
        </p:nvSpPr>
        <p:spPr>
          <a:xfrm>
            <a:off x="6055360" y="2811780"/>
            <a:ext cx="320040" cy="306942"/>
          </a:xfrm>
          <a:prstGeom prst="ellipse">
            <a:avLst/>
          </a:prstGeom>
          <a:solidFill>
            <a:srgbClr val="5DA144"/>
          </a:solidFill>
          <a:ln w="12700">
            <a:solidFill>
              <a:srgbClr val="5DA144"/>
            </a:solidFill>
            <a:prstDash val="solid"/>
          </a:ln>
        </p:spPr>
      </p:sp>
      <p:sp>
        <p:nvSpPr>
          <p:cNvPr id="15" name="badge 3 text"/>
          <p:cNvSpPr txBox="1"/>
          <p:nvPr/>
        </p:nvSpPr>
        <p:spPr>
          <a:xfrm>
            <a:off x="6055360" y="2811780"/>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769149"/>
            <a:ext cx="1884680" cy="682093"/>
          </a:xfrm>
          <a:prstGeom prst="rect">
            <a:avLst/>
          </a:prstGeom>
          <a:noFill/>
          <a:ln/>
        </p:spPr>
        <p:txBody>
          <a:bodyPr wrap="square" lIns="0" tIns="0" rIns="0" bIns="0" rtlCol="0" anchor="t"/>
          <a:lstStyle/>
          <a:p>
            <a:pPr indent="0" marL="0">
              <a:buNone/>
            </a:pPr>
            <a:r>
              <a:rPr lang="en-US" sz="1200" b="1" dirty="0">
                <a:solidFill>
                  <a:srgbClr val="000000"/>
                </a:solidFill>
              </a:rPr>
              <a:t>runserver</a:t>
            </a:r>
            <a:endParaRPr lang="en-US" sz="1200" dirty="0"/>
          </a:p>
          <a:p>
            <a:pPr indent="0" marL="0">
              <a:buNone/>
            </a:pPr>
            <a:r>
              <a:rPr lang="en-US" sz="1100" dirty="0">
                <a:solidFill>
                  <a:srgbClr val="0F8D91"/>
                </a:solidFill>
              </a:rPr>
              <a:t>A tiny web server for development. Reloads when you save.</a:t>
            </a:r>
            <a:endParaRPr lang="en-US" sz="1200" dirty="0"/>
          </a:p>
        </p:txBody>
      </p:sp>
      <p:sp>
        <p:nvSpPr>
          <p:cNvPr id="17" name="tip"/>
          <p:cNvSpPr/>
          <p:nvPr/>
        </p:nvSpPr>
        <p:spPr>
          <a:xfrm>
            <a:off x="365760" y="3707027"/>
            <a:ext cx="8001000" cy="468939"/>
          </a:xfrm>
          <a:prstGeom prst="roundRect">
            <a:avLst>
              <a:gd name="adj" fmla="val 19499"/>
            </a:avLst>
          </a:prstGeom>
          <a:solidFill>
            <a:srgbClr val="FFFFFF"/>
          </a:solidFill>
          <a:ln w="12700">
            <a:solidFill>
              <a:srgbClr val="FFFFFF"/>
            </a:solidFill>
            <a:prstDash val="solid"/>
          </a:ln>
        </p:spPr>
      </p:sp>
      <p:sp>
        <p:nvSpPr>
          <p:cNvPr id="18" name="tip dot"/>
          <p:cNvSpPr/>
          <p:nvPr/>
        </p:nvSpPr>
        <p:spPr>
          <a:xfrm>
            <a:off x="499110" y="3813604"/>
            <a:ext cx="266700" cy="255785"/>
          </a:xfrm>
          <a:prstGeom prst="ellipse">
            <a:avLst/>
          </a:prstGeom>
          <a:solidFill>
            <a:srgbClr val="04B1A4"/>
          </a:solidFill>
          <a:ln w="12700">
            <a:solidFill>
              <a:srgbClr val="04B1A4"/>
            </a:solidFill>
            <a:prstDash val="solid"/>
          </a:ln>
        </p:spPr>
      </p:sp>
      <p:sp>
        <p:nvSpPr>
          <p:cNvPr id="19" name="tip mark"/>
          <p:cNvSpPr txBox="1"/>
          <p:nvPr/>
        </p:nvSpPr>
        <p:spPr>
          <a:xfrm>
            <a:off x="499110" y="3813604"/>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20" name="tip text"/>
          <p:cNvSpPr txBox="1"/>
          <p:nvPr/>
        </p:nvSpPr>
        <p:spPr>
          <a:xfrm>
            <a:off x="899160" y="3707027"/>
            <a:ext cx="7334250" cy="468939"/>
          </a:xfrm>
          <a:prstGeom prst="rect">
            <a:avLst/>
          </a:prstGeom>
          <a:noFill/>
          <a:ln/>
        </p:spPr>
        <p:txBody>
          <a:bodyPr wrap="square" lIns="0" tIns="0" rIns="0" bIns="0" rtlCol="0" anchor="ctr"/>
          <a:lstStyle/>
          <a:p>
            <a:pPr indent="0" marL="0">
              <a:buNone/>
            </a:pPr>
            <a:r>
              <a:rPr lang="en-US" sz="1200" dirty="0">
                <a:solidFill>
                  <a:srgbClr val="072E47"/>
                </a:solidFill>
              </a:rPr>
              <a:t>The repo already has this done. If you are behind, just follow along in the finished files.</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What did Django just create?</a:t>
            </a:r>
            <a:endParaRPr lang="en-US" sz="2400" dirty="0"/>
          </a:p>
        </p:txBody>
      </p:sp>
      <p:sp>
        <p:nvSpPr>
          <p:cNvPr id="4" name="code card"/>
          <p:cNvSpPr/>
          <p:nvPr/>
        </p:nvSpPr>
        <p:spPr>
          <a:xfrm>
            <a:off x="365760" y="1234440"/>
            <a:ext cx="39116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14236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14236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folder tree</a:t>
            </a:r>
            <a:endParaRPr lang="en-US" sz="1000" dirty="0"/>
          </a:p>
        </p:txBody>
      </p:sp>
      <p:sp>
        <p:nvSpPr>
          <p:cNvPr id="7" name="code"/>
          <p:cNvSpPr txBox="1"/>
          <p:nvPr/>
        </p:nvSpPr>
        <p:spPr>
          <a:xfrm>
            <a:off x="588010" y="1660748"/>
            <a:ext cx="3467100" cy="2600479"/>
          </a:xfrm>
          <a:prstGeom prst="rect">
            <a:avLst/>
          </a:prstGeom>
          <a:noFill/>
          <a:ln/>
        </p:spPr>
        <p:txBody>
          <a:bodyPr wrap="square" lIns="0" tIns="0" rIns="0" bIns="0" rtlCol="0" anchor="t"/>
          <a:lstStyle/>
          <a:p>
            <a:pPr indent="0" marL="0">
              <a:buNone/>
            </a:pPr>
            <a:r>
              <a:rPr lang="en-US" sz="1100" dirty="0">
                <a:solidFill>
                  <a:srgbClr val="F8F8F2"/>
                </a:solidFill>
                <a:latin typeface="Courier New" pitchFamily="34" charset="0"/>
                <a:ea typeface="Courier New" pitchFamily="34" charset="-122"/>
                <a:cs typeface="Courier New" pitchFamily="34" charset="-120"/>
              </a:rPr>
              <a:t>quiz_reviewer/</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manage.py       # remote control</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db.sqlite3      # database file</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config/</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 settings.py # control panel</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 urls.py     # address menu</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 wsgi.py     # for real servers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 asgi.py     # for real servers</a:t>
            </a:r>
            <a:endParaRPr lang="en-US" sz="1100" dirty="0"/>
          </a:p>
        </p:txBody>
      </p:sp>
      <p:sp>
        <p:nvSpPr>
          <p:cNvPr id="8" name="badge 1"/>
          <p:cNvSpPr/>
          <p:nvPr/>
        </p:nvSpPr>
        <p:spPr>
          <a:xfrm>
            <a:off x="4544060" y="1277071"/>
            <a:ext cx="400050" cy="383677"/>
          </a:xfrm>
          <a:prstGeom prst="ellipse">
            <a:avLst/>
          </a:prstGeom>
          <a:solidFill>
            <a:srgbClr val="5DA144"/>
          </a:solidFill>
          <a:ln w="12700">
            <a:solidFill>
              <a:srgbClr val="5DA144"/>
            </a:solidFill>
            <a:prstDash val="solid"/>
          </a:ln>
        </p:spPr>
      </p:sp>
      <p:sp>
        <p:nvSpPr>
          <p:cNvPr id="9" name="badge 1 text"/>
          <p:cNvSpPr txBox="1"/>
          <p:nvPr/>
        </p:nvSpPr>
        <p:spPr>
          <a:xfrm>
            <a:off x="4544060" y="1277071"/>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0" name="step 1"/>
          <p:cNvSpPr txBox="1"/>
          <p:nvPr/>
        </p:nvSpPr>
        <p:spPr>
          <a:xfrm>
            <a:off x="5077460" y="1234440"/>
            <a:ext cx="3289300" cy="724724"/>
          </a:xfrm>
          <a:prstGeom prst="rect">
            <a:avLst/>
          </a:prstGeom>
          <a:noFill/>
          <a:ln/>
        </p:spPr>
        <p:txBody>
          <a:bodyPr wrap="square" lIns="0" tIns="0" rIns="0" bIns="0" rtlCol="0" anchor="t"/>
          <a:lstStyle/>
          <a:p>
            <a:pPr indent="0" marL="0">
              <a:buNone/>
            </a:pPr>
            <a:r>
              <a:rPr lang="en-US" sz="1500" b="1" dirty="0">
                <a:solidFill>
                  <a:srgbClr val="000000"/>
                </a:solidFill>
              </a:rPr>
              <a:t>manage.py</a:t>
            </a:r>
            <a:endParaRPr lang="en-US" sz="1500" dirty="0"/>
          </a:p>
          <a:p>
            <a:pPr indent="0" marL="0">
              <a:buNone/>
            </a:pPr>
            <a:r>
              <a:rPr lang="en-US" sz="1300" dirty="0">
                <a:solidFill>
                  <a:srgbClr val="0F8D91"/>
                </a:solidFill>
              </a:rPr>
              <a:t>python manage.py &lt;command&gt;. Runs the server, migrations, tests.</a:t>
            </a:r>
            <a:endParaRPr lang="en-US" sz="1500" dirty="0"/>
          </a:p>
        </p:txBody>
      </p:sp>
      <p:sp>
        <p:nvSpPr>
          <p:cNvPr id="11" name="badge 2"/>
          <p:cNvSpPr/>
          <p:nvPr/>
        </p:nvSpPr>
        <p:spPr>
          <a:xfrm>
            <a:off x="4544060" y="2087056"/>
            <a:ext cx="400050" cy="383677"/>
          </a:xfrm>
          <a:prstGeom prst="ellipse">
            <a:avLst/>
          </a:prstGeom>
          <a:solidFill>
            <a:srgbClr val="5DA144"/>
          </a:solidFill>
          <a:ln w="12700">
            <a:solidFill>
              <a:srgbClr val="5DA144"/>
            </a:solidFill>
            <a:prstDash val="solid"/>
          </a:ln>
        </p:spPr>
      </p:sp>
      <p:sp>
        <p:nvSpPr>
          <p:cNvPr id="12" name="badge 2 text"/>
          <p:cNvSpPr txBox="1"/>
          <p:nvPr/>
        </p:nvSpPr>
        <p:spPr>
          <a:xfrm>
            <a:off x="4544060" y="2087056"/>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3" name="step 2"/>
          <p:cNvSpPr txBox="1"/>
          <p:nvPr/>
        </p:nvSpPr>
        <p:spPr>
          <a:xfrm>
            <a:off x="5077460" y="2044425"/>
            <a:ext cx="3289300" cy="724724"/>
          </a:xfrm>
          <a:prstGeom prst="rect">
            <a:avLst/>
          </a:prstGeom>
          <a:noFill/>
          <a:ln/>
        </p:spPr>
        <p:txBody>
          <a:bodyPr wrap="square" lIns="0" tIns="0" rIns="0" bIns="0" rtlCol="0" anchor="t"/>
          <a:lstStyle/>
          <a:p>
            <a:pPr indent="0" marL="0">
              <a:buNone/>
            </a:pPr>
            <a:r>
              <a:rPr lang="en-US" sz="1500" b="1" dirty="0">
                <a:solidFill>
                  <a:srgbClr val="000000"/>
                </a:solidFill>
              </a:rPr>
              <a:t>config/settings.py</a:t>
            </a:r>
            <a:endParaRPr lang="en-US" sz="1500" dirty="0"/>
          </a:p>
          <a:p>
            <a:pPr indent="0" marL="0">
              <a:buNone/>
            </a:pPr>
            <a:r>
              <a:rPr lang="en-US" sz="1300" dirty="0">
                <a:solidFill>
                  <a:srgbClr val="0F8D91"/>
                </a:solidFill>
              </a:rPr>
              <a:t>Installed apps, database, templates. We edit it twice today.</a:t>
            </a:r>
            <a:endParaRPr lang="en-US" sz="1500" dirty="0"/>
          </a:p>
        </p:txBody>
      </p:sp>
      <p:sp>
        <p:nvSpPr>
          <p:cNvPr id="14" name="badge 3"/>
          <p:cNvSpPr/>
          <p:nvPr/>
        </p:nvSpPr>
        <p:spPr>
          <a:xfrm>
            <a:off x="4544060" y="2897042"/>
            <a:ext cx="400050" cy="383677"/>
          </a:xfrm>
          <a:prstGeom prst="ellipse">
            <a:avLst/>
          </a:prstGeom>
          <a:solidFill>
            <a:srgbClr val="5DA144"/>
          </a:solidFill>
          <a:ln w="12700">
            <a:solidFill>
              <a:srgbClr val="5DA144"/>
            </a:solidFill>
            <a:prstDash val="solid"/>
          </a:ln>
        </p:spPr>
      </p:sp>
      <p:sp>
        <p:nvSpPr>
          <p:cNvPr id="15" name="badge 3 text"/>
          <p:cNvSpPr txBox="1"/>
          <p:nvPr/>
        </p:nvSpPr>
        <p:spPr>
          <a:xfrm>
            <a:off x="4544060" y="2897042"/>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6" name="step 3"/>
          <p:cNvSpPr txBox="1"/>
          <p:nvPr/>
        </p:nvSpPr>
        <p:spPr>
          <a:xfrm>
            <a:off x="5077460" y="2854411"/>
            <a:ext cx="3289300" cy="724724"/>
          </a:xfrm>
          <a:prstGeom prst="rect">
            <a:avLst/>
          </a:prstGeom>
          <a:noFill/>
          <a:ln/>
        </p:spPr>
        <p:txBody>
          <a:bodyPr wrap="square" lIns="0" tIns="0" rIns="0" bIns="0" rtlCol="0" anchor="t"/>
          <a:lstStyle/>
          <a:p>
            <a:pPr indent="0" marL="0">
              <a:buNone/>
            </a:pPr>
            <a:r>
              <a:rPr lang="en-US" sz="1500" b="1" dirty="0">
                <a:solidFill>
                  <a:srgbClr val="000000"/>
                </a:solidFill>
              </a:rPr>
              <a:t>config/urls.py</a:t>
            </a:r>
            <a:endParaRPr lang="en-US" sz="1500" dirty="0"/>
          </a:p>
          <a:p>
            <a:pPr indent="0" marL="0">
              <a:buNone/>
            </a:pPr>
            <a:r>
              <a:rPr lang="en-US" sz="1300" dirty="0">
                <a:solidFill>
                  <a:srgbClr val="0F8D91"/>
                </a:solidFill>
              </a:rPr>
              <a:t>The table of contents for every address on the site.</a:t>
            </a:r>
            <a:endParaRPr lang="en-US" sz="1500" dirty="0"/>
          </a:p>
        </p:txBody>
      </p:sp>
      <p:sp>
        <p:nvSpPr>
          <p:cNvPr id="17" name="badge 4"/>
          <p:cNvSpPr/>
          <p:nvPr/>
        </p:nvSpPr>
        <p:spPr>
          <a:xfrm>
            <a:off x="4544060" y="3707027"/>
            <a:ext cx="400050" cy="383677"/>
          </a:xfrm>
          <a:prstGeom prst="ellipse">
            <a:avLst/>
          </a:prstGeom>
          <a:solidFill>
            <a:srgbClr val="1B6F86"/>
          </a:solidFill>
          <a:ln w="12700">
            <a:solidFill>
              <a:srgbClr val="1B6F86"/>
            </a:solidFill>
            <a:prstDash val="solid"/>
          </a:ln>
        </p:spPr>
      </p:sp>
      <p:sp>
        <p:nvSpPr>
          <p:cNvPr id="18" name="badge 4 text"/>
          <p:cNvSpPr txBox="1"/>
          <p:nvPr/>
        </p:nvSpPr>
        <p:spPr>
          <a:xfrm>
            <a:off x="4544060" y="3707027"/>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9" name="step 4"/>
          <p:cNvSpPr txBox="1"/>
          <p:nvPr/>
        </p:nvSpPr>
        <p:spPr>
          <a:xfrm>
            <a:off x="5077460" y="3664396"/>
            <a:ext cx="3289300" cy="724724"/>
          </a:xfrm>
          <a:prstGeom prst="rect">
            <a:avLst/>
          </a:prstGeom>
          <a:noFill/>
          <a:ln/>
        </p:spPr>
        <p:txBody>
          <a:bodyPr wrap="square" lIns="0" tIns="0" rIns="0" bIns="0" rtlCol="0" anchor="t"/>
          <a:lstStyle/>
          <a:p>
            <a:pPr indent="0" marL="0">
              <a:buNone/>
            </a:pPr>
            <a:r>
              <a:rPr lang="en-US" sz="1500" b="1" dirty="0">
                <a:solidFill>
                  <a:srgbClr val="000000"/>
                </a:solidFill>
              </a:rPr>
              <a:t>db.sqlite3</a:t>
            </a:r>
            <a:endParaRPr lang="en-US" sz="1500" dirty="0"/>
          </a:p>
          <a:p>
            <a:pPr indent="0" marL="0">
              <a:buNone/>
            </a:pPr>
            <a:r>
              <a:rPr lang="en-US" sz="1300" dirty="0">
                <a:solidFill>
                  <a:srgbClr val="0F8D91"/>
                </a:solidFill>
              </a:rPr>
              <a:t>SQLite: a whole database in one file. Nothing to install.</a:t>
            </a:r>
            <a:endParaRPr lang="en-US" sz="15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2 · Create the reviewers app</a:t>
            </a:r>
            <a:endParaRPr lang="en-US" sz="2400" dirty="0"/>
          </a:p>
        </p:txBody>
      </p:sp>
      <p:sp>
        <p:nvSpPr>
          <p:cNvPr id="4" name="code card"/>
          <p:cNvSpPr/>
          <p:nvPr/>
        </p:nvSpPr>
        <p:spPr>
          <a:xfrm>
            <a:off x="365760" y="1234440"/>
            <a:ext cx="3911600" cy="1278924"/>
          </a:xfrm>
          <a:prstGeom prst="roundRect">
            <a:avLst>
              <a:gd name="adj" fmla="val 858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91567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91567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terminal</a:t>
            </a:r>
            <a:endParaRPr lang="en-US" sz="1000" dirty="0"/>
          </a:p>
        </p:txBody>
      </p:sp>
      <p:sp>
        <p:nvSpPr>
          <p:cNvPr id="7" name="code"/>
          <p:cNvSpPr txBox="1"/>
          <p:nvPr/>
        </p:nvSpPr>
        <p:spPr>
          <a:xfrm>
            <a:off x="588010" y="1660748"/>
            <a:ext cx="3467100" cy="724724"/>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python manage.py startapp reviewers</a:t>
            </a:r>
            <a:endParaRPr lang="en-US" sz="1200" dirty="0"/>
          </a:p>
        </p:txBody>
      </p:sp>
      <p:sp>
        <p:nvSpPr>
          <p:cNvPr id="8" name="code card"/>
          <p:cNvSpPr/>
          <p:nvPr/>
        </p:nvSpPr>
        <p:spPr>
          <a:xfrm>
            <a:off x="365760" y="2641257"/>
            <a:ext cx="3911600" cy="1747863"/>
          </a:xfrm>
          <a:prstGeom prst="roundRect">
            <a:avLst>
              <a:gd name="adj" fmla="val 62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9" name="file label"/>
          <p:cNvSpPr/>
          <p:nvPr/>
        </p:nvSpPr>
        <p:spPr>
          <a:xfrm>
            <a:off x="543560" y="2743571"/>
            <a:ext cx="1671320" cy="238733"/>
          </a:xfrm>
          <a:prstGeom prst="roundRect">
            <a:avLst>
              <a:gd name="adj" fmla="val 30642"/>
            </a:avLst>
          </a:prstGeom>
          <a:solidFill>
            <a:srgbClr val="F99508"/>
          </a:solidFill>
          <a:ln w="12700">
            <a:solidFill>
              <a:srgbClr val="F99508"/>
            </a:solidFill>
            <a:prstDash val="solid"/>
          </a:ln>
        </p:spPr>
      </p:sp>
      <p:sp>
        <p:nvSpPr>
          <p:cNvPr id="10" name="file label text"/>
          <p:cNvSpPr txBox="1"/>
          <p:nvPr/>
        </p:nvSpPr>
        <p:spPr>
          <a:xfrm>
            <a:off x="543560" y="2743571"/>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config/settings.py</a:t>
            </a:r>
            <a:endParaRPr lang="en-US" sz="1000" dirty="0"/>
          </a:p>
        </p:txBody>
      </p:sp>
      <p:sp>
        <p:nvSpPr>
          <p:cNvPr id="11" name="code"/>
          <p:cNvSpPr txBox="1"/>
          <p:nvPr/>
        </p:nvSpPr>
        <p:spPr>
          <a:xfrm>
            <a:off x="588010" y="3067565"/>
            <a:ext cx="3467100" cy="1193663"/>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INSTALLED_APPS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"django.contrib.admin"</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 built-ins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"reviewers"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&lt;-- add this!</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p:txBody>
      </p:sp>
      <p:sp>
        <p:nvSpPr>
          <p:cNvPr id="12" name="code card"/>
          <p:cNvSpPr/>
          <p:nvPr/>
        </p:nvSpPr>
        <p:spPr>
          <a:xfrm>
            <a:off x="4544060" y="1234440"/>
            <a:ext cx="38227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13" name="file label"/>
          <p:cNvSpPr/>
          <p:nvPr/>
        </p:nvSpPr>
        <p:spPr>
          <a:xfrm>
            <a:off x="4721860" y="1336754"/>
            <a:ext cx="1369060" cy="238733"/>
          </a:xfrm>
          <a:prstGeom prst="roundRect">
            <a:avLst>
              <a:gd name="adj" fmla="val 30642"/>
            </a:avLst>
          </a:prstGeom>
          <a:solidFill>
            <a:srgbClr val="F99508"/>
          </a:solidFill>
          <a:ln w="12700">
            <a:solidFill>
              <a:srgbClr val="F99508"/>
            </a:solidFill>
            <a:prstDash val="solid"/>
          </a:ln>
        </p:spPr>
      </p:sp>
      <p:sp>
        <p:nvSpPr>
          <p:cNvPr id="14" name="file label text"/>
          <p:cNvSpPr txBox="1"/>
          <p:nvPr/>
        </p:nvSpPr>
        <p:spPr>
          <a:xfrm>
            <a:off x="4721860" y="1336754"/>
            <a:ext cx="136906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the app folder</a:t>
            </a:r>
            <a:endParaRPr lang="en-US" sz="1000" dirty="0"/>
          </a:p>
        </p:txBody>
      </p:sp>
      <p:sp>
        <p:nvSpPr>
          <p:cNvPr id="15" name="code"/>
          <p:cNvSpPr txBox="1"/>
          <p:nvPr/>
        </p:nvSpPr>
        <p:spPr>
          <a:xfrm>
            <a:off x="4766310" y="1660748"/>
            <a:ext cx="3378200" cy="2600479"/>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reviewers/</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models.py    # data (tables)</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views.py     # pages</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admin.py     # admin site</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urls.py      # (we add)</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forms.py     # (we add)</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ai.py        # (Part 4)</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tests.py     # checks</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templates/   # HTML</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migrations/  # DB history</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3 · Models: describe your data as a class</a:t>
            </a:r>
            <a:endParaRPr lang="en-US" sz="2400" dirty="0"/>
          </a:p>
        </p:txBody>
      </p:sp>
      <p:sp>
        <p:nvSpPr>
          <p:cNvPr id="4" name="code card"/>
          <p:cNvSpPr/>
          <p:nvPr/>
        </p:nvSpPr>
        <p:spPr>
          <a:xfrm>
            <a:off x="365760" y="1234440"/>
            <a:ext cx="5511800" cy="2813634"/>
          </a:xfrm>
          <a:prstGeom prst="roundRect">
            <a:avLst>
              <a:gd name="adj" fmla="val 390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74688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74688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reviewers/models.py</a:t>
            </a:r>
            <a:endParaRPr lang="en-US" sz="1000" dirty="0"/>
          </a:p>
        </p:txBody>
      </p:sp>
      <p:sp>
        <p:nvSpPr>
          <p:cNvPr id="7" name="code"/>
          <p:cNvSpPr txBox="1"/>
          <p:nvPr/>
        </p:nvSpPr>
        <p:spPr>
          <a:xfrm>
            <a:off x="588010" y="1660748"/>
            <a:ext cx="5067300" cy="2259433"/>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from</a:t>
            </a:r>
            <a:pPr indent="0" marL="0">
              <a:buNone/>
            </a:pPr>
            <a:r>
              <a:rPr lang="en-US" sz="1100" dirty="0">
                <a:solidFill>
                  <a:srgbClr val="F8F8F2"/>
                </a:solidFill>
                <a:latin typeface="Courier New" pitchFamily="34" charset="0"/>
                <a:ea typeface="Courier New" pitchFamily="34" charset="-122"/>
                <a:cs typeface="Courier New" pitchFamily="34" charset="-120"/>
              </a:rPr>
              <a:t> django</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db </a:t>
            </a:r>
            <a:pPr indent="0" marL="0">
              <a:buNone/>
            </a:pPr>
            <a:r>
              <a:rPr lang="en-US" sz="1100" dirty="0">
                <a:solidFill>
                  <a:srgbClr val="F92672"/>
                </a:solidFill>
                <a:latin typeface="Courier New" pitchFamily="34" charset="0"/>
                <a:ea typeface="Courier New" pitchFamily="34" charset="-122"/>
                <a:cs typeface="Courier New" pitchFamily="34" charset="-120"/>
              </a:rPr>
              <a:t>import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92672"/>
                </a:solidFill>
                <a:latin typeface="Courier New" pitchFamily="34" charset="0"/>
                <a:ea typeface="Courier New" pitchFamily="34" charset="-122"/>
                <a:cs typeface="Courier New" pitchFamily="34" charset="-120"/>
              </a:rPr>
              <a:t>class</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Model</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"""A quiz / study set."""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title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CharField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max_length</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200</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slug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SlugField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unique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True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blank</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True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description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TextField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blank</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True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created_at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DateTimeField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auto_now_add</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True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__str__</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self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self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title</a:t>
            </a:r>
            <a:endParaRPr lang="en-US" sz="1100" dirty="0"/>
          </a:p>
        </p:txBody>
      </p:sp>
      <p:sp>
        <p:nvSpPr>
          <p:cNvPr id="8" name="card class = table"/>
          <p:cNvSpPr/>
          <p:nvPr/>
        </p:nvSpPr>
        <p:spPr>
          <a:xfrm>
            <a:off x="6055360" y="1234440"/>
            <a:ext cx="2311400" cy="1364186"/>
          </a:xfrm>
          <a:prstGeom prst="roundRect">
            <a:avLst>
              <a:gd name="adj" fmla="val 8043"/>
            </a:avLst>
          </a:prstGeom>
          <a:solidFill>
            <a:srgbClr val="FFFFFF"/>
          </a:solidFill>
          <a:ln w="12700">
            <a:solidFill>
              <a:srgbClr val="FFFFFF"/>
            </a:solidFill>
            <a:prstDash val="solid"/>
          </a:ln>
        </p:spPr>
      </p:sp>
      <p:sp>
        <p:nvSpPr>
          <p:cNvPr id="9" name="card title class = table"/>
          <p:cNvSpPr txBox="1"/>
          <p:nvPr/>
        </p:nvSpPr>
        <p:spPr>
          <a:xfrm>
            <a:off x="6233160" y="1362332"/>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class = table</a:t>
            </a:r>
            <a:endParaRPr lang="en-US" sz="1200" dirty="0"/>
          </a:p>
        </p:txBody>
      </p:sp>
      <p:sp>
        <p:nvSpPr>
          <p:cNvPr id="10" name="card body class = table"/>
          <p:cNvSpPr txBox="1"/>
          <p:nvPr/>
        </p:nvSpPr>
        <p:spPr>
          <a:xfrm>
            <a:off x="6233160" y="1746010"/>
            <a:ext cx="1955800" cy="724724"/>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Reviewer becomes a table called reviewers_reviewer.</a:t>
            </a:r>
            <a:endParaRPr lang="en-US" sz="1300" dirty="0"/>
          </a:p>
        </p:txBody>
      </p:sp>
      <p:sp>
        <p:nvSpPr>
          <p:cNvPr id="11" name="card attribute = column"/>
          <p:cNvSpPr/>
          <p:nvPr/>
        </p:nvSpPr>
        <p:spPr>
          <a:xfrm>
            <a:off x="6055360" y="2726518"/>
            <a:ext cx="2311400" cy="1321555"/>
          </a:xfrm>
          <a:prstGeom prst="roundRect">
            <a:avLst>
              <a:gd name="adj" fmla="val 8303"/>
            </a:avLst>
          </a:prstGeom>
          <a:solidFill>
            <a:srgbClr val="FFFFFF"/>
          </a:solidFill>
          <a:ln w="12700">
            <a:solidFill>
              <a:srgbClr val="FFFFFF"/>
            </a:solidFill>
            <a:prstDash val="solid"/>
          </a:ln>
        </p:spPr>
      </p:sp>
      <p:sp>
        <p:nvSpPr>
          <p:cNvPr id="12" name="card title attribute = column"/>
          <p:cNvSpPr txBox="1"/>
          <p:nvPr/>
        </p:nvSpPr>
        <p:spPr>
          <a:xfrm>
            <a:off x="6233160" y="2854411"/>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attribute = column</a:t>
            </a:r>
            <a:endParaRPr lang="en-US" sz="1200" dirty="0"/>
          </a:p>
        </p:txBody>
      </p:sp>
      <p:sp>
        <p:nvSpPr>
          <p:cNvPr id="13" name="card body attribute = column"/>
          <p:cNvSpPr txBox="1"/>
          <p:nvPr/>
        </p:nvSpPr>
        <p:spPr>
          <a:xfrm>
            <a:off x="6233160" y="3238088"/>
            <a:ext cx="1955800" cy="682093"/>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CharField = short text, TextField = long text, DateTimeField = a timestamp.</a:t>
            </a:r>
            <a:endParaRPr lang="en-US" sz="1300" dirty="0"/>
          </a:p>
        </p:txBody>
      </p:sp>
      <p:sp>
        <p:nvSpPr>
          <p:cNvPr id="14" name="tip"/>
          <p:cNvSpPr/>
          <p:nvPr/>
        </p:nvSpPr>
        <p:spPr>
          <a:xfrm>
            <a:off x="365760" y="4175966"/>
            <a:ext cx="8001000" cy="341046"/>
          </a:xfrm>
          <a:prstGeom prst="roundRect">
            <a:avLst>
              <a:gd name="adj" fmla="val 26812"/>
            </a:avLst>
          </a:prstGeom>
          <a:solidFill>
            <a:srgbClr val="FFFFFF"/>
          </a:solidFill>
          <a:ln w="12700">
            <a:solidFill>
              <a:srgbClr val="FFFFFF"/>
            </a:solidFill>
            <a:prstDash val="solid"/>
          </a:ln>
        </p:spPr>
      </p:sp>
      <p:sp>
        <p:nvSpPr>
          <p:cNvPr id="15" name="tip dot"/>
          <p:cNvSpPr/>
          <p:nvPr/>
        </p:nvSpPr>
        <p:spPr>
          <a:xfrm>
            <a:off x="499110" y="4218597"/>
            <a:ext cx="266700" cy="255785"/>
          </a:xfrm>
          <a:prstGeom prst="ellipse">
            <a:avLst/>
          </a:prstGeom>
          <a:solidFill>
            <a:srgbClr val="04B1A4"/>
          </a:solidFill>
          <a:ln w="12700">
            <a:solidFill>
              <a:srgbClr val="04B1A4"/>
            </a:solidFill>
            <a:prstDash val="solid"/>
          </a:ln>
        </p:spPr>
      </p:sp>
      <p:sp>
        <p:nvSpPr>
          <p:cNvPr id="16" name="tip mark"/>
          <p:cNvSpPr txBox="1"/>
          <p:nvPr/>
        </p:nvSpPr>
        <p:spPr>
          <a:xfrm>
            <a:off x="499110" y="4218597"/>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17" name="tip text"/>
          <p:cNvSpPr txBox="1"/>
          <p:nvPr/>
        </p:nvSpPr>
        <p:spPr>
          <a:xfrm>
            <a:off x="899160" y="4175966"/>
            <a:ext cx="7334250" cy="341046"/>
          </a:xfrm>
          <a:prstGeom prst="rect">
            <a:avLst/>
          </a:prstGeom>
          <a:noFill/>
          <a:ln/>
        </p:spPr>
        <p:txBody>
          <a:bodyPr wrap="square" lIns="0" tIns="0" rIns="0" bIns="0" rtlCol="0" anchor="ctr"/>
          <a:lstStyle/>
          <a:p>
            <a:pPr indent="0" marL="0">
              <a:buNone/>
            </a:pPr>
            <a:r>
              <a:rPr lang="en-US" sz="1200" dirty="0">
                <a:solidFill>
                  <a:srgbClr val="072E47"/>
                </a:solidFill>
              </a:rPr>
              <a:t>__str__ decides what the admin shows in lists. Without it you'd see 'Reviewer object (1)'.</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Relationships: a Reviewer has many Questions</a:t>
            </a:r>
            <a:endParaRPr lang="en-US" sz="2400" dirty="0"/>
          </a:p>
        </p:txBody>
      </p:sp>
      <p:sp>
        <p:nvSpPr>
          <p:cNvPr id="4" name="code card"/>
          <p:cNvSpPr/>
          <p:nvPr/>
        </p:nvSpPr>
        <p:spPr>
          <a:xfrm>
            <a:off x="365760" y="1234440"/>
            <a:ext cx="3200400" cy="2046279"/>
          </a:xfrm>
          <a:prstGeom prst="roundRect">
            <a:avLst>
              <a:gd name="adj" fmla="val 5362"/>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29349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29349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the data tree</a:t>
            </a:r>
            <a:endParaRPr lang="en-US" sz="1000" dirty="0"/>
          </a:p>
        </p:txBody>
      </p:sp>
      <p:sp>
        <p:nvSpPr>
          <p:cNvPr id="7" name="code"/>
          <p:cNvSpPr txBox="1"/>
          <p:nvPr/>
        </p:nvSpPr>
        <p:spPr>
          <a:xfrm>
            <a:off x="588010" y="1660748"/>
            <a:ext cx="2755900" cy="1492078"/>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Reviewer</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 Question (MC)</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    ├── Choice func</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    ├── Choice def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    └── Choice function</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 Question (direct)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answer = "length"</a:t>
            </a:r>
            <a:endParaRPr lang="en-US" sz="1200" dirty="0"/>
          </a:p>
        </p:txBody>
      </p:sp>
      <p:sp>
        <p:nvSpPr>
          <p:cNvPr id="8" name="tip"/>
          <p:cNvSpPr/>
          <p:nvPr/>
        </p:nvSpPr>
        <p:spPr>
          <a:xfrm>
            <a:off x="365760" y="3451242"/>
            <a:ext cx="3200400" cy="852616"/>
          </a:xfrm>
          <a:prstGeom prst="roundRect">
            <a:avLst>
              <a:gd name="adj" fmla="val 10725"/>
            </a:avLst>
          </a:prstGeom>
          <a:solidFill>
            <a:srgbClr val="FFFFFF"/>
          </a:solidFill>
          <a:ln w="12700">
            <a:solidFill>
              <a:srgbClr val="FFFFFF"/>
            </a:solidFill>
            <a:prstDash val="solid"/>
          </a:ln>
        </p:spPr>
      </p:sp>
      <p:sp>
        <p:nvSpPr>
          <p:cNvPr id="9" name="tip dot"/>
          <p:cNvSpPr/>
          <p:nvPr/>
        </p:nvSpPr>
        <p:spPr>
          <a:xfrm>
            <a:off x="499110" y="3749658"/>
            <a:ext cx="266700" cy="255785"/>
          </a:xfrm>
          <a:prstGeom prst="ellipse">
            <a:avLst/>
          </a:prstGeom>
          <a:solidFill>
            <a:srgbClr val="1B6F86"/>
          </a:solidFill>
          <a:ln w="12700">
            <a:solidFill>
              <a:srgbClr val="1B6F86"/>
            </a:solidFill>
            <a:prstDash val="solid"/>
          </a:ln>
        </p:spPr>
      </p:sp>
      <p:sp>
        <p:nvSpPr>
          <p:cNvPr id="10" name="tip mark"/>
          <p:cNvSpPr txBox="1"/>
          <p:nvPr/>
        </p:nvSpPr>
        <p:spPr>
          <a:xfrm>
            <a:off x="499110" y="3749658"/>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11" name="tip text"/>
          <p:cNvSpPr txBox="1"/>
          <p:nvPr/>
        </p:nvSpPr>
        <p:spPr>
          <a:xfrm>
            <a:off x="899160" y="3451242"/>
            <a:ext cx="2533650" cy="852616"/>
          </a:xfrm>
          <a:prstGeom prst="rect">
            <a:avLst/>
          </a:prstGeom>
          <a:noFill/>
          <a:ln/>
        </p:spPr>
        <p:txBody>
          <a:bodyPr wrap="square" lIns="0" tIns="0" rIns="0" bIns="0" rtlCol="0" anchor="ctr"/>
          <a:lstStyle/>
          <a:p>
            <a:pPr indent="0" marL="0">
              <a:buNone/>
            </a:pPr>
            <a:r>
              <a:rPr lang="en-US" sz="1200" dirty="0">
                <a:solidFill>
                  <a:srgbClr val="072E47"/>
                </a:solidFill>
              </a:rPr>
              <a:t>ForeignKey = 'belongs to'. One reviewer, many questions.</a:t>
            </a:r>
            <a:endParaRPr lang="en-US" sz="1200" dirty="0"/>
          </a:p>
        </p:txBody>
      </p:sp>
      <p:sp>
        <p:nvSpPr>
          <p:cNvPr id="12" name="badge 1"/>
          <p:cNvSpPr/>
          <p:nvPr/>
        </p:nvSpPr>
        <p:spPr>
          <a:xfrm>
            <a:off x="3921760" y="1277071"/>
            <a:ext cx="400050" cy="383677"/>
          </a:xfrm>
          <a:prstGeom prst="ellipse">
            <a:avLst/>
          </a:prstGeom>
          <a:solidFill>
            <a:srgbClr val="1B6F86"/>
          </a:solidFill>
          <a:ln w="12700">
            <a:solidFill>
              <a:srgbClr val="1B6F86"/>
            </a:solidFill>
            <a:prstDash val="solid"/>
          </a:ln>
        </p:spPr>
      </p:sp>
      <p:sp>
        <p:nvSpPr>
          <p:cNvPr id="13" name="badge 1 text"/>
          <p:cNvSpPr txBox="1"/>
          <p:nvPr/>
        </p:nvSpPr>
        <p:spPr>
          <a:xfrm>
            <a:off x="3921760" y="1277071"/>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4" name="step 1"/>
          <p:cNvSpPr txBox="1"/>
          <p:nvPr/>
        </p:nvSpPr>
        <p:spPr>
          <a:xfrm>
            <a:off x="4455160" y="1234440"/>
            <a:ext cx="3911600" cy="852616"/>
          </a:xfrm>
          <a:prstGeom prst="rect">
            <a:avLst/>
          </a:prstGeom>
          <a:noFill/>
          <a:ln/>
        </p:spPr>
        <p:txBody>
          <a:bodyPr wrap="square" lIns="0" tIns="0" rIns="0" bIns="0" rtlCol="0" anchor="t"/>
          <a:lstStyle/>
          <a:p>
            <a:pPr indent="0" marL="0">
              <a:buNone/>
            </a:pPr>
            <a:r>
              <a:rPr lang="en-US" sz="1500" b="1" dirty="0">
                <a:solidFill>
                  <a:srgbClr val="000000"/>
                </a:solidFill>
              </a:rPr>
              <a:t>One to many</a:t>
            </a:r>
            <a:endParaRPr lang="en-US" sz="1500" dirty="0"/>
          </a:p>
          <a:p>
            <a:pPr indent="0" marL="0">
              <a:buNone/>
            </a:pPr>
            <a:r>
              <a:rPr lang="en-US" sz="1300" dirty="0">
                <a:solidFill>
                  <a:srgbClr val="0F8D91"/>
                </a:solidFill>
              </a:rPr>
              <a:t>One Reviewer has many Questions; one Question has many Choices.</a:t>
            </a:r>
            <a:endParaRPr lang="en-US" sz="1500" dirty="0"/>
          </a:p>
        </p:txBody>
      </p:sp>
      <p:sp>
        <p:nvSpPr>
          <p:cNvPr id="15" name="badge 2"/>
          <p:cNvSpPr/>
          <p:nvPr/>
        </p:nvSpPr>
        <p:spPr>
          <a:xfrm>
            <a:off x="3921760" y="2257579"/>
            <a:ext cx="400050" cy="383677"/>
          </a:xfrm>
          <a:prstGeom prst="ellipse">
            <a:avLst/>
          </a:prstGeom>
          <a:solidFill>
            <a:srgbClr val="1B6F86"/>
          </a:solidFill>
          <a:ln w="12700">
            <a:solidFill>
              <a:srgbClr val="1B6F86"/>
            </a:solidFill>
            <a:prstDash val="solid"/>
          </a:ln>
        </p:spPr>
      </p:sp>
      <p:sp>
        <p:nvSpPr>
          <p:cNvPr id="16" name="badge 2 text"/>
          <p:cNvSpPr txBox="1"/>
          <p:nvPr/>
        </p:nvSpPr>
        <p:spPr>
          <a:xfrm>
            <a:off x="3921760" y="2257579"/>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7" name="step 2"/>
          <p:cNvSpPr txBox="1"/>
          <p:nvPr/>
        </p:nvSpPr>
        <p:spPr>
          <a:xfrm>
            <a:off x="4455160" y="2214949"/>
            <a:ext cx="3911600" cy="852616"/>
          </a:xfrm>
          <a:prstGeom prst="rect">
            <a:avLst/>
          </a:prstGeom>
          <a:noFill/>
          <a:ln/>
        </p:spPr>
        <p:txBody>
          <a:bodyPr wrap="square" lIns="0" tIns="0" rIns="0" bIns="0" rtlCol="0" anchor="t"/>
          <a:lstStyle/>
          <a:p>
            <a:pPr indent="0" marL="0">
              <a:buNone/>
            </a:pPr>
            <a:r>
              <a:rPr lang="en-US" sz="1500" b="1" dirty="0">
                <a:solidFill>
                  <a:srgbClr val="000000"/>
                </a:solidFill>
              </a:rPr>
              <a:t>The arrow lives on the 'many' side</a:t>
            </a:r>
            <a:endParaRPr lang="en-US" sz="1500" dirty="0"/>
          </a:p>
          <a:p>
            <a:pPr indent="0" marL="0">
              <a:buNone/>
            </a:pPr>
            <a:r>
              <a:rPr lang="en-US" sz="1300" dirty="0">
                <a:solidFill>
                  <a:srgbClr val="0F8D91"/>
                </a:solidFill>
              </a:rPr>
              <a:t>Question stores which Reviewer it belongs to: a ForeignKey column.</a:t>
            </a:r>
            <a:endParaRPr lang="en-US" sz="1500" dirty="0"/>
          </a:p>
        </p:txBody>
      </p:sp>
      <p:sp>
        <p:nvSpPr>
          <p:cNvPr id="18" name="badge 3"/>
          <p:cNvSpPr/>
          <p:nvPr/>
        </p:nvSpPr>
        <p:spPr>
          <a:xfrm>
            <a:off x="3921760" y="3238088"/>
            <a:ext cx="400050" cy="383677"/>
          </a:xfrm>
          <a:prstGeom prst="ellipse">
            <a:avLst/>
          </a:prstGeom>
          <a:solidFill>
            <a:srgbClr val="1B6F86"/>
          </a:solidFill>
          <a:ln w="12700">
            <a:solidFill>
              <a:srgbClr val="1B6F86"/>
            </a:solidFill>
            <a:prstDash val="solid"/>
          </a:ln>
        </p:spPr>
      </p:sp>
      <p:sp>
        <p:nvSpPr>
          <p:cNvPr id="19" name="badge 3 text"/>
          <p:cNvSpPr txBox="1"/>
          <p:nvPr/>
        </p:nvSpPr>
        <p:spPr>
          <a:xfrm>
            <a:off x="3921760" y="3238088"/>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0" name="step 3"/>
          <p:cNvSpPr txBox="1"/>
          <p:nvPr/>
        </p:nvSpPr>
        <p:spPr>
          <a:xfrm>
            <a:off x="4455160" y="3195457"/>
            <a:ext cx="3911600" cy="852616"/>
          </a:xfrm>
          <a:prstGeom prst="rect">
            <a:avLst/>
          </a:prstGeom>
          <a:noFill/>
          <a:ln/>
        </p:spPr>
        <p:txBody>
          <a:bodyPr wrap="square" lIns="0" tIns="0" rIns="0" bIns="0" rtlCol="0" anchor="t"/>
          <a:lstStyle/>
          <a:p>
            <a:pPr indent="0" marL="0">
              <a:buNone/>
            </a:pPr>
            <a:r>
              <a:rPr lang="en-US" sz="1500" b="1" dirty="0">
                <a:solidFill>
                  <a:srgbClr val="000000"/>
                </a:solidFill>
              </a:rPr>
              <a:t>Follow it both ways</a:t>
            </a:r>
            <a:endParaRPr lang="en-US" sz="1500" dirty="0"/>
          </a:p>
          <a:p>
            <a:pPr indent="0" marL="0">
              <a:buNone/>
            </a:pPr>
            <a:r>
              <a:rPr lang="en-US" sz="1300" dirty="0">
                <a:solidFill>
                  <a:srgbClr val="0F8D91"/>
                </a:solidFill>
              </a:rPr>
              <a:t>question.reviewer, and (via related_name) reviewer.questions.all().</a:t>
            </a:r>
            <a:endParaRPr lang="en-US" sz="15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The Question and Choice models</a:t>
            </a:r>
            <a:endParaRPr lang="en-US" sz="2400" dirty="0"/>
          </a:p>
        </p:txBody>
      </p:sp>
      <p:sp>
        <p:nvSpPr>
          <p:cNvPr id="4" name="code card"/>
          <p:cNvSpPr/>
          <p:nvPr/>
        </p:nvSpPr>
        <p:spPr>
          <a:xfrm>
            <a:off x="365760" y="1234440"/>
            <a:ext cx="55118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74688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74688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reviewers/models.py</a:t>
            </a:r>
            <a:endParaRPr lang="en-US" sz="1000" dirty="0"/>
          </a:p>
        </p:txBody>
      </p:sp>
      <p:sp>
        <p:nvSpPr>
          <p:cNvPr id="7" name="code"/>
          <p:cNvSpPr txBox="1"/>
          <p:nvPr/>
        </p:nvSpPr>
        <p:spPr>
          <a:xfrm>
            <a:off x="588010" y="1660748"/>
            <a:ext cx="5067300" cy="2600479"/>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class</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Model</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reviewer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ForeignKey</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on_delete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CASCADE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related_name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"questions"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text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TextField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question_type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CharField</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max_length</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20</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choices</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Type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choices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answer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CharField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max_length</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300</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blank</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True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status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CharField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9A9B8C"/>
                </a:solidFill>
                <a:latin typeface="Courier New" pitchFamily="34" charset="0"/>
                <a:ea typeface="Courier New" pitchFamily="34" charset="-122"/>
                <a:cs typeface="Courier New" pitchFamily="34" charset="-120"/>
              </a:rPr>
              <a:t># draft / published</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max_length</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10</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choices</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Status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choices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92672"/>
                </a:solidFill>
                <a:latin typeface="Courier New" pitchFamily="34" charset="0"/>
                <a:ea typeface="Courier New" pitchFamily="34" charset="-122"/>
                <a:cs typeface="Courier New" pitchFamily="34" charset="-120"/>
              </a:rPr>
              <a:t>class</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Choice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Model</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question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ForeignKey</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on_delete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CASCADE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related_name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"choices"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text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CharField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max_length</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300</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is_correct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models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BooleanField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default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False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8" name="badge 1"/>
          <p:cNvSpPr/>
          <p:nvPr/>
        </p:nvSpPr>
        <p:spPr>
          <a:xfrm>
            <a:off x="6055360" y="1277071"/>
            <a:ext cx="320040" cy="306942"/>
          </a:xfrm>
          <a:prstGeom prst="ellipse">
            <a:avLst/>
          </a:prstGeom>
          <a:solidFill>
            <a:srgbClr val="1B6F86"/>
          </a:solidFill>
          <a:ln w="12700">
            <a:solidFill>
              <a:srgbClr val="1B6F86"/>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852616"/>
          </a:xfrm>
          <a:prstGeom prst="rect">
            <a:avLst/>
          </a:prstGeom>
          <a:noFill/>
          <a:ln/>
        </p:spPr>
        <p:txBody>
          <a:bodyPr wrap="square" lIns="0" tIns="0" rIns="0" bIns="0" rtlCol="0" anchor="t"/>
          <a:lstStyle/>
          <a:p>
            <a:pPr indent="0" marL="0">
              <a:buNone/>
            </a:pPr>
            <a:r>
              <a:rPr lang="en-US" sz="1200" b="1" dirty="0">
                <a:solidFill>
                  <a:srgbClr val="000000"/>
                </a:solidFill>
              </a:rPr>
              <a:t>ForeignKey(Reviewer, …)</a:t>
            </a:r>
            <a:endParaRPr lang="en-US" sz="1200" dirty="0"/>
          </a:p>
          <a:p>
            <a:pPr indent="0" marL="0">
              <a:buNone/>
            </a:pPr>
            <a:r>
              <a:rPr lang="en-US" sz="1100" dirty="0">
                <a:solidFill>
                  <a:srgbClr val="0F8D91"/>
                </a:solidFill>
              </a:rPr>
              <a:t>This Question belongs to that Reviewer.</a:t>
            </a:r>
            <a:endParaRPr lang="en-US" sz="1200" dirty="0"/>
          </a:p>
        </p:txBody>
      </p:sp>
      <p:sp>
        <p:nvSpPr>
          <p:cNvPr id="11" name="badge 2"/>
          <p:cNvSpPr/>
          <p:nvPr/>
        </p:nvSpPr>
        <p:spPr>
          <a:xfrm>
            <a:off x="6055360" y="2214949"/>
            <a:ext cx="320040" cy="306942"/>
          </a:xfrm>
          <a:prstGeom prst="ellipse">
            <a:avLst/>
          </a:prstGeom>
          <a:solidFill>
            <a:srgbClr val="1B6F86"/>
          </a:solidFill>
          <a:ln w="12700">
            <a:solidFill>
              <a:srgbClr val="1B6F86"/>
            </a:solidFill>
            <a:prstDash val="solid"/>
          </a:ln>
        </p:spPr>
      </p:sp>
      <p:sp>
        <p:nvSpPr>
          <p:cNvPr id="12" name="badge 2 text"/>
          <p:cNvSpPr txBox="1"/>
          <p:nvPr/>
        </p:nvSpPr>
        <p:spPr>
          <a:xfrm>
            <a:off x="6055360" y="2214949"/>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172318"/>
            <a:ext cx="1884680" cy="852616"/>
          </a:xfrm>
          <a:prstGeom prst="rect">
            <a:avLst/>
          </a:prstGeom>
          <a:noFill/>
          <a:ln/>
        </p:spPr>
        <p:txBody>
          <a:bodyPr wrap="square" lIns="0" tIns="0" rIns="0" bIns="0" rtlCol="0" anchor="t"/>
          <a:lstStyle/>
          <a:p>
            <a:pPr indent="0" marL="0">
              <a:buNone/>
            </a:pPr>
            <a:r>
              <a:rPr lang="en-US" sz="1200" b="1" dirty="0">
                <a:solidFill>
                  <a:srgbClr val="000000"/>
                </a:solidFill>
              </a:rPr>
              <a:t>on_delete=CASCADE</a:t>
            </a:r>
            <a:endParaRPr lang="en-US" sz="1200" dirty="0"/>
          </a:p>
          <a:p>
            <a:pPr indent="0" marL="0">
              <a:buNone/>
            </a:pPr>
            <a:r>
              <a:rPr lang="en-US" sz="1100" dirty="0">
                <a:solidFill>
                  <a:srgbClr val="0F8D91"/>
                </a:solidFill>
              </a:rPr>
              <a:t>Delete the reviewer and its questions go too.</a:t>
            </a:r>
            <a:endParaRPr lang="en-US" sz="1200" dirty="0"/>
          </a:p>
        </p:txBody>
      </p:sp>
      <p:sp>
        <p:nvSpPr>
          <p:cNvPr id="14" name="badge 3"/>
          <p:cNvSpPr/>
          <p:nvPr/>
        </p:nvSpPr>
        <p:spPr>
          <a:xfrm>
            <a:off x="6055360" y="3152826"/>
            <a:ext cx="320040" cy="306942"/>
          </a:xfrm>
          <a:prstGeom prst="ellipse">
            <a:avLst/>
          </a:prstGeom>
          <a:solidFill>
            <a:srgbClr val="1B6F86"/>
          </a:solidFill>
          <a:ln w="12700">
            <a:solidFill>
              <a:srgbClr val="1B6F86"/>
            </a:solidFill>
            <a:prstDash val="solid"/>
          </a:ln>
        </p:spPr>
      </p:sp>
      <p:sp>
        <p:nvSpPr>
          <p:cNvPr id="15" name="badge 3 text"/>
          <p:cNvSpPr txBox="1"/>
          <p:nvPr/>
        </p:nvSpPr>
        <p:spPr>
          <a:xfrm>
            <a:off x="6055360" y="3152826"/>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3110196"/>
            <a:ext cx="1884680" cy="937878"/>
          </a:xfrm>
          <a:prstGeom prst="rect">
            <a:avLst/>
          </a:prstGeom>
          <a:noFill/>
          <a:ln/>
        </p:spPr>
        <p:txBody>
          <a:bodyPr wrap="square" lIns="0" tIns="0" rIns="0" bIns="0" rtlCol="0" anchor="t"/>
          <a:lstStyle/>
          <a:p>
            <a:pPr indent="0" marL="0">
              <a:buNone/>
            </a:pPr>
            <a:r>
              <a:rPr lang="en-US" sz="1200" b="1" dirty="0">
                <a:solidFill>
                  <a:srgbClr val="000000"/>
                </a:solidFill>
              </a:rPr>
              <a:t>related_name</a:t>
            </a:r>
            <a:endParaRPr lang="en-US" sz="1200" dirty="0"/>
          </a:p>
          <a:p>
            <a:pPr indent="0" marL="0">
              <a:buNone/>
            </a:pPr>
            <a:r>
              <a:rPr lang="en-US" sz="1100" dirty="0">
                <a:solidFill>
                  <a:srgbClr val="0F8D91"/>
                </a:solidFill>
              </a:rPr>
              <a:t>reviewer.questions.all() and question.choices.all().</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4 · Migrations: turn models into tables</a:t>
            </a:r>
            <a:endParaRPr lang="en-US" sz="2400" dirty="0"/>
          </a:p>
        </p:txBody>
      </p:sp>
      <p:sp>
        <p:nvSpPr>
          <p:cNvPr id="4" name="flow edit models.py"/>
          <p:cNvSpPr/>
          <p:nvPr/>
        </p:nvSpPr>
        <p:spPr>
          <a:xfrm>
            <a:off x="365760" y="1319702"/>
            <a:ext cx="1786890" cy="852616"/>
          </a:xfrm>
          <a:prstGeom prst="roundRect">
            <a:avLst>
              <a:gd name="adj" fmla="val 10725"/>
            </a:avLst>
          </a:prstGeom>
          <a:solidFill>
            <a:srgbClr val="1B6F86"/>
          </a:solidFill>
          <a:ln w="12700">
            <a:solidFill>
              <a:srgbClr val="1B6F86"/>
            </a:solidFill>
            <a:prstDash val="solid"/>
          </a:ln>
          <a:effectLst>
            <a:outerShdw sx="100000" sy="100000" kx="0" ky="0" algn="bl" rotWithShape="0" blurRad="76200" dist="25400" dir="5400000">
              <a:srgbClr val="000000">
                <a:alpha val="18000"/>
              </a:srgbClr>
            </a:outerShdw>
          </a:effectLst>
        </p:spPr>
      </p:sp>
      <p:sp>
        <p:nvSpPr>
          <p:cNvPr id="5" name="flow label edit models.py"/>
          <p:cNvSpPr txBox="1"/>
          <p:nvPr/>
        </p:nvSpPr>
        <p:spPr>
          <a:xfrm>
            <a:off x="410210" y="1319702"/>
            <a:ext cx="1697990" cy="852616"/>
          </a:xfrm>
          <a:prstGeom prst="rect">
            <a:avLst/>
          </a:prstGeom>
          <a:noFill/>
          <a:ln/>
        </p:spPr>
        <p:txBody>
          <a:bodyPr wrap="square" lIns="0" tIns="0" rIns="0" bIns="0" rtlCol="0" anchor="ctr"/>
          <a:lstStyle/>
          <a:p>
            <a:pPr algn="ctr" indent="0" marL="0">
              <a:buNone/>
            </a:pPr>
            <a:r>
              <a:rPr lang="en-US" sz="1200" b="1" dirty="0">
                <a:solidFill>
                  <a:srgbClr val="072E47"/>
                </a:solidFill>
              </a:rPr>
              <a:t>edit models.py</a:t>
            </a:r>
            <a:endParaRPr lang="en-US" sz="1200" dirty="0"/>
          </a:p>
        </p:txBody>
      </p:sp>
      <p:sp>
        <p:nvSpPr>
          <p:cNvPr id="6" name="arrow 0"/>
          <p:cNvSpPr/>
          <p:nvPr/>
        </p:nvSpPr>
        <p:spPr>
          <a:xfrm>
            <a:off x="2188210" y="1643696"/>
            <a:ext cx="213360" cy="204628"/>
          </a:xfrm>
          <a:prstGeom prst="rightArrow">
            <a:avLst/>
          </a:prstGeom>
          <a:solidFill>
            <a:srgbClr val="0F8D91"/>
          </a:solidFill>
          <a:ln w="12700">
            <a:solidFill>
              <a:srgbClr val="0F8D91"/>
            </a:solidFill>
            <a:prstDash val="solid"/>
          </a:ln>
        </p:spPr>
      </p:sp>
      <p:sp>
        <p:nvSpPr>
          <p:cNvPr id="7" name="flow makemigrations writes the plan"/>
          <p:cNvSpPr/>
          <p:nvPr/>
        </p:nvSpPr>
        <p:spPr>
          <a:xfrm>
            <a:off x="2437130" y="1319702"/>
            <a:ext cx="1786890" cy="852616"/>
          </a:xfrm>
          <a:prstGeom prst="roundRect">
            <a:avLst>
              <a:gd name="adj" fmla="val 10725"/>
            </a:avLst>
          </a:prstGeom>
          <a:solidFill>
            <a:srgbClr val="5DA144"/>
          </a:solidFill>
          <a:ln w="12700">
            <a:solidFill>
              <a:srgbClr val="5DA144"/>
            </a:solidFill>
            <a:prstDash val="solid"/>
          </a:ln>
          <a:effectLst>
            <a:outerShdw sx="100000" sy="100000" kx="0" ky="0" algn="bl" rotWithShape="0" blurRad="76200" dist="25400" dir="5400000">
              <a:srgbClr val="000000">
                <a:alpha val="18000"/>
              </a:srgbClr>
            </a:outerShdw>
          </a:effectLst>
        </p:spPr>
      </p:sp>
      <p:sp>
        <p:nvSpPr>
          <p:cNvPr id="8" name="flow label makemigrations writes the plan"/>
          <p:cNvSpPr txBox="1"/>
          <p:nvPr/>
        </p:nvSpPr>
        <p:spPr>
          <a:xfrm>
            <a:off x="2481580" y="1319702"/>
            <a:ext cx="1697990" cy="852616"/>
          </a:xfrm>
          <a:prstGeom prst="rect">
            <a:avLst/>
          </a:prstGeom>
          <a:noFill/>
          <a:ln/>
        </p:spPr>
        <p:txBody>
          <a:bodyPr wrap="square" lIns="0" tIns="0" rIns="0" bIns="0" rtlCol="0" anchor="ctr"/>
          <a:lstStyle/>
          <a:p>
            <a:pPr algn="ctr" indent="0" marL="0">
              <a:buNone/>
            </a:pPr>
            <a:r>
              <a:rPr lang="en-US" sz="1200" b="1" dirty="0">
                <a:solidFill>
                  <a:srgbClr val="072E47"/>
                </a:solidFill>
              </a:rPr>
              <a:t>makemigrations</a:t>
            </a:r>
            <a:endParaRPr lang="en-US" sz="1200" dirty="0"/>
          </a:p>
          <a:p>
            <a:pPr algn="ctr" indent="0" marL="0">
              <a:buNone/>
            </a:pPr>
            <a:r>
              <a:rPr lang="en-US" sz="1200" b="1" dirty="0">
                <a:solidFill>
                  <a:srgbClr val="072E47"/>
                </a:solidFill>
              </a:rPr>
              <a:t>writes the plan</a:t>
            </a:r>
            <a:endParaRPr lang="en-US" sz="1200" dirty="0"/>
          </a:p>
        </p:txBody>
      </p:sp>
      <p:sp>
        <p:nvSpPr>
          <p:cNvPr id="9" name="arrow 1"/>
          <p:cNvSpPr/>
          <p:nvPr/>
        </p:nvSpPr>
        <p:spPr>
          <a:xfrm>
            <a:off x="4259580" y="1643696"/>
            <a:ext cx="213360" cy="204628"/>
          </a:xfrm>
          <a:prstGeom prst="rightArrow">
            <a:avLst/>
          </a:prstGeom>
          <a:solidFill>
            <a:srgbClr val="0F8D91"/>
          </a:solidFill>
          <a:ln w="12700">
            <a:solidFill>
              <a:srgbClr val="0F8D91"/>
            </a:solidFill>
            <a:prstDash val="solid"/>
          </a:ln>
        </p:spPr>
      </p:sp>
      <p:sp>
        <p:nvSpPr>
          <p:cNvPr id="10" name="flow migrate applies it"/>
          <p:cNvSpPr/>
          <p:nvPr/>
        </p:nvSpPr>
        <p:spPr>
          <a:xfrm>
            <a:off x="4508500" y="1319702"/>
            <a:ext cx="1786890" cy="852616"/>
          </a:xfrm>
          <a:prstGeom prst="roundRect">
            <a:avLst>
              <a:gd name="adj" fmla="val 10725"/>
            </a:avLst>
          </a:prstGeom>
          <a:solidFill>
            <a:srgbClr val="5DA144"/>
          </a:solidFill>
          <a:ln w="12700">
            <a:solidFill>
              <a:srgbClr val="5DA144"/>
            </a:solidFill>
            <a:prstDash val="solid"/>
          </a:ln>
          <a:effectLst>
            <a:outerShdw sx="100000" sy="100000" kx="0" ky="0" algn="bl" rotWithShape="0" blurRad="76200" dist="25400" dir="5400000">
              <a:srgbClr val="000000">
                <a:alpha val="18000"/>
              </a:srgbClr>
            </a:outerShdw>
          </a:effectLst>
        </p:spPr>
      </p:sp>
      <p:sp>
        <p:nvSpPr>
          <p:cNvPr id="11" name="flow label migrate applies it"/>
          <p:cNvSpPr txBox="1"/>
          <p:nvPr/>
        </p:nvSpPr>
        <p:spPr>
          <a:xfrm>
            <a:off x="4552950" y="1319702"/>
            <a:ext cx="1697990" cy="852616"/>
          </a:xfrm>
          <a:prstGeom prst="rect">
            <a:avLst/>
          </a:prstGeom>
          <a:noFill/>
          <a:ln/>
        </p:spPr>
        <p:txBody>
          <a:bodyPr wrap="square" lIns="0" tIns="0" rIns="0" bIns="0" rtlCol="0" anchor="ctr"/>
          <a:lstStyle/>
          <a:p>
            <a:pPr algn="ctr" indent="0" marL="0">
              <a:buNone/>
            </a:pPr>
            <a:r>
              <a:rPr lang="en-US" sz="1200" b="1" dirty="0">
                <a:solidFill>
                  <a:srgbClr val="072E47"/>
                </a:solidFill>
              </a:rPr>
              <a:t>migrate</a:t>
            </a:r>
            <a:endParaRPr lang="en-US" sz="1200" dirty="0"/>
          </a:p>
          <a:p>
            <a:pPr algn="ctr" indent="0" marL="0">
              <a:buNone/>
            </a:pPr>
            <a:r>
              <a:rPr lang="en-US" sz="1200" b="1" dirty="0">
                <a:solidFill>
                  <a:srgbClr val="072E47"/>
                </a:solidFill>
              </a:rPr>
              <a:t>applies it</a:t>
            </a:r>
            <a:endParaRPr lang="en-US" sz="1200" dirty="0"/>
          </a:p>
        </p:txBody>
      </p:sp>
      <p:sp>
        <p:nvSpPr>
          <p:cNvPr id="12" name="arrow 2"/>
          <p:cNvSpPr/>
          <p:nvPr/>
        </p:nvSpPr>
        <p:spPr>
          <a:xfrm>
            <a:off x="6330950" y="1643696"/>
            <a:ext cx="213360" cy="204628"/>
          </a:xfrm>
          <a:prstGeom prst="rightArrow">
            <a:avLst/>
          </a:prstGeom>
          <a:solidFill>
            <a:srgbClr val="0F8D91"/>
          </a:solidFill>
          <a:ln w="12700">
            <a:solidFill>
              <a:srgbClr val="0F8D91"/>
            </a:solidFill>
            <a:prstDash val="solid"/>
          </a:ln>
        </p:spPr>
      </p:sp>
      <p:sp>
        <p:nvSpPr>
          <p:cNvPr id="13" name="flow tables exist in db.sqlite3"/>
          <p:cNvSpPr/>
          <p:nvPr/>
        </p:nvSpPr>
        <p:spPr>
          <a:xfrm>
            <a:off x="6579870" y="1319702"/>
            <a:ext cx="1786890" cy="852616"/>
          </a:xfrm>
          <a:prstGeom prst="roundRect">
            <a:avLst>
              <a:gd name="adj" fmla="val 10725"/>
            </a:avLst>
          </a:prstGeom>
          <a:solidFill>
            <a:srgbClr val="04B1A4"/>
          </a:solidFill>
          <a:ln w="12700">
            <a:solidFill>
              <a:srgbClr val="04B1A4"/>
            </a:solidFill>
            <a:prstDash val="solid"/>
          </a:ln>
          <a:effectLst>
            <a:outerShdw sx="100000" sy="100000" kx="0" ky="0" algn="bl" rotWithShape="0" blurRad="76200" dist="25400" dir="5400000">
              <a:srgbClr val="000000">
                <a:alpha val="18000"/>
              </a:srgbClr>
            </a:outerShdw>
          </a:effectLst>
        </p:spPr>
      </p:sp>
      <p:sp>
        <p:nvSpPr>
          <p:cNvPr id="14" name="flow label tables exist in db.sqlite3"/>
          <p:cNvSpPr txBox="1"/>
          <p:nvPr/>
        </p:nvSpPr>
        <p:spPr>
          <a:xfrm>
            <a:off x="6624320" y="1319702"/>
            <a:ext cx="1697990" cy="852616"/>
          </a:xfrm>
          <a:prstGeom prst="rect">
            <a:avLst/>
          </a:prstGeom>
          <a:noFill/>
          <a:ln/>
        </p:spPr>
        <p:txBody>
          <a:bodyPr wrap="square" lIns="0" tIns="0" rIns="0" bIns="0" rtlCol="0" anchor="ctr"/>
          <a:lstStyle/>
          <a:p>
            <a:pPr algn="ctr" indent="0" marL="0">
              <a:buNone/>
            </a:pPr>
            <a:r>
              <a:rPr lang="en-US" sz="1200" b="1" dirty="0">
                <a:solidFill>
                  <a:srgbClr val="072E47"/>
                </a:solidFill>
              </a:rPr>
              <a:t>tables exist</a:t>
            </a:r>
            <a:endParaRPr lang="en-US" sz="1200" dirty="0"/>
          </a:p>
          <a:p>
            <a:pPr algn="ctr" indent="0" marL="0">
              <a:buNone/>
            </a:pPr>
            <a:r>
              <a:rPr lang="en-US" sz="1200" b="1" dirty="0">
                <a:solidFill>
                  <a:srgbClr val="072E47"/>
                </a:solidFill>
              </a:rPr>
              <a:t>in db.sqlite3</a:t>
            </a:r>
            <a:endParaRPr lang="en-US" sz="1200" dirty="0"/>
          </a:p>
        </p:txBody>
      </p:sp>
      <p:sp>
        <p:nvSpPr>
          <p:cNvPr id="15" name="code card"/>
          <p:cNvSpPr/>
          <p:nvPr/>
        </p:nvSpPr>
        <p:spPr>
          <a:xfrm>
            <a:off x="365760" y="2385472"/>
            <a:ext cx="5511800" cy="2003648"/>
          </a:xfrm>
          <a:prstGeom prst="roundRect">
            <a:avLst>
              <a:gd name="adj" fmla="val 5476"/>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16" name="file label"/>
          <p:cNvSpPr/>
          <p:nvPr/>
        </p:nvSpPr>
        <p:spPr>
          <a:xfrm>
            <a:off x="543560" y="2487786"/>
            <a:ext cx="915670" cy="238733"/>
          </a:xfrm>
          <a:prstGeom prst="roundRect">
            <a:avLst>
              <a:gd name="adj" fmla="val 30642"/>
            </a:avLst>
          </a:prstGeom>
          <a:solidFill>
            <a:srgbClr val="F99508"/>
          </a:solidFill>
          <a:ln w="12700">
            <a:solidFill>
              <a:srgbClr val="F99508"/>
            </a:solidFill>
            <a:prstDash val="solid"/>
          </a:ln>
        </p:spPr>
      </p:sp>
      <p:sp>
        <p:nvSpPr>
          <p:cNvPr id="17" name="file label text"/>
          <p:cNvSpPr txBox="1"/>
          <p:nvPr/>
        </p:nvSpPr>
        <p:spPr>
          <a:xfrm>
            <a:off x="543560" y="2487786"/>
            <a:ext cx="91567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terminal</a:t>
            </a:r>
            <a:endParaRPr lang="en-US" sz="1000" dirty="0"/>
          </a:p>
        </p:txBody>
      </p:sp>
      <p:sp>
        <p:nvSpPr>
          <p:cNvPr id="18" name="code"/>
          <p:cNvSpPr txBox="1"/>
          <p:nvPr/>
        </p:nvSpPr>
        <p:spPr>
          <a:xfrm>
            <a:off x="588010" y="2811780"/>
            <a:ext cx="5067300" cy="1449448"/>
          </a:xfrm>
          <a:prstGeom prst="rect">
            <a:avLst/>
          </a:prstGeom>
          <a:noFill/>
          <a:ln/>
        </p:spPr>
        <p:txBody>
          <a:bodyPr wrap="square" lIns="0" tIns="0" rIns="0" bIns="0" rtlCol="0" anchor="t"/>
          <a:lstStyle/>
          <a:p>
            <a:pPr indent="0" marL="0">
              <a:buNone/>
            </a:pPr>
            <a:r>
              <a:rPr lang="en-US" sz="1150" dirty="0">
                <a:solidFill>
                  <a:srgbClr val="F8F8F2"/>
                </a:solidFill>
                <a:latin typeface="Courier New" pitchFamily="34" charset="0"/>
                <a:ea typeface="Courier New" pitchFamily="34" charset="-122"/>
                <a:cs typeface="Courier New" pitchFamily="34" charset="-120"/>
              </a:rPr>
              <a:t>python manage.py makemigrations reviewers</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Migrations for 'reviewers':</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0001_initial.py</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 Create model Reviewer</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 Create model Question</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 Create model Choice</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python manage.py migrate</a:t>
            </a:r>
            <a:endParaRPr lang="en-US" sz="1150" dirty="0"/>
          </a:p>
          <a:p>
            <a:pPr indent="0" marL="0">
              <a:buNone/>
            </a:pPr>
            <a:r>
              <a:rPr lang="en-US" sz="1150" dirty="0">
                <a:solidFill>
                  <a:srgbClr val="9A9B8C"/>
                </a:solidFill>
                <a:latin typeface="Courier New" pitchFamily="34" charset="0"/>
                <a:ea typeface="Courier New" pitchFamily="34" charset="-122"/>
                <a:cs typeface="Courier New" pitchFamily="34" charset="-120"/>
              </a:rPr>
              <a:t># Applying reviewers.0001_initial... OK</a:t>
            </a:r>
            <a:endParaRPr lang="en-US" sz="1150" dirty="0"/>
          </a:p>
        </p:txBody>
      </p:sp>
      <p:sp>
        <p:nvSpPr>
          <p:cNvPr id="19" name="bullets"/>
          <p:cNvSpPr txBox="1"/>
          <p:nvPr/>
        </p:nvSpPr>
        <p:spPr>
          <a:xfrm>
            <a:off x="6055360" y="2428103"/>
            <a:ext cx="2311400" cy="1961017"/>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072E47"/>
                </a:solidFill>
              </a:rPr>
              <a:t>Migrations are saved in reviewers/migrations/</a:t>
            </a:r>
            <a:endParaRPr lang="en-US" sz="1300" dirty="0"/>
          </a:p>
          <a:p>
            <a:pPr marL="342900" indent="-342900">
              <a:spcAft>
                <a:spcPts val="800"/>
              </a:spcAft>
              <a:buSzPct val="100000"/>
              <a:buChar char="•"/>
            </a:pPr>
            <a:r>
              <a:rPr lang="en-US" sz="1300" dirty="0">
                <a:solidFill>
                  <a:srgbClr val="072E47"/>
                </a:solidFill>
              </a:rPr>
              <a:t>They are a history: teammates run migrate and get the same tables</a:t>
            </a:r>
            <a:endParaRPr lang="en-US" sz="1300" dirty="0"/>
          </a:p>
          <a:p>
            <a:pPr marL="342900" indent="-342900">
              <a:spcAft>
                <a:spcPts val="800"/>
              </a:spcAft>
              <a:buSzPct val="100000"/>
              <a:buChar char="•"/>
            </a:pPr>
            <a:r>
              <a:rPr lang="en-US" sz="1300" dirty="0">
                <a:solidFill>
                  <a:srgbClr val="072E47"/>
                </a:solidFill>
              </a:rPr>
              <a:t>Changed a model? Run both commands again</a:t>
            </a:r>
            <a:endParaRPr lang="en-US" sz="13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5 · The free admin site</a:t>
            </a:r>
            <a:endParaRPr lang="en-US" sz="2400" dirty="0"/>
          </a:p>
        </p:txBody>
      </p:sp>
      <p:sp>
        <p:nvSpPr>
          <p:cNvPr id="4" name="code card"/>
          <p:cNvSpPr/>
          <p:nvPr/>
        </p:nvSpPr>
        <p:spPr>
          <a:xfrm>
            <a:off x="365760" y="1234440"/>
            <a:ext cx="4889500" cy="2557849"/>
          </a:xfrm>
          <a:prstGeom prst="roundRect">
            <a:avLst>
              <a:gd name="adj" fmla="val 429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67132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reviewers/admin.py</a:t>
            </a:r>
            <a:endParaRPr lang="en-US" sz="1000" dirty="0"/>
          </a:p>
        </p:txBody>
      </p:sp>
      <p:sp>
        <p:nvSpPr>
          <p:cNvPr id="7" name="code"/>
          <p:cNvSpPr txBox="1"/>
          <p:nvPr/>
        </p:nvSpPr>
        <p:spPr>
          <a:xfrm>
            <a:off x="588010" y="1660748"/>
            <a:ext cx="4445000" cy="2003648"/>
          </a:xfrm>
          <a:prstGeom prst="rect">
            <a:avLst/>
          </a:prstGeom>
          <a:noFill/>
          <a:ln/>
        </p:spPr>
        <p:txBody>
          <a:bodyPr wrap="square" lIns="0" tIns="0" rIns="0" bIns="0" rtlCol="0" anchor="t"/>
          <a:lstStyle/>
          <a:p>
            <a:pPr indent="0" marL="0">
              <a:buNone/>
            </a:pPr>
            <a:r>
              <a:rPr lang="en-US" sz="1150" dirty="0">
                <a:solidFill>
                  <a:srgbClr val="F92672"/>
                </a:solidFill>
                <a:latin typeface="Courier New" pitchFamily="34" charset="0"/>
                <a:ea typeface="Courier New" pitchFamily="34" charset="-122"/>
                <a:cs typeface="Courier New" pitchFamily="34" charset="-120"/>
              </a:rPr>
              <a:t>from</a:t>
            </a:r>
            <a:pPr indent="0" marL="0">
              <a:buNone/>
            </a:pPr>
            <a:r>
              <a:rPr lang="en-US" sz="1150" dirty="0">
                <a:solidFill>
                  <a:srgbClr val="F8F8F2"/>
                </a:solidFill>
                <a:latin typeface="Courier New" pitchFamily="34" charset="0"/>
                <a:ea typeface="Courier New" pitchFamily="34" charset="-122"/>
                <a:cs typeface="Courier New" pitchFamily="34" charset="-120"/>
              </a:rPr>
              <a:t> django</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contrib </a:t>
            </a:r>
            <a:pPr indent="0" marL="0">
              <a:buNone/>
            </a:pPr>
            <a:r>
              <a:rPr lang="en-US" sz="1150" dirty="0">
                <a:solidFill>
                  <a:srgbClr val="F92672"/>
                </a:solidFill>
                <a:latin typeface="Courier New" pitchFamily="34" charset="0"/>
                <a:ea typeface="Courier New" pitchFamily="34" charset="-122"/>
                <a:cs typeface="Courier New" pitchFamily="34" charset="-120"/>
              </a:rPr>
              <a:t>import</a:t>
            </a:r>
            <a:pPr indent="0" marL="0">
              <a:buNone/>
            </a:pPr>
            <a:r>
              <a:rPr lang="en-US" sz="1150" dirty="0">
                <a:solidFill>
                  <a:srgbClr val="F8F8F2"/>
                </a:solidFill>
                <a:latin typeface="Courier New" pitchFamily="34" charset="0"/>
                <a:ea typeface="Courier New" pitchFamily="34" charset="-122"/>
                <a:cs typeface="Courier New" pitchFamily="34" charset="-120"/>
              </a:rPr>
              <a:t> admin</a:t>
            </a:r>
            <a:endParaRPr lang="en-US" sz="1150" dirty="0"/>
          </a:p>
          <a:p>
            <a:pPr indent="0" marL="0">
              <a:buNone/>
            </a:pPr>
            <a:r>
              <a:rPr lang="en-US" sz="1150" dirty="0">
                <a:solidFill>
                  <a:srgbClr val="F92672"/>
                </a:solidFill>
                <a:latin typeface="Courier New" pitchFamily="34" charset="0"/>
                <a:ea typeface="Courier New" pitchFamily="34" charset="-122"/>
                <a:cs typeface="Courier New" pitchFamily="34" charset="-120"/>
              </a:rPr>
              <a:t>from</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models </a:t>
            </a:r>
            <a:pPr indent="0" marL="0">
              <a:buNone/>
            </a:pPr>
            <a:r>
              <a:rPr lang="en-US" sz="1150" dirty="0">
                <a:solidFill>
                  <a:srgbClr val="F92672"/>
                </a:solidFill>
                <a:latin typeface="Courier New" pitchFamily="34" charset="0"/>
                <a:ea typeface="Courier New" pitchFamily="34" charset="-122"/>
                <a:cs typeface="Courier New" pitchFamily="34" charset="-120"/>
              </a:rPr>
              <a:t>import</a:t>
            </a:r>
            <a:pPr indent="0" marL="0">
              <a:buNone/>
            </a:pPr>
            <a:r>
              <a:rPr lang="en-US" sz="1150" dirty="0">
                <a:solidFill>
                  <a:srgbClr val="F8F8F2"/>
                </a:solidFill>
                <a:latin typeface="Courier New" pitchFamily="34" charset="0"/>
                <a:ea typeface="Courier New" pitchFamily="34" charset="-122"/>
                <a:cs typeface="Courier New" pitchFamily="34" charset="-120"/>
              </a:rPr>
              <a:t> Choice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Question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Reviewer</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92672"/>
                </a:solidFill>
                <a:latin typeface="Courier New" pitchFamily="34" charset="0"/>
                <a:ea typeface="Courier New" pitchFamily="34" charset="-122"/>
                <a:cs typeface="Courier New" pitchFamily="34" charset="-120"/>
              </a:rPr>
              <a:t>class</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ChoiceInline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admin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TabularInline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model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Choice</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extra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E81FF"/>
                </a:solidFill>
                <a:latin typeface="Courier New" pitchFamily="34" charset="0"/>
                <a:ea typeface="Courier New" pitchFamily="34" charset="-122"/>
                <a:cs typeface="Courier New" pitchFamily="34" charset="-120"/>
              </a:rPr>
              <a:t>4</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9A9B8C"/>
                </a:solidFill>
                <a:latin typeface="Courier New" pitchFamily="34" charset="0"/>
                <a:ea typeface="Courier New" pitchFamily="34" charset="-122"/>
                <a:cs typeface="Courier New" pitchFamily="34" charset="-120"/>
              </a:rPr>
              <a:t># 4 empty rows to fill</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A6E22E"/>
                </a:solidFill>
                <a:latin typeface="Courier New" pitchFamily="34" charset="0"/>
                <a:ea typeface="Courier New" pitchFamily="34" charset="-122"/>
                <a:cs typeface="Courier New" pitchFamily="34" charset="-120"/>
              </a:rPr>
              <a:t>@admin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A6E22E"/>
                </a:solidFill>
                <a:latin typeface="Courier New" pitchFamily="34" charset="0"/>
                <a:ea typeface="Courier New" pitchFamily="34" charset="-122"/>
                <a:cs typeface="Courier New" pitchFamily="34" charset="-120"/>
              </a:rPr>
              <a:t>register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Question</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92672"/>
                </a:solidFill>
                <a:latin typeface="Courier New" pitchFamily="34" charset="0"/>
                <a:ea typeface="Courier New" pitchFamily="34" charset="-122"/>
                <a:cs typeface="Courier New" pitchFamily="34" charset="-120"/>
              </a:rPr>
              <a:t>class</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QuestionAdmin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admin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ModelAdmin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inlines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ChoiceInline</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admin</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site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register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Reviewer</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p:txBody>
      </p:sp>
      <p:sp>
        <p:nvSpPr>
          <p:cNvPr id="8" name="code card"/>
          <p:cNvSpPr/>
          <p:nvPr/>
        </p:nvSpPr>
        <p:spPr>
          <a:xfrm>
            <a:off x="5433060" y="1234440"/>
            <a:ext cx="2933700" cy="1278924"/>
          </a:xfrm>
          <a:prstGeom prst="roundRect">
            <a:avLst>
              <a:gd name="adj" fmla="val 858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9" name="file label"/>
          <p:cNvSpPr/>
          <p:nvPr/>
        </p:nvSpPr>
        <p:spPr>
          <a:xfrm>
            <a:off x="5610860" y="1336754"/>
            <a:ext cx="915670" cy="238733"/>
          </a:xfrm>
          <a:prstGeom prst="roundRect">
            <a:avLst>
              <a:gd name="adj" fmla="val 30642"/>
            </a:avLst>
          </a:prstGeom>
          <a:solidFill>
            <a:srgbClr val="F99508"/>
          </a:solidFill>
          <a:ln w="12700">
            <a:solidFill>
              <a:srgbClr val="F99508"/>
            </a:solidFill>
            <a:prstDash val="solid"/>
          </a:ln>
        </p:spPr>
      </p:sp>
      <p:sp>
        <p:nvSpPr>
          <p:cNvPr id="10" name="file label text"/>
          <p:cNvSpPr txBox="1"/>
          <p:nvPr/>
        </p:nvSpPr>
        <p:spPr>
          <a:xfrm>
            <a:off x="5610860" y="1336754"/>
            <a:ext cx="91567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terminal</a:t>
            </a:r>
            <a:endParaRPr lang="en-US" sz="1000" dirty="0"/>
          </a:p>
        </p:txBody>
      </p:sp>
      <p:sp>
        <p:nvSpPr>
          <p:cNvPr id="11" name="code"/>
          <p:cNvSpPr txBox="1"/>
          <p:nvPr/>
        </p:nvSpPr>
        <p:spPr>
          <a:xfrm>
            <a:off x="5655310" y="1660748"/>
            <a:ext cx="2489200" cy="724724"/>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python manage.py </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createsuperuser</a:t>
            </a:r>
            <a:endParaRPr lang="en-US" sz="1200" dirty="0"/>
          </a:p>
          <a:p>
            <a:pPr indent="0" marL="0">
              <a:buNone/>
            </a:pPr>
            <a:r>
              <a:rPr lang="en-US" sz="1200" dirty="0">
                <a:solidFill>
                  <a:srgbClr val="9A9B8C"/>
                </a:solidFill>
                <a:latin typeface="Courier New" pitchFamily="34" charset="0"/>
                <a:ea typeface="Courier New" pitchFamily="34" charset="-122"/>
                <a:cs typeface="Courier New" pitchFamily="34" charset="-120"/>
              </a:rPr>
              <a:t># then open /admin/</a:t>
            </a:r>
            <a:endParaRPr lang="en-US" sz="1200" dirty="0"/>
          </a:p>
        </p:txBody>
      </p:sp>
      <p:sp>
        <p:nvSpPr>
          <p:cNvPr id="12" name="card Try it now"/>
          <p:cNvSpPr/>
          <p:nvPr/>
        </p:nvSpPr>
        <p:spPr>
          <a:xfrm>
            <a:off x="5433060" y="2641257"/>
            <a:ext cx="2933700" cy="1151032"/>
          </a:xfrm>
          <a:prstGeom prst="roundRect">
            <a:avLst>
              <a:gd name="adj" fmla="val 9533"/>
            </a:avLst>
          </a:prstGeom>
          <a:solidFill>
            <a:srgbClr val="FFFFFF"/>
          </a:solidFill>
          <a:ln w="12700">
            <a:solidFill>
              <a:srgbClr val="FFFFFF"/>
            </a:solidFill>
            <a:prstDash val="solid"/>
          </a:ln>
        </p:spPr>
      </p:sp>
      <p:sp>
        <p:nvSpPr>
          <p:cNvPr id="13" name="card title Try it now"/>
          <p:cNvSpPr txBox="1"/>
          <p:nvPr/>
        </p:nvSpPr>
        <p:spPr>
          <a:xfrm>
            <a:off x="5610860" y="2769149"/>
            <a:ext cx="2578100" cy="341046"/>
          </a:xfrm>
          <a:prstGeom prst="rect">
            <a:avLst/>
          </a:prstGeom>
          <a:noFill/>
          <a:ln/>
        </p:spPr>
        <p:txBody>
          <a:bodyPr wrap="square" lIns="0" tIns="0" rIns="0" bIns="0" rtlCol="0" anchor="ctr"/>
          <a:lstStyle/>
          <a:p>
            <a:pPr indent="0" marL="0">
              <a:buNone/>
            </a:pPr>
            <a:r>
              <a:rPr lang="en-US" sz="1400" b="1" dirty="0">
                <a:solidFill>
                  <a:srgbClr val="072E47"/>
                </a:solidFill>
              </a:rPr>
              <a:t>Try it now</a:t>
            </a:r>
            <a:endParaRPr lang="en-US" sz="1400" dirty="0"/>
          </a:p>
        </p:txBody>
      </p:sp>
      <p:sp>
        <p:nvSpPr>
          <p:cNvPr id="14" name="card body Try it now"/>
          <p:cNvSpPr txBox="1"/>
          <p:nvPr/>
        </p:nvSpPr>
        <p:spPr>
          <a:xfrm>
            <a:off x="5610860" y="3152826"/>
            <a:ext cx="2578100" cy="511570"/>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Create a reviewer, add a multiple-choice question with 4 choices, tick the correct one.</a:t>
            </a:r>
            <a:endParaRPr lang="en-US" sz="1300" dirty="0"/>
          </a:p>
        </p:txBody>
      </p:sp>
      <p:sp>
        <p:nvSpPr>
          <p:cNvPr id="15" name="tip"/>
          <p:cNvSpPr/>
          <p:nvPr/>
        </p:nvSpPr>
        <p:spPr>
          <a:xfrm>
            <a:off x="365760" y="3920181"/>
            <a:ext cx="8001000" cy="468939"/>
          </a:xfrm>
          <a:prstGeom prst="roundRect">
            <a:avLst>
              <a:gd name="adj" fmla="val 19499"/>
            </a:avLst>
          </a:prstGeom>
          <a:solidFill>
            <a:srgbClr val="FFFFFF"/>
          </a:solidFill>
          <a:ln w="12700">
            <a:solidFill>
              <a:srgbClr val="FFFFFF"/>
            </a:solidFill>
            <a:prstDash val="solid"/>
          </a:ln>
        </p:spPr>
      </p:sp>
      <p:sp>
        <p:nvSpPr>
          <p:cNvPr id="16" name="tip dot"/>
          <p:cNvSpPr/>
          <p:nvPr/>
        </p:nvSpPr>
        <p:spPr>
          <a:xfrm>
            <a:off x="499110" y="4026758"/>
            <a:ext cx="266700" cy="255785"/>
          </a:xfrm>
          <a:prstGeom prst="ellipse">
            <a:avLst/>
          </a:prstGeom>
          <a:solidFill>
            <a:srgbClr val="04B1A4"/>
          </a:solidFill>
          <a:ln w="12700">
            <a:solidFill>
              <a:srgbClr val="04B1A4"/>
            </a:solidFill>
            <a:prstDash val="solid"/>
          </a:ln>
        </p:spPr>
      </p:sp>
      <p:sp>
        <p:nvSpPr>
          <p:cNvPr id="17" name="tip mark"/>
          <p:cNvSpPr txBox="1"/>
          <p:nvPr/>
        </p:nvSpPr>
        <p:spPr>
          <a:xfrm>
            <a:off x="499110" y="4026758"/>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18" name="tip text"/>
          <p:cNvSpPr txBox="1"/>
          <p:nvPr/>
        </p:nvSpPr>
        <p:spPr>
          <a:xfrm>
            <a:off x="899160" y="3920181"/>
            <a:ext cx="7334250" cy="468939"/>
          </a:xfrm>
          <a:prstGeom prst="rect">
            <a:avLst/>
          </a:prstGeom>
          <a:noFill/>
          <a:ln/>
        </p:spPr>
        <p:txBody>
          <a:bodyPr wrap="square" lIns="0" tIns="0" rIns="0" bIns="0" rtlCol="0" anchor="ctr"/>
          <a:lstStyle/>
          <a:p>
            <a:pPr indent="0" marL="0">
              <a:buNone/>
            </a:pPr>
            <a:r>
              <a:rPr lang="en-US" sz="1200" dirty="0">
                <a:solidFill>
                  <a:srgbClr val="072E47"/>
                </a:solidFill>
              </a:rPr>
              <a:t>Zero HTML written and we can already put real data in. Django built those pages from our models.</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6 · URLs: the menu of addresses</a:t>
            </a:r>
            <a:endParaRPr lang="en-US" sz="2400" dirty="0"/>
          </a:p>
        </p:txBody>
      </p:sp>
      <p:sp>
        <p:nvSpPr>
          <p:cNvPr id="4" name="code card"/>
          <p:cNvSpPr/>
          <p:nvPr/>
        </p:nvSpPr>
        <p:spPr>
          <a:xfrm>
            <a:off x="365760" y="1234440"/>
            <a:ext cx="4089400" cy="1321555"/>
          </a:xfrm>
          <a:prstGeom prst="roundRect">
            <a:avLst>
              <a:gd name="adj" fmla="val 8303"/>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36906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36906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config/urls.py</a:t>
            </a:r>
            <a:endParaRPr lang="en-US" sz="1000" dirty="0"/>
          </a:p>
        </p:txBody>
      </p:sp>
      <p:sp>
        <p:nvSpPr>
          <p:cNvPr id="7" name="code"/>
          <p:cNvSpPr txBox="1"/>
          <p:nvPr/>
        </p:nvSpPr>
        <p:spPr>
          <a:xfrm>
            <a:off x="588010" y="1660748"/>
            <a:ext cx="3644900" cy="767355"/>
          </a:xfrm>
          <a:prstGeom prst="rect">
            <a:avLst/>
          </a:prstGeom>
          <a:noFill/>
          <a:ln/>
        </p:spPr>
        <p:txBody>
          <a:bodyPr wrap="square" lIns="0" tIns="0" rIns="0" bIns="0" rtlCol="0" anchor="t"/>
          <a:lstStyle/>
          <a:p>
            <a:pPr indent="0" marL="0">
              <a:buNone/>
            </a:pPr>
            <a:r>
              <a:rPr lang="en-US" sz="1100" dirty="0">
                <a:solidFill>
                  <a:srgbClr val="F8F8F2"/>
                </a:solidFill>
                <a:latin typeface="Courier New" pitchFamily="34" charset="0"/>
                <a:ea typeface="Courier New" pitchFamily="34" charset="-122"/>
                <a:cs typeface="Courier New" pitchFamily="34" charset="-120"/>
              </a:rPr>
              <a:t>urlpatterns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path</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"admin/"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admin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site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urls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path</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include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"reviewers.urls"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8" name="code card"/>
          <p:cNvSpPr/>
          <p:nvPr/>
        </p:nvSpPr>
        <p:spPr>
          <a:xfrm>
            <a:off x="365760" y="2641257"/>
            <a:ext cx="4089400" cy="1790494"/>
          </a:xfrm>
          <a:prstGeom prst="roundRect">
            <a:avLst>
              <a:gd name="adj" fmla="val 612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9" name="file label"/>
          <p:cNvSpPr/>
          <p:nvPr/>
        </p:nvSpPr>
        <p:spPr>
          <a:xfrm>
            <a:off x="543560" y="2743571"/>
            <a:ext cx="1595755" cy="238733"/>
          </a:xfrm>
          <a:prstGeom prst="roundRect">
            <a:avLst>
              <a:gd name="adj" fmla="val 30642"/>
            </a:avLst>
          </a:prstGeom>
          <a:solidFill>
            <a:srgbClr val="F99508"/>
          </a:solidFill>
          <a:ln w="12700">
            <a:solidFill>
              <a:srgbClr val="F99508"/>
            </a:solidFill>
            <a:prstDash val="solid"/>
          </a:ln>
        </p:spPr>
      </p:sp>
      <p:sp>
        <p:nvSpPr>
          <p:cNvPr id="10" name="file label text"/>
          <p:cNvSpPr txBox="1"/>
          <p:nvPr/>
        </p:nvSpPr>
        <p:spPr>
          <a:xfrm>
            <a:off x="543560" y="2743571"/>
            <a:ext cx="159575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reviewers/urls.py</a:t>
            </a:r>
            <a:endParaRPr lang="en-US" sz="1000" dirty="0"/>
          </a:p>
        </p:txBody>
      </p:sp>
      <p:sp>
        <p:nvSpPr>
          <p:cNvPr id="11" name="code"/>
          <p:cNvSpPr txBox="1"/>
          <p:nvPr/>
        </p:nvSpPr>
        <p:spPr>
          <a:xfrm>
            <a:off x="588010" y="3067565"/>
            <a:ext cx="3644900" cy="1236294"/>
          </a:xfrm>
          <a:prstGeom prst="rect">
            <a:avLst/>
          </a:prstGeom>
          <a:noFill/>
          <a:ln/>
        </p:spPr>
        <p:txBody>
          <a:bodyPr wrap="square" lIns="0" tIns="0" rIns="0" bIns="0" rtlCol="0" anchor="t"/>
          <a:lstStyle/>
          <a:p>
            <a:pPr indent="0" marL="0">
              <a:buNone/>
            </a:pPr>
            <a:r>
              <a:rPr lang="en-US" sz="1100" dirty="0">
                <a:solidFill>
                  <a:srgbClr val="F8F8F2"/>
                </a:solidFill>
                <a:latin typeface="Courier New" pitchFamily="34" charset="0"/>
                <a:ea typeface="Courier New" pitchFamily="34" charset="-122"/>
                <a:cs typeface="Courier New" pitchFamily="34" charset="-120"/>
              </a:rPr>
              <a:t>app_name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"reviewers"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urlpatterns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path</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views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reviewer_list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name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"list"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path</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"reviewer/&lt;slug:slug&gt;/"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views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take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name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"take"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12" name="badge 1"/>
          <p:cNvSpPr/>
          <p:nvPr/>
        </p:nvSpPr>
        <p:spPr>
          <a:xfrm>
            <a:off x="4721860" y="1277071"/>
            <a:ext cx="400050" cy="383677"/>
          </a:xfrm>
          <a:prstGeom prst="ellipse">
            <a:avLst/>
          </a:prstGeom>
          <a:solidFill>
            <a:srgbClr val="5DA144"/>
          </a:solidFill>
          <a:ln w="12700">
            <a:solidFill>
              <a:srgbClr val="5DA144"/>
            </a:solidFill>
            <a:prstDash val="solid"/>
          </a:ln>
        </p:spPr>
      </p:sp>
      <p:sp>
        <p:nvSpPr>
          <p:cNvPr id="13" name="badge 1 text"/>
          <p:cNvSpPr txBox="1"/>
          <p:nvPr/>
        </p:nvSpPr>
        <p:spPr>
          <a:xfrm>
            <a:off x="4721860" y="1277071"/>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4" name="step 1"/>
          <p:cNvSpPr txBox="1"/>
          <p:nvPr/>
        </p:nvSpPr>
        <p:spPr>
          <a:xfrm>
            <a:off x="5255260" y="1234440"/>
            <a:ext cx="3111500" cy="724724"/>
          </a:xfrm>
          <a:prstGeom prst="rect">
            <a:avLst/>
          </a:prstGeom>
          <a:noFill/>
          <a:ln/>
        </p:spPr>
        <p:txBody>
          <a:bodyPr wrap="square" lIns="0" tIns="0" rIns="0" bIns="0" rtlCol="0" anchor="t"/>
          <a:lstStyle/>
          <a:p>
            <a:pPr indent="0" marL="0">
              <a:buNone/>
            </a:pPr>
            <a:r>
              <a:rPr lang="en-US" sz="1500" b="1" dirty="0">
                <a:solidFill>
                  <a:srgbClr val="000000"/>
                </a:solidFill>
              </a:rPr>
              <a:t>path("pattern", view, name=)</a:t>
            </a:r>
            <a:endParaRPr lang="en-US" sz="1500" dirty="0"/>
          </a:p>
          <a:p>
            <a:pPr indent="0" marL="0">
              <a:buNone/>
            </a:pPr>
            <a:r>
              <a:rPr lang="en-US" sz="1300" dirty="0">
                <a:solidFill>
                  <a:srgbClr val="0F8D91"/>
                </a:solidFill>
              </a:rPr>
              <a:t>When the address matches, call this view.</a:t>
            </a:r>
            <a:endParaRPr lang="en-US" sz="1500" dirty="0"/>
          </a:p>
        </p:txBody>
      </p:sp>
      <p:sp>
        <p:nvSpPr>
          <p:cNvPr id="15" name="badge 2"/>
          <p:cNvSpPr/>
          <p:nvPr/>
        </p:nvSpPr>
        <p:spPr>
          <a:xfrm>
            <a:off x="4721860" y="2087056"/>
            <a:ext cx="400050" cy="383677"/>
          </a:xfrm>
          <a:prstGeom prst="ellipse">
            <a:avLst/>
          </a:prstGeom>
          <a:solidFill>
            <a:srgbClr val="5DA144"/>
          </a:solidFill>
          <a:ln w="12700">
            <a:solidFill>
              <a:srgbClr val="5DA144"/>
            </a:solidFill>
            <a:prstDash val="solid"/>
          </a:ln>
        </p:spPr>
      </p:sp>
      <p:sp>
        <p:nvSpPr>
          <p:cNvPr id="16" name="badge 2 text"/>
          <p:cNvSpPr txBox="1"/>
          <p:nvPr/>
        </p:nvSpPr>
        <p:spPr>
          <a:xfrm>
            <a:off x="4721860" y="2087056"/>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7" name="step 2"/>
          <p:cNvSpPr txBox="1"/>
          <p:nvPr/>
        </p:nvSpPr>
        <p:spPr>
          <a:xfrm>
            <a:off x="5255260" y="2044425"/>
            <a:ext cx="3111500" cy="724724"/>
          </a:xfrm>
          <a:prstGeom prst="rect">
            <a:avLst/>
          </a:prstGeom>
          <a:noFill/>
          <a:ln/>
        </p:spPr>
        <p:txBody>
          <a:bodyPr wrap="square" lIns="0" tIns="0" rIns="0" bIns="0" rtlCol="0" anchor="t"/>
          <a:lstStyle/>
          <a:p>
            <a:pPr indent="0" marL="0">
              <a:buNone/>
            </a:pPr>
            <a:r>
              <a:rPr lang="en-US" sz="1500" b="1" dirty="0">
                <a:solidFill>
                  <a:srgbClr val="000000"/>
                </a:solidFill>
              </a:rPr>
              <a:t>&lt;slug:slug&gt;</a:t>
            </a:r>
            <a:endParaRPr lang="en-US" sz="1500" dirty="0"/>
          </a:p>
          <a:p>
            <a:pPr indent="0" marL="0">
              <a:buNone/>
            </a:pPr>
            <a:r>
              <a:rPr lang="en-US" sz="1300" dirty="0">
                <a:solidFill>
                  <a:srgbClr val="0F8D91"/>
                </a:solidFill>
              </a:rPr>
              <a:t>A blank to fill: /reviewer/python-basics/ sends slug="python-basics".</a:t>
            </a:r>
            <a:endParaRPr lang="en-US" sz="1500" dirty="0"/>
          </a:p>
        </p:txBody>
      </p:sp>
      <p:sp>
        <p:nvSpPr>
          <p:cNvPr id="18" name="badge 3"/>
          <p:cNvSpPr/>
          <p:nvPr/>
        </p:nvSpPr>
        <p:spPr>
          <a:xfrm>
            <a:off x="4721860" y="2897042"/>
            <a:ext cx="400050" cy="383677"/>
          </a:xfrm>
          <a:prstGeom prst="ellipse">
            <a:avLst/>
          </a:prstGeom>
          <a:solidFill>
            <a:srgbClr val="5DA144"/>
          </a:solidFill>
          <a:ln w="12700">
            <a:solidFill>
              <a:srgbClr val="5DA144"/>
            </a:solidFill>
            <a:prstDash val="solid"/>
          </a:ln>
        </p:spPr>
      </p:sp>
      <p:sp>
        <p:nvSpPr>
          <p:cNvPr id="19" name="badge 3 text"/>
          <p:cNvSpPr txBox="1"/>
          <p:nvPr/>
        </p:nvSpPr>
        <p:spPr>
          <a:xfrm>
            <a:off x="4721860" y="2897042"/>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0" name="step 3"/>
          <p:cNvSpPr txBox="1"/>
          <p:nvPr/>
        </p:nvSpPr>
        <p:spPr>
          <a:xfrm>
            <a:off x="5255260" y="2854411"/>
            <a:ext cx="3111500" cy="724724"/>
          </a:xfrm>
          <a:prstGeom prst="rect">
            <a:avLst/>
          </a:prstGeom>
          <a:noFill/>
          <a:ln/>
        </p:spPr>
        <p:txBody>
          <a:bodyPr wrap="square" lIns="0" tIns="0" rIns="0" bIns="0" rtlCol="0" anchor="t"/>
          <a:lstStyle/>
          <a:p>
            <a:pPr indent="0" marL="0">
              <a:buNone/>
            </a:pPr>
            <a:r>
              <a:rPr lang="en-US" sz="1500" b="1" dirty="0">
                <a:solidFill>
                  <a:srgbClr val="000000"/>
                </a:solidFill>
              </a:rPr>
              <a:t>include()</a:t>
            </a:r>
            <a:endParaRPr lang="en-US" sz="1500" dirty="0"/>
          </a:p>
          <a:p>
            <a:pPr indent="0" marL="0">
              <a:buNone/>
            </a:pPr>
            <a:r>
              <a:rPr lang="en-US" sz="1300" dirty="0">
                <a:solidFill>
                  <a:srgbClr val="0F8D91"/>
                </a:solidFill>
              </a:rPr>
              <a:t>'For the rest, look in the app's own urls.py'.</a:t>
            </a:r>
            <a:endParaRPr lang="en-US" sz="1500" dirty="0"/>
          </a:p>
        </p:txBody>
      </p:sp>
      <p:sp>
        <p:nvSpPr>
          <p:cNvPr id="21" name="badge 4"/>
          <p:cNvSpPr/>
          <p:nvPr/>
        </p:nvSpPr>
        <p:spPr>
          <a:xfrm>
            <a:off x="4721860" y="3707027"/>
            <a:ext cx="400050" cy="383677"/>
          </a:xfrm>
          <a:prstGeom prst="ellipse">
            <a:avLst/>
          </a:prstGeom>
          <a:solidFill>
            <a:srgbClr val="5DA144"/>
          </a:solidFill>
          <a:ln w="12700">
            <a:solidFill>
              <a:srgbClr val="5DA144"/>
            </a:solidFill>
            <a:prstDash val="solid"/>
          </a:ln>
        </p:spPr>
      </p:sp>
      <p:sp>
        <p:nvSpPr>
          <p:cNvPr id="22" name="badge 4 text"/>
          <p:cNvSpPr txBox="1"/>
          <p:nvPr/>
        </p:nvSpPr>
        <p:spPr>
          <a:xfrm>
            <a:off x="4721860" y="3707027"/>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3" name="step 4"/>
          <p:cNvSpPr txBox="1"/>
          <p:nvPr/>
        </p:nvSpPr>
        <p:spPr>
          <a:xfrm>
            <a:off x="5255260" y="3664396"/>
            <a:ext cx="3111500" cy="724724"/>
          </a:xfrm>
          <a:prstGeom prst="rect">
            <a:avLst/>
          </a:prstGeom>
          <a:noFill/>
          <a:ln/>
        </p:spPr>
        <p:txBody>
          <a:bodyPr wrap="square" lIns="0" tIns="0" rIns="0" bIns="0" rtlCol="0" anchor="t"/>
          <a:lstStyle/>
          <a:p>
            <a:pPr indent="0" marL="0">
              <a:buNone/>
            </a:pPr>
            <a:r>
              <a:rPr lang="en-US" sz="1500" b="1" dirty="0">
                <a:solidFill>
                  <a:srgbClr val="000000"/>
                </a:solidFill>
              </a:rPr>
              <a:t>name="take"</a:t>
            </a:r>
            <a:endParaRPr lang="en-US" sz="1500" dirty="0"/>
          </a:p>
          <a:p>
            <a:pPr indent="0" marL="0">
              <a:buNone/>
            </a:pPr>
            <a:r>
              <a:rPr lang="en-US" sz="1300" dirty="0">
                <a:solidFill>
                  <a:srgbClr val="0F8D91"/>
                </a:solidFill>
              </a:rPr>
              <a:t>Templates use {% url %} with this name, so paths can change safely.</a:t>
            </a:r>
            <a:endParaRPr lang="en-US" sz="15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7 · Views: a function per page</a:t>
            </a:r>
            <a:endParaRPr lang="en-US" sz="2400" dirty="0"/>
          </a:p>
        </p:txBody>
      </p:sp>
      <p:sp>
        <p:nvSpPr>
          <p:cNvPr id="4" name="code card"/>
          <p:cNvSpPr/>
          <p:nvPr/>
        </p:nvSpPr>
        <p:spPr>
          <a:xfrm>
            <a:off x="365760" y="1234440"/>
            <a:ext cx="5511800" cy="2898895"/>
          </a:xfrm>
          <a:prstGeom prst="roundRect">
            <a:avLst>
              <a:gd name="adj" fmla="val 3785"/>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67132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reviewers/views.py</a:t>
            </a:r>
            <a:endParaRPr lang="en-US" sz="1000" dirty="0"/>
          </a:p>
        </p:txBody>
      </p:sp>
      <p:sp>
        <p:nvSpPr>
          <p:cNvPr id="7" name="code"/>
          <p:cNvSpPr txBox="1"/>
          <p:nvPr/>
        </p:nvSpPr>
        <p:spPr>
          <a:xfrm>
            <a:off x="588010" y="1660748"/>
            <a:ext cx="5067300" cy="2344695"/>
          </a:xfrm>
          <a:prstGeom prst="rect">
            <a:avLst/>
          </a:prstGeom>
          <a:noFill/>
          <a:ln/>
        </p:spPr>
        <p:txBody>
          <a:bodyPr wrap="square" lIns="0" tIns="0" rIns="0" bIns="0" rtlCol="0" anchor="t"/>
          <a:lstStyle/>
          <a:p>
            <a:pPr indent="0" marL="0">
              <a:buNone/>
            </a:pPr>
            <a:r>
              <a:rPr lang="en-US" sz="1150" dirty="0">
                <a:solidFill>
                  <a:srgbClr val="F92672"/>
                </a:solidFill>
                <a:latin typeface="Courier New" pitchFamily="34" charset="0"/>
                <a:ea typeface="Courier New" pitchFamily="34" charset="-122"/>
                <a:cs typeface="Courier New" pitchFamily="34" charset="-120"/>
              </a:rPr>
              <a:t>from</a:t>
            </a:r>
            <a:pPr indent="0" marL="0">
              <a:buNone/>
            </a:pPr>
            <a:r>
              <a:rPr lang="en-US" sz="1150" dirty="0">
                <a:solidFill>
                  <a:srgbClr val="F8F8F2"/>
                </a:solidFill>
                <a:latin typeface="Courier New" pitchFamily="34" charset="0"/>
                <a:ea typeface="Courier New" pitchFamily="34" charset="-122"/>
                <a:cs typeface="Courier New" pitchFamily="34" charset="-120"/>
              </a:rPr>
              <a:t> django</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shortcuts </a:t>
            </a:r>
            <a:pPr indent="0" marL="0">
              <a:buNone/>
            </a:pPr>
            <a:r>
              <a:rPr lang="en-US" sz="1150" dirty="0">
                <a:solidFill>
                  <a:srgbClr val="F92672"/>
                </a:solidFill>
                <a:latin typeface="Courier New" pitchFamily="34" charset="0"/>
                <a:ea typeface="Courier New" pitchFamily="34" charset="-122"/>
                <a:cs typeface="Courier New" pitchFamily="34" charset="-120"/>
              </a:rPr>
              <a:t>import</a:t>
            </a:r>
            <a:pPr indent="0" marL="0">
              <a:buNone/>
            </a:pPr>
            <a:r>
              <a:rPr lang="en-US" sz="1150" dirty="0">
                <a:solidFill>
                  <a:srgbClr val="F8F8F2"/>
                </a:solidFill>
                <a:latin typeface="Courier New" pitchFamily="34" charset="0"/>
                <a:ea typeface="Courier New" pitchFamily="34" charset="-122"/>
                <a:cs typeface="Courier New" pitchFamily="34" charset="-120"/>
              </a:rPr>
              <a:t> render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get_object_or_404</a:t>
            </a:r>
            <a:endParaRPr lang="en-US" sz="1150" dirty="0"/>
          </a:p>
          <a:p>
            <a:pPr indent="0" marL="0">
              <a:buNone/>
            </a:pPr>
            <a:r>
              <a:rPr lang="en-US" sz="1150" dirty="0">
                <a:solidFill>
                  <a:srgbClr val="F92672"/>
                </a:solidFill>
                <a:latin typeface="Courier New" pitchFamily="34" charset="0"/>
                <a:ea typeface="Courier New" pitchFamily="34" charset="-122"/>
                <a:cs typeface="Courier New" pitchFamily="34" charset="-120"/>
              </a:rPr>
              <a:t>from</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models </a:t>
            </a:r>
            <a:pPr indent="0" marL="0">
              <a:buNone/>
            </a:pPr>
            <a:r>
              <a:rPr lang="en-US" sz="1150" dirty="0">
                <a:solidFill>
                  <a:srgbClr val="F92672"/>
                </a:solidFill>
                <a:latin typeface="Courier New" pitchFamily="34" charset="0"/>
                <a:ea typeface="Courier New" pitchFamily="34" charset="-122"/>
                <a:cs typeface="Courier New" pitchFamily="34" charset="-120"/>
              </a:rPr>
              <a:t>import</a:t>
            </a:r>
            <a:pPr indent="0" marL="0">
              <a:buNone/>
            </a:pPr>
            <a:r>
              <a:rPr lang="en-US" sz="1150" dirty="0">
                <a:solidFill>
                  <a:srgbClr val="F8F8F2"/>
                </a:solidFill>
                <a:latin typeface="Courier New" pitchFamily="34" charset="0"/>
                <a:ea typeface="Courier New" pitchFamily="34" charset="-122"/>
                <a:cs typeface="Courier New" pitchFamily="34" charset="-120"/>
              </a:rPr>
              <a:t> Reviewer</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92672"/>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reviewer_list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request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"""Home page: every reviewer."""</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reviewers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Reviewer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objects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66D9EF"/>
                </a:solidFill>
                <a:latin typeface="Courier New" pitchFamily="34" charset="0"/>
                <a:ea typeface="Courier New" pitchFamily="34" charset="-122"/>
                <a:cs typeface="Courier New" pitchFamily="34" charset="-120"/>
              </a:rPr>
              <a:t>all</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return</a:t>
            </a:r>
            <a:pPr indent="0" marL="0">
              <a:buNone/>
            </a:pPr>
            <a:r>
              <a:rPr lang="en-US" sz="1150" dirty="0">
                <a:solidFill>
                  <a:srgbClr val="F8F8F2"/>
                </a:solidFill>
                <a:latin typeface="Courier New" pitchFamily="34" charset="0"/>
                <a:ea typeface="Courier New" pitchFamily="34" charset="-122"/>
                <a:cs typeface="Courier New" pitchFamily="34" charset="-120"/>
              </a:rPr>
              <a:t> render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request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"reviewers/reviewer_list.html"</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"reviewers"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reviewers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92672"/>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take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request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slug</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reviewer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get_object_or_404</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Reviewer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slug</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slug</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p:txBody>
      </p:sp>
      <p:sp>
        <p:nvSpPr>
          <p:cNvPr id="8" name="badge 1"/>
          <p:cNvSpPr/>
          <p:nvPr/>
        </p:nvSpPr>
        <p:spPr>
          <a:xfrm>
            <a:off x="6055360" y="1277071"/>
            <a:ext cx="320040" cy="306942"/>
          </a:xfrm>
          <a:prstGeom prst="ellipse">
            <a:avLst/>
          </a:prstGeom>
          <a:solidFill>
            <a:srgbClr val="5DA144"/>
          </a:solidFill>
          <a:ln w="12700">
            <a:solidFill>
              <a:srgbClr val="5DA144"/>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724724"/>
          </a:xfrm>
          <a:prstGeom prst="rect">
            <a:avLst/>
          </a:prstGeom>
          <a:noFill/>
          <a:ln/>
        </p:spPr>
        <p:txBody>
          <a:bodyPr wrap="square" lIns="0" tIns="0" rIns="0" bIns="0" rtlCol="0" anchor="t"/>
          <a:lstStyle/>
          <a:p>
            <a:pPr indent="0" marL="0">
              <a:buNone/>
            </a:pPr>
            <a:r>
              <a:rPr lang="en-US" sz="1200" b="1" dirty="0">
                <a:solidFill>
                  <a:srgbClr val="000000"/>
                </a:solidFill>
              </a:rPr>
              <a:t>request comes in</a:t>
            </a:r>
            <a:endParaRPr lang="en-US" sz="1200" dirty="0"/>
          </a:p>
          <a:p>
            <a:pPr indent="0" marL="0">
              <a:buNone/>
            </a:pPr>
            <a:r>
              <a:rPr lang="en-US" sz="1100" dirty="0">
                <a:solidFill>
                  <a:srgbClr val="0F8D91"/>
                </a:solidFill>
              </a:rPr>
              <a:t>Who asked, which method (GET/POST), what they typed.</a:t>
            </a:r>
            <a:endParaRPr lang="en-US" sz="1200" dirty="0"/>
          </a:p>
        </p:txBody>
      </p:sp>
      <p:sp>
        <p:nvSpPr>
          <p:cNvPr id="11" name="badge 2"/>
          <p:cNvSpPr/>
          <p:nvPr/>
        </p:nvSpPr>
        <p:spPr>
          <a:xfrm>
            <a:off x="6055360" y="2087056"/>
            <a:ext cx="320040" cy="306942"/>
          </a:xfrm>
          <a:prstGeom prst="ellipse">
            <a:avLst/>
          </a:prstGeom>
          <a:solidFill>
            <a:srgbClr val="1B6F86"/>
          </a:solidFill>
          <a:ln w="12700">
            <a:solidFill>
              <a:srgbClr val="1B6F86"/>
            </a:solidFill>
            <a:prstDash val="solid"/>
          </a:ln>
        </p:spPr>
      </p:sp>
      <p:sp>
        <p:nvSpPr>
          <p:cNvPr id="12" name="badge 2 text"/>
          <p:cNvSpPr txBox="1"/>
          <p:nvPr/>
        </p:nvSpPr>
        <p:spPr>
          <a:xfrm>
            <a:off x="6055360" y="2087056"/>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044425"/>
            <a:ext cx="1884680" cy="724724"/>
          </a:xfrm>
          <a:prstGeom prst="rect">
            <a:avLst/>
          </a:prstGeom>
          <a:noFill/>
          <a:ln/>
        </p:spPr>
        <p:txBody>
          <a:bodyPr wrap="square" lIns="0" tIns="0" rIns="0" bIns="0" rtlCol="0" anchor="t"/>
          <a:lstStyle/>
          <a:p>
            <a:pPr indent="0" marL="0">
              <a:buNone/>
            </a:pPr>
            <a:r>
              <a:rPr lang="en-US" sz="1200" b="1" dirty="0">
                <a:solidFill>
                  <a:srgbClr val="000000"/>
                </a:solidFill>
              </a:rPr>
              <a:t>Ask the model</a:t>
            </a:r>
            <a:endParaRPr lang="en-US" sz="1200" dirty="0"/>
          </a:p>
          <a:p>
            <a:pPr indent="0" marL="0">
              <a:buNone/>
            </a:pPr>
            <a:r>
              <a:rPr lang="en-US" sz="1100" dirty="0">
                <a:solidFill>
                  <a:srgbClr val="0F8D91"/>
                </a:solidFill>
              </a:rPr>
              <a:t>Reviewer.objects.all() is Python that becomes SQL for you.</a:t>
            </a:r>
            <a:endParaRPr lang="en-US" sz="1200" dirty="0"/>
          </a:p>
        </p:txBody>
      </p:sp>
      <p:sp>
        <p:nvSpPr>
          <p:cNvPr id="14" name="badge 3"/>
          <p:cNvSpPr/>
          <p:nvPr/>
        </p:nvSpPr>
        <p:spPr>
          <a:xfrm>
            <a:off x="6055360" y="2897042"/>
            <a:ext cx="320040" cy="306942"/>
          </a:xfrm>
          <a:prstGeom prst="ellipse">
            <a:avLst/>
          </a:prstGeom>
          <a:solidFill>
            <a:srgbClr val="F99508"/>
          </a:solidFill>
          <a:ln w="12700">
            <a:solidFill>
              <a:srgbClr val="F99508"/>
            </a:solidFill>
            <a:prstDash val="solid"/>
          </a:ln>
        </p:spPr>
      </p:sp>
      <p:sp>
        <p:nvSpPr>
          <p:cNvPr id="15" name="badge 3 text"/>
          <p:cNvSpPr txBox="1"/>
          <p:nvPr/>
        </p:nvSpPr>
        <p:spPr>
          <a:xfrm>
            <a:off x="6055360" y="2897042"/>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854411"/>
            <a:ext cx="1884680" cy="724724"/>
          </a:xfrm>
          <a:prstGeom prst="rect">
            <a:avLst/>
          </a:prstGeom>
          <a:noFill/>
          <a:ln/>
        </p:spPr>
        <p:txBody>
          <a:bodyPr wrap="square" lIns="0" tIns="0" rIns="0" bIns="0" rtlCol="0" anchor="t"/>
          <a:lstStyle/>
          <a:p>
            <a:pPr indent="0" marL="0">
              <a:buNone/>
            </a:pPr>
            <a:r>
              <a:rPr lang="en-US" sz="1200" b="1" dirty="0">
                <a:solidFill>
                  <a:srgbClr val="000000"/>
                </a:solidFill>
              </a:rPr>
              <a:t>render a template</a:t>
            </a:r>
            <a:endParaRPr lang="en-US" sz="1200" dirty="0"/>
          </a:p>
          <a:p>
            <a:pPr indent="0" marL="0">
              <a:buNone/>
            </a:pPr>
            <a:r>
              <a:rPr lang="en-US" sz="1100" dirty="0">
                <a:solidFill>
                  <a:srgbClr val="0F8D91"/>
                </a:solidFill>
              </a:rPr>
              <a:t>Template + data = HTML response.</a:t>
            </a:r>
            <a:endParaRPr lang="en-US" sz="1200" dirty="0"/>
          </a:p>
        </p:txBody>
      </p:sp>
      <p:sp>
        <p:nvSpPr>
          <p:cNvPr id="17" name="tip"/>
          <p:cNvSpPr/>
          <p:nvPr/>
        </p:nvSpPr>
        <p:spPr>
          <a:xfrm>
            <a:off x="365760" y="4218597"/>
            <a:ext cx="8001000" cy="323994"/>
          </a:xfrm>
          <a:prstGeom prst="roundRect">
            <a:avLst>
              <a:gd name="adj" fmla="val 28223"/>
            </a:avLst>
          </a:prstGeom>
          <a:solidFill>
            <a:srgbClr val="FFFFFF"/>
          </a:solidFill>
          <a:ln w="12700">
            <a:solidFill>
              <a:srgbClr val="FFFFFF"/>
            </a:solidFill>
            <a:prstDash val="solid"/>
          </a:ln>
        </p:spPr>
      </p:sp>
      <p:sp>
        <p:nvSpPr>
          <p:cNvPr id="18" name="tip dot"/>
          <p:cNvSpPr/>
          <p:nvPr/>
        </p:nvSpPr>
        <p:spPr>
          <a:xfrm>
            <a:off x="499110" y="4252701"/>
            <a:ext cx="266700" cy="255785"/>
          </a:xfrm>
          <a:prstGeom prst="ellipse">
            <a:avLst/>
          </a:prstGeom>
          <a:solidFill>
            <a:srgbClr val="04B1A4"/>
          </a:solidFill>
          <a:ln w="12700">
            <a:solidFill>
              <a:srgbClr val="04B1A4"/>
            </a:solidFill>
            <a:prstDash val="solid"/>
          </a:ln>
        </p:spPr>
      </p:sp>
      <p:sp>
        <p:nvSpPr>
          <p:cNvPr id="19" name="tip mark"/>
          <p:cNvSpPr txBox="1"/>
          <p:nvPr/>
        </p:nvSpPr>
        <p:spPr>
          <a:xfrm>
            <a:off x="499110" y="4252701"/>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20" name="tip text"/>
          <p:cNvSpPr txBox="1"/>
          <p:nvPr/>
        </p:nvSpPr>
        <p:spPr>
          <a:xfrm>
            <a:off x="899160" y="4218597"/>
            <a:ext cx="7334250" cy="323994"/>
          </a:xfrm>
          <a:prstGeom prst="rect">
            <a:avLst/>
          </a:prstGeom>
          <a:noFill/>
          <a:ln/>
        </p:spPr>
        <p:txBody>
          <a:bodyPr wrap="square" lIns="0" tIns="0" rIns="0" bIns="0" rtlCol="0" anchor="ctr"/>
          <a:lstStyle/>
          <a:p>
            <a:pPr indent="0" marL="0">
              <a:buNone/>
            </a:pPr>
            <a:r>
              <a:rPr lang="en-US" sz="1200" dirty="0">
                <a:solidFill>
                  <a:srgbClr val="072E47"/>
                </a:solidFill>
              </a:rPr>
              <a:t>The dictionary {"reviewers": reviewers} is called the context: the data the template can use.</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8 · Templates: HTML with blanks to fill</a:t>
            </a:r>
            <a:endParaRPr lang="en-US" sz="2400" dirty="0"/>
          </a:p>
        </p:txBody>
      </p:sp>
      <p:sp>
        <p:nvSpPr>
          <p:cNvPr id="4" name="code card"/>
          <p:cNvSpPr/>
          <p:nvPr/>
        </p:nvSpPr>
        <p:spPr>
          <a:xfrm>
            <a:off x="365760" y="1234440"/>
            <a:ext cx="5511800" cy="2984157"/>
          </a:xfrm>
          <a:prstGeom prst="roundRect">
            <a:avLst>
              <a:gd name="adj" fmla="val 3677"/>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318262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31826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templates/reviewers/reviewer_list.html</a:t>
            </a:r>
            <a:endParaRPr lang="en-US" sz="1000" dirty="0"/>
          </a:p>
        </p:txBody>
      </p:sp>
      <p:sp>
        <p:nvSpPr>
          <p:cNvPr id="7" name="code"/>
          <p:cNvSpPr txBox="1"/>
          <p:nvPr/>
        </p:nvSpPr>
        <p:spPr>
          <a:xfrm>
            <a:off x="588010" y="1660748"/>
            <a:ext cx="5067300" cy="2429956"/>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extends</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"base.html"</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block</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content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h1</a:t>
            </a:r>
            <a:pPr indent="0" marL="0">
              <a:buNone/>
            </a:pPr>
            <a:r>
              <a:rPr lang="en-US" sz="1100" dirty="0">
                <a:solidFill>
                  <a:srgbClr val="F92672"/>
                </a:solidFill>
                <a:latin typeface="Courier New" pitchFamily="34" charset="0"/>
                <a:ea typeface="Courier New" pitchFamily="34" charset="-122"/>
                <a:cs typeface="Courier New" pitchFamily="34" charset="-120"/>
              </a:rPr>
              <a:t>&gt;</a:t>
            </a:r>
            <a:pPr indent="0" marL="0">
              <a:buNone/>
            </a:pPr>
            <a:r>
              <a:rPr lang="en-US" sz="1100" dirty="0">
                <a:solidFill>
                  <a:srgbClr val="66D9EF"/>
                </a:solidFill>
                <a:latin typeface="Courier New" pitchFamily="34" charset="0"/>
                <a:ea typeface="Courier New" pitchFamily="34" charset="-122"/>
                <a:cs typeface="Courier New" pitchFamily="34" charset="-120"/>
              </a:rPr>
              <a:t>Reviewers</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h1</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for</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in</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reviewers</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article</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strong</a:t>
            </a:r>
            <a:pPr indent="0" marL="0">
              <a:buNone/>
            </a:pPr>
            <a:r>
              <a:rPr lang="en-US" sz="1100" dirty="0">
                <a:solidFill>
                  <a:srgbClr val="F92672"/>
                </a:solidFill>
                <a:latin typeface="Courier New" pitchFamily="34" charset="0"/>
                <a:ea typeface="Courier New" pitchFamily="34" charset="-122"/>
                <a:cs typeface="Courier New" pitchFamily="34" charset="-120"/>
              </a:rPr>
              <a:t>&gt;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title</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strong</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p</a:t>
            </a:r>
            <a:pPr indent="0" marL="0">
              <a:buNone/>
            </a:pPr>
            <a:r>
              <a:rPr lang="en-US" sz="1100" dirty="0">
                <a:solidFill>
                  <a:srgbClr val="F92672"/>
                </a:solidFill>
                <a:latin typeface="Courier New" pitchFamily="34" charset="0"/>
                <a:ea typeface="Courier New" pitchFamily="34" charset="-122"/>
                <a:cs typeface="Courier New" pitchFamily="34" charset="-120"/>
              </a:rPr>
              <a:t>&gt;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description</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p</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a</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href</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 url 'reviewers:take' reviewer.slug %}"</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Take</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it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a</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article</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endfor</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endblock</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endParaRPr lang="en-US" sz="1100" dirty="0"/>
          </a:p>
        </p:txBody>
      </p:sp>
      <p:sp>
        <p:nvSpPr>
          <p:cNvPr id="8" name="badge 1"/>
          <p:cNvSpPr/>
          <p:nvPr/>
        </p:nvSpPr>
        <p:spPr>
          <a:xfrm>
            <a:off x="6055360" y="1277071"/>
            <a:ext cx="320040" cy="306942"/>
          </a:xfrm>
          <a:prstGeom prst="ellipse">
            <a:avLst/>
          </a:prstGeom>
          <a:solidFill>
            <a:srgbClr val="F99508"/>
          </a:solidFill>
          <a:ln w="12700">
            <a:solidFill>
              <a:srgbClr val="F99508"/>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639462"/>
          </a:xfrm>
          <a:prstGeom prst="rect">
            <a:avLst/>
          </a:prstGeom>
          <a:noFill/>
          <a:ln/>
        </p:spPr>
        <p:txBody>
          <a:bodyPr wrap="square" lIns="0" tIns="0" rIns="0" bIns="0" rtlCol="0" anchor="t"/>
          <a:lstStyle/>
          <a:p>
            <a:pPr indent="0" marL="0">
              <a:buNone/>
            </a:pPr>
            <a:r>
              <a:rPr lang="en-US" sz="1200" b="1" dirty="0">
                <a:solidFill>
                  <a:srgbClr val="000000"/>
                </a:solidFill>
              </a:rPr>
              <a:t>{{ variable }}</a:t>
            </a:r>
            <a:endParaRPr lang="en-US" sz="1200" dirty="0"/>
          </a:p>
          <a:p>
            <a:pPr indent="0" marL="0">
              <a:buNone/>
            </a:pPr>
            <a:r>
              <a:rPr lang="en-US" sz="1100" dirty="0">
                <a:solidFill>
                  <a:srgbClr val="0F8D91"/>
                </a:solidFill>
              </a:rPr>
              <a:t>Print a value from the context.</a:t>
            </a:r>
            <a:endParaRPr lang="en-US" sz="1200" dirty="0"/>
          </a:p>
        </p:txBody>
      </p:sp>
      <p:sp>
        <p:nvSpPr>
          <p:cNvPr id="11" name="badge 2"/>
          <p:cNvSpPr/>
          <p:nvPr/>
        </p:nvSpPr>
        <p:spPr>
          <a:xfrm>
            <a:off x="6055360" y="2001795"/>
            <a:ext cx="320040" cy="306942"/>
          </a:xfrm>
          <a:prstGeom prst="ellipse">
            <a:avLst/>
          </a:prstGeom>
          <a:solidFill>
            <a:srgbClr val="F99508"/>
          </a:solidFill>
          <a:ln w="12700">
            <a:solidFill>
              <a:srgbClr val="F99508"/>
            </a:solidFill>
            <a:prstDash val="solid"/>
          </a:ln>
        </p:spPr>
      </p:sp>
      <p:sp>
        <p:nvSpPr>
          <p:cNvPr id="12" name="badge 2 text"/>
          <p:cNvSpPr txBox="1"/>
          <p:nvPr/>
        </p:nvSpPr>
        <p:spPr>
          <a:xfrm>
            <a:off x="6055360" y="2001795"/>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1959164"/>
            <a:ext cx="1884680" cy="639462"/>
          </a:xfrm>
          <a:prstGeom prst="rect">
            <a:avLst/>
          </a:prstGeom>
          <a:noFill/>
          <a:ln/>
        </p:spPr>
        <p:txBody>
          <a:bodyPr wrap="square" lIns="0" tIns="0" rIns="0" bIns="0" rtlCol="0" anchor="t"/>
          <a:lstStyle/>
          <a:p>
            <a:pPr indent="0" marL="0">
              <a:buNone/>
            </a:pPr>
            <a:r>
              <a:rPr lang="en-US" sz="1200" b="1" dirty="0">
                <a:solidFill>
                  <a:srgbClr val="000000"/>
                </a:solidFill>
              </a:rPr>
              <a:t>{% for %} loop</a:t>
            </a:r>
            <a:endParaRPr lang="en-US" sz="1200" dirty="0"/>
          </a:p>
          <a:p>
            <a:pPr indent="0" marL="0">
              <a:buNone/>
            </a:pPr>
            <a:r>
              <a:rPr lang="en-US" sz="1100" dirty="0">
                <a:solidFill>
                  <a:srgbClr val="0F8D91"/>
                </a:solidFill>
              </a:rPr>
              <a:t>Repeat the HTML inside for each item.</a:t>
            </a:r>
            <a:endParaRPr lang="en-US" sz="1200" dirty="0"/>
          </a:p>
        </p:txBody>
      </p:sp>
      <p:sp>
        <p:nvSpPr>
          <p:cNvPr id="14" name="badge 3"/>
          <p:cNvSpPr/>
          <p:nvPr/>
        </p:nvSpPr>
        <p:spPr>
          <a:xfrm>
            <a:off x="6055360" y="2726518"/>
            <a:ext cx="320040" cy="306942"/>
          </a:xfrm>
          <a:prstGeom prst="ellipse">
            <a:avLst/>
          </a:prstGeom>
          <a:solidFill>
            <a:srgbClr val="F99508"/>
          </a:solidFill>
          <a:ln w="12700">
            <a:solidFill>
              <a:srgbClr val="F99508"/>
            </a:solidFill>
            <a:prstDash val="solid"/>
          </a:ln>
        </p:spPr>
      </p:sp>
      <p:sp>
        <p:nvSpPr>
          <p:cNvPr id="15" name="badge 3 text"/>
          <p:cNvSpPr txBox="1"/>
          <p:nvPr/>
        </p:nvSpPr>
        <p:spPr>
          <a:xfrm>
            <a:off x="6055360" y="2726518"/>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683888"/>
            <a:ext cx="1884680" cy="639462"/>
          </a:xfrm>
          <a:prstGeom prst="rect">
            <a:avLst/>
          </a:prstGeom>
          <a:noFill/>
          <a:ln/>
        </p:spPr>
        <p:txBody>
          <a:bodyPr wrap="square" lIns="0" tIns="0" rIns="0" bIns="0" rtlCol="0" anchor="t"/>
          <a:lstStyle/>
          <a:p>
            <a:pPr indent="0" marL="0">
              <a:buNone/>
            </a:pPr>
            <a:r>
              <a:rPr lang="en-US" sz="1200" b="1" dirty="0">
                <a:solidFill>
                  <a:srgbClr val="000000"/>
                </a:solidFill>
              </a:rPr>
              <a:t>extends + block</a:t>
            </a:r>
            <a:endParaRPr lang="en-US" sz="1200" dirty="0"/>
          </a:p>
          <a:p>
            <a:pPr indent="0" marL="0">
              <a:buNone/>
            </a:pPr>
            <a:r>
              <a:rPr lang="en-US" sz="1100" dirty="0">
                <a:solidFill>
                  <a:srgbClr val="0F8D91"/>
                </a:solidFill>
              </a:rPr>
              <a:t>base.html holds the &lt;head&gt;, nav and styles once.</a:t>
            </a:r>
            <a:endParaRPr lang="en-US" sz="1200" dirty="0"/>
          </a:p>
        </p:txBody>
      </p:sp>
      <p:sp>
        <p:nvSpPr>
          <p:cNvPr id="17" name="badge 4"/>
          <p:cNvSpPr/>
          <p:nvPr/>
        </p:nvSpPr>
        <p:spPr>
          <a:xfrm>
            <a:off x="6055360" y="3451242"/>
            <a:ext cx="320040" cy="306942"/>
          </a:xfrm>
          <a:prstGeom prst="ellipse">
            <a:avLst/>
          </a:prstGeom>
          <a:solidFill>
            <a:srgbClr val="F99508"/>
          </a:solidFill>
          <a:ln w="12700">
            <a:solidFill>
              <a:srgbClr val="F99508"/>
            </a:solidFill>
            <a:prstDash val="solid"/>
          </a:ln>
        </p:spPr>
      </p:sp>
      <p:sp>
        <p:nvSpPr>
          <p:cNvPr id="18" name="badge 4 text"/>
          <p:cNvSpPr txBox="1"/>
          <p:nvPr/>
        </p:nvSpPr>
        <p:spPr>
          <a:xfrm>
            <a:off x="6055360" y="3451242"/>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step 4"/>
          <p:cNvSpPr txBox="1"/>
          <p:nvPr/>
        </p:nvSpPr>
        <p:spPr>
          <a:xfrm>
            <a:off x="6482080" y="3408611"/>
            <a:ext cx="1884680" cy="639462"/>
          </a:xfrm>
          <a:prstGeom prst="rect">
            <a:avLst/>
          </a:prstGeom>
          <a:noFill/>
          <a:ln/>
        </p:spPr>
        <p:txBody>
          <a:bodyPr wrap="square" lIns="0" tIns="0" rIns="0" bIns="0" rtlCol="0" anchor="t"/>
          <a:lstStyle/>
          <a:p>
            <a:pPr indent="0" marL="0">
              <a:buNone/>
            </a:pPr>
            <a:r>
              <a:rPr lang="en-US" sz="1200" b="1" dirty="0">
                <a:solidFill>
                  <a:srgbClr val="000000"/>
                </a:solidFill>
              </a:rPr>
              <a:t>{% url %}</a:t>
            </a:r>
            <a:endParaRPr lang="en-US" sz="1200" dirty="0"/>
          </a:p>
          <a:p>
            <a:pPr indent="0" marL="0">
              <a:buNone/>
            </a:pPr>
            <a:r>
              <a:rPr lang="en-US" sz="1100" dirty="0">
                <a:solidFill>
                  <a:srgbClr val="0F8D91"/>
                </a:solidFill>
              </a:rPr>
              <a:t>Builds the link from the URL's name.</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FEF9D7"/>
                </a:solidFill>
              </a:rPr>
              <a:t>Checkpoint 1 · Your first page is live</a:t>
            </a:r>
            <a:endParaRPr lang="en-US" sz="2400" dirty="0"/>
          </a:p>
        </p:txBody>
      </p:sp>
      <p:sp>
        <p:nvSpPr>
          <p:cNvPr id="4" name="flow /  (URL)"/>
          <p:cNvSpPr/>
          <p:nvPr/>
        </p:nvSpPr>
        <p:spPr>
          <a:xfrm>
            <a:off x="365760" y="1319702"/>
            <a:ext cx="1786890" cy="852616"/>
          </a:xfrm>
          <a:prstGeom prst="roundRect">
            <a:avLst>
              <a:gd name="adj" fmla="val 10725"/>
            </a:avLst>
          </a:prstGeom>
          <a:solidFill>
            <a:srgbClr val="8FD3CC"/>
          </a:solidFill>
          <a:ln w="12700">
            <a:solidFill>
              <a:srgbClr val="8FD3CC"/>
            </a:solidFill>
            <a:prstDash val="solid"/>
          </a:ln>
          <a:effectLst>
            <a:outerShdw sx="100000" sy="100000" kx="0" ky="0" algn="bl" rotWithShape="0" blurRad="76200" dist="25400" dir="5400000">
              <a:srgbClr val="000000">
                <a:alpha val="18000"/>
              </a:srgbClr>
            </a:outerShdw>
          </a:effectLst>
        </p:spPr>
      </p:sp>
      <p:sp>
        <p:nvSpPr>
          <p:cNvPr id="5" name="flow label /  (URL)"/>
          <p:cNvSpPr txBox="1"/>
          <p:nvPr/>
        </p:nvSpPr>
        <p:spPr>
          <a:xfrm>
            <a:off x="410210" y="1319702"/>
            <a:ext cx="1697990" cy="852616"/>
          </a:xfrm>
          <a:prstGeom prst="rect">
            <a:avLst/>
          </a:prstGeom>
          <a:noFill/>
          <a:ln/>
        </p:spPr>
        <p:txBody>
          <a:bodyPr wrap="square" lIns="0" tIns="0" rIns="0" bIns="0" rtlCol="0" anchor="ctr"/>
          <a:lstStyle/>
          <a:p>
            <a:pPr algn="ctr" indent="0" marL="0">
              <a:buNone/>
            </a:pPr>
            <a:r>
              <a:rPr lang="en-US" sz="1200" b="1" dirty="0">
                <a:solidFill>
                  <a:srgbClr val="072E47"/>
                </a:solidFill>
              </a:rPr>
              <a:t>/  (URL)</a:t>
            </a:r>
            <a:endParaRPr lang="en-US" sz="1200" dirty="0"/>
          </a:p>
        </p:txBody>
      </p:sp>
      <p:sp>
        <p:nvSpPr>
          <p:cNvPr id="6" name="arrow 0"/>
          <p:cNvSpPr/>
          <p:nvPr/>
        </p:nvSpPr>
        <p:spPr>
          <a:xfrm>
            <a:off x="2188210" y="1643696"/>
            <a:ext cx="213360" cy="204628"/>
          </a:xfrm>
          <a:prstGeom prst="rightArrow">
            <a:avLst/>
          </a:prstGeom>
          <a:solidFill>
            <a:srgbClr val="FFFFFF"/>
          </a:solidFill>
          <a:ln w="12700">
            <a:solidFill>
              <a:srgbClr val="FFFFFF"/>
            </a:solidFill>
            <a:prstDash val="solid"/>
          </a:ln>
        </p:spPr>
      </p:sp>
      <p:sp>
        <p:nvSpPr>
          <p:cNvPr id="7" name="flow reviewer_list (view)"/>
          <p:cNvSpPr/>
          <p:nvPr/>
        </p:nvSpPr>
        <p:spPr>
          <a:xfrm>
            <a:off x="2437130" y="1319702"/>
            <a:ext cx="1786890" cy="852616"/>
          </a:xfrm>
          <a:prstGeom prst="roundRect">
            <a:avLst>
              <a:gd name="adj" fmla="val 10725"/>
            </a:avLst>
          </a:prstGeom>
          <a:solidFill>
            <a:srgbClr val="5DA144"/>
          </a:solidFill>
          <a:ln w="12700">
            <a:solidFill>
              <a:srgbClr val="5DA144"/>
            </a:solidFill>
            <a:prstDash val="solid"/>
          </a:ln>
          <a:effectLst>
            <a:outerShdw sx="100000" sy="100000" kx="0" ky="0" algn="bl" rotWithShape="0" blurRad="76200" dist="25400" dir="5400000">
              <a:srgbClr val="000000">
                <a:alpha val="18000"/>
              </a:srgbClr>
            </a:outerShdw>
          </a:effectLst>
        </p:spPr>
      </p:sp>
      <p:sp>
        <p:nvSpPr>
          <p:cNvPr id="8" name="flow label reviewer_list (view)"/>
          <p:cNvSpPr txBox="1"/>
          <p:nvPr/>
        </p:nvSpPr>
        <p:spPr>
          <a:xfrm>
            <a:off x="2481580" y="1319702"/>
            <a:ext cx="1697990" cy="852616"/>
          </a:xfrm>
          <a:prstGeom prst="rect">
            <a:avLst/>
          </a:prstGeom>
          <a:noFill/>
          <a:ln/>
        </p:spPr>
        <p:txBody>
          <a:bodyPr wrap="square" lIns="0" tIns="0" rIns="0" bIns="0" rtlCol="0" anchor="ctr"/>
          <a:lstStyle/>
          <a:p>
            <a:pPr algn="ctr" indent="0" marL="0">
              <a:buNone/>
            </a:pPr>
            <a:r>
              <a:rPr lang="en-US" sz="1200" b="1" dirty="0">
                <a:solidFill>
                  <a:srgbClr val="072E47"/>
                </a:solidFill>
              </a:rPr>
              <a:t>reviewer_list (view)</a:t>
            </a:r>
            <a:endParaRPr lang="en-US" sz="1200" dirty="0"/>
          </a:p>
        </p:txBody>
      </p:sp>
      <p:sp>
        <p:nvSpPr>
          <p:cNvPr id="9" name="arrow 1"/>
          <p:cNvSpPr/>
          <p:nvPr/>
        </p:nvSpPr>
        <p:spPr>
          <a:xfrm>
            <a:off x="4259580" y="1643696"/>
            <a:ext cx="213360" cy="204628"/>
          </a:xfrm>
          <a:prstGeom prst="rightArrow">
            <a:avLst/>
          </a:prstGeom>
          <a:solidFill>
            <a:srgbClr val="FFFFFF"/>
          </a:solidFill>
          <a:ln w="12700">
            <a:solidFill>
              <a:srgbClr val="FFFFFF"/>
            </a:solidFill>
            <a:prstDash val="solid"/>
          </a:ln>
        </p:spPr>
      </p:sp>
      <p:sp>
        <p:nvSpPr>
          <p:cNvPr id="10" name="flow Reviewer.objects.all()"/>
          <p:cNvSpPr/>
          <p:nvPr/>
        </p:nvSpPr>
        <p:spPr>
          <a:xfrm>
            <a:off x="4508500" y="1319702"/>
            <a:ext cx="1786890" cy="852616"/>
          </a:xfrm>
          <a:prstGeom prst="roundRect">
            <a:avLst>
              <a:gd name="adj" fmla="val 10725"/>
            </a:avLst>
          </a:prstGeom>
          <a:solidFill>
            <a:srgbClr val="1B6F86"/>
          </a:solidFill>
          <a:ln w="12700">
            <a:solidFill>
              <a:srgbClr val="1B6F86"/>
            </a:solidFill>
            <a:prstDash val="solid"/>
          </a:ln>
          <a:effectLst>
            <a:outerShdw sx="100000" sy="100000" kx="0" ky="0" algn="bl" rotWithShape="0" blurRad="76200" dist="25400" dir="5400000">
              <a:srgbClr val="000000">
                <a:alpha val="18000"/>
              </a:srgbClr>
            </a:outerShdw>
          </a:effectLst>
        </p:spPr>
      </p:sp>
      <p:sp>
        <p:nvSpPr>
          <p:cNvPr id="11" name="flow label Reviewer.objects.all()"/>
          <p:cNvSpPr txBox="1"/>
          <p:nvPr/>
        </p:nvSpPr>
        <p:spPr>
          <a:xfrm>
            <a:off x="4552950" y="1319702"/>
            <a:ext cx="1697990" cy="852616"/>
          </a:xfrm>
          <a:prstGeom prst="rect">
            <a:avLst/>
          </a:prstGeom>
          <a:noFill/>
          <a:ln/>
        </p:spPr>
        <p:txBody>
          <a:bodyPr wrap="square" lIns="0" tIns="0" rIns="0" bIns="0" rtlCol="0" anchor="ctr"/>
          <a:lstStyle/>
          <a:p>
            <a:pPr algn="ctr" indent="0" marL="0">
              <a:buNone/>
            </a:pPr>
            <a:r>
              <a:rPr lang="en-US" sz="1200" b="1" dirty="0">
                <a:solidFill>
                  <a:srgbClr val="072E47"/>
                </a:solidFill>
              </a:rPr>
              <a:t>Reviewer.objects.all()</a:t>
            </a:r>
            <a:endParaRPr lang="en-US" sz="1200" dirty="0"/>
          </a:p>
        </p:txBody>
      </p:sp>
      <p:sp>
        <p:nvSpPr>
          <p:cNvPr id="12" name="arrow 2"/>
          <p:cNvSpPr/>
          <p:nvPr/>
        </p:nvSpPr>
        <p:spPr>
          <a:xfrm>
            <a:off x="6330950" y="1643696"/>
            <a:ext cx="213360" cy="204628"/>
          </a:xfrm>
          <a:prstGeom prst="rightArrow">
            <a:avLst/>
          </a:prstGeom>
          <a:solidFill>
            <a:srgbClr val="FFFFFF"/>
          </a:solidFill>
          <a:ln w="12700">
            <a:solidFill>
              <a:srgbClr val="FFFFFF"/>
            </a:solidFill>
            <a:prstDash val="solid"/>
          </a:ln>
        </p:spPr>
      </p:sp>
      <p:sp>
        <p:nvSpPr>
          <p:cNvPr id="13" name="flow reviewer_list.html"/>
          <p:cNvSpPr/>
          <p:nvPr/>
        </p:nvSpPr>
        <p:spPr>
          <a:xfrm>
            <a:off x="6579870" y="1319702"/>
            <a:ext cx="1786890" cy="852616"/>
          </a:xfrm>
          <a:prstGeom prst="roundRect">
            <a:avLst>
              <a:gd name="adj" fmla="val 10725"/>
            </a:avLst>
          </a:prstGeom>
          <a:solidFill>
            <a:srgbClr val="F99508"/>
          </a:solidFill>
          <a:ln w="12700">
            <a:solidFill>
              <a:srgbClr val="F99508"/>
            </a:solidFill>
            <a:prstDash val="solid"/>
          </a:ln>
          <a:effectLst>
            <a:outerShdw sx="100000" sy="100000" kx="0" ky="0" algn="bl" rotWithShape="0" blurRad="76200" dist="25400" dir="5400000">
              <a:srgbClr val="000000">
                <a:alpha val="18000"/>
              </a:srgbClr>
            </a:outerShdw>
          </a:effectLst>
        </p:spPr>
      </p:sp>
      <p:sp>
        <p:nvSpPr>
          <p:cNvPr id="14" name="flow label reviewer_list.html"/>
          <p:cNvSpPr txBox="1"/>
          <p:nvPr/>
        </p:nvSpPr>
        <p:spPr>
          <a:xfrm>
            <a:off x="6624320" y="1319702"/>
            <a:ext cx="1697990" cy="852616"/>
          </a:xfrm>
          <a:prstGeom prst="rect">
            <a:avLst/>
          </a:prstGeom>
          <a:noFill/>
          <a:ln/>
        </p:spPr>
        <p:txBody>
          <a:bodyPr wrap="square" lIns="0" tIns="0" rIns="0" bIns="0" rtlCol="0" anchor="ctr"/>
          <a:lstStyle/>
          <a:p>
            <a:pPr algn="ctr" indent="0" marL="0">
              <a:buNone/>
            </a:pPr>
            <a:r>
              <a:rPr lang="en-US" sz="1200" b="1" dirty="0">
                <a:solidFill>
                  <a:srgbClr val="072E47"/>
                </a:solidFill>
              </a:rPr>
              <a:t>reviewer_list.html</a:t>
            </a:r>
            <a:endParaRPr lang="en-US" sz="1200" dirty="0"/>
          </a:p>
        </p:txBody>
      </p:sp>
      <p:sp>
        <p:nvSpPr>
          <p:cNvPr id="15" name="code card"/>
          <p:cNvSpPr/>
          <p:nvPr/>
        </p:nvSpPr>
        <p:spPr>
          <a:xfrm>
            <a:off x="365760" y="2428103"/>
            <a:ext cx="5511800" cy="1961017"/>
          </a:xfrm>
          <a:prstGeom prst="roundRect">
            <a:avLst>
              <a:gd name="adj" fmla="val 5595"/>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16" name="file label"/>
          <p:cNvSpPr/>
          <p:nvPr/>
        </p:nvSpPr>
        <p:spPr>
          <a:xfrm>
            <a:off x="543560" y="2530417"/>
            <a:ext cx="840105" cy="238733"/>
          </a:xfrm>
          <a:prstGeom prst="roundRect">
            <a:avLst>
              <a:gd name="adj" fmla="val 30642"/>
            </a:avLst>
          </a:prstGeom>
          <a:solidFill>
            <a:srgbClr val="F99508"/>
          </a:solidFill>
          <a:ln w="12700">
            <a:solidFill>
              <a:srgbClr val="F99508"/>
            </a:solidFill>
            <a:prstDash val="solid"/>
          </a:ln>
        </p:spPr>
      </p:sp>
      <p:sp>
        <p:nvSpPr>
          <p:cNvPr id="17" name="file label text"/>
          <p:cNvSpPr txBox="1"/>
          <p:nvPr/>
        </p:nvSpPr>
        <p:spPr>
          <a:xfrm>
            <a:off x="543560" y="2530417"/>
            <a:ext cx="84010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browser</a:t>
            </a:r>
            <a:endParaRPr lang="en-US" sz="1000" dirty="0"/>
          </a:p>
        </p:txBody>
      </p:sp>
      <p:sp>
        <p:nvSpPr>
          <p:cNvPr id="18" name="code"/>
          <p:cNvSpPr txBox="1"/>
          <p:nvPr/>
        </p:nvSpPr>
        <p:spPr>
          <a:xfrm>
            <a:off x="588010" y="2854411"/>
            <a:ext cx="5067300" cy="1406817"/>
          </a:xfrm>
          <a:prstGeom prst="rect">
            <a:avLst/>
          </a:prstGeom>
          <a:noFill/>
          <a:ln/>
        </p:spPr>
        <p:txBody>
          <a:bodyPr wrap="square" lIns="0" tIns="0" rIns="0" bIns="0" rtlCol="0" anchor="t"/>
          <a:lstStyle/>
          <a:p>
            <a:pPr indent="0" marL="0">
              <a:buNone/>
            </a:pPr>
            <a:r>
              <a:rPr lang="en-US" sz="1100" dirty="0">
                <a:solidFill>
                  <a:srgbClr val="F8F8F2"/>
                </a:solidFill>
                <a:latin typeface="Courier New" pitchFamily="34" charset="0"/>
                <a:ea typeface="Courier New" pitchFamily="34" charset="-122"/>
                <a:cs typeface="Courier New" pitchFamily="34" charset="-120"/>
              </a:rPr>
              <a:t>python manage.py runserver</a:t>
            </a:r>
            <a:endParaRPr lang="en-US" sz="1100" dirty="0"/>
          </a:p>
          <a:p>
            <a:pPr indent="0" marL="0">
              <a:buNone/>
            </a:pPr>
            <a:r>
              <a:rPr lang="en-US" sz="1100" dirty="0">
                <a:solidFill>
                  <a:srgbClr val="9A9B8C"/>
                </a:solidFill>
                <a:latin typeface="Courier New" pitchFamily="34" charset="0"/>
                <a:ea typeface="Courier New" pitchFamily="34" charset="-122"/>
                <a:cs typeface="Courier New" pitchFamily="34" charset="-120"/>
              </a:rPr>
              <a:t># http://127.0.0.1:8000/</a:t>
            </a:r>
            <a:endParaRPr lang="en-US" sz="1100" dirty="0"/>
          </a:p>
          <a:p>
            <a:pPr indent="0" marL="0">
              <a:buNone/>
            </a:pPr>
            <a:r>
              <a:rPr lang="en-US" sz="1100" dirty="0">
                <a:solidFill>
                  <a:srgbClr val="9A9B8C"/>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9A9B8C"/>
                </a:solidFill>
                <a:latin typeface="Courier New" pitchFamily="34" charset="0"/>
                <a:ea typeface="Courier New" pitchFamily="34" charset="-122"/>
                <a:cs typeface="Courier New" pitchFamily="34" charset="-120"/>
              </a:rPr>
              <a:t>#   Reviewers</a:t>
            </a:r>
            <a:endParaRPr lang="en-US" sz="1100" dirty="0"/>
          </a:p>
          <a:p>
            <a:pPr indent="0" marL="0">
              <a:buNone/>
            </a:pPr>
            <a:r>
              <a:rPr lang="en-US" sz="1100" dirty="0">
                <a:solidFill>
                  <a:srgbClr val="9A9B8C"/>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A9B8C"/>
                </a:solidFill>
                <a:latin typeface="Courier New" pitchFamily="34" charset="0"/>
                <a:ea typeface="Courier New" pitchFamily="34" charset="-122"/>
                <a:cs typeface="Courier New" pitchFamily="34" charset="-120"/>
              </a:rPr>
              <a:t>#   │ Python Fundamentals · 2 questions│</a:t>
            </a:r>
            <a:endParaRPr lang="en-US" sz="1100" dirty="0"/>
          </a:p>
          <a:p>
            <a:pPr indent="0" marL="0">
              <a:buNone/>
            </a:pPr>
            <a:r>
              <a:rPr lang="en-US" sz="1100" dirty="0">
                <a:solidFill>
                  <a:srgbClr val="9A9B8C"/>
                </a:solidFill>
                <a:latin typeface="Courier New" pitchFamily="34" charset="0"/>
                <a:ea typeface="Courier New" pitchFamily="34" charset="-122"/>
                <a:cs typeface="Courier New" pitchFamily="34" charset="-120"/>
              </a:rPr>
              <a:t>#   │ [Take it] [Add questions]        │</a:t>
            </a:r>
            <a:endParaRPr lang="en-US" sz="1100" dirty="0"/>
          </a:p>
          <a:p>
            <a:pPr indent="0" marL="0">
              <a:buNone/>
            </a:pPr>
            <a:r>
              <a:rPr lang="en-US" sz="1100" dirty="0">
                <a:solidFill>
                  <a:srgbClr val="9A9B8C"/>
                </a:solidFill>
                <a:latin typeface="Courier New" pitchFamily="34" charset="0"/>
                <a:ea typeface="Courier New" pitchFamily="34" charset="-122"/>
                <a:cs typeface="Courier New" pitchFamily="34" charset="-120"/>
              </a:rPr>
              <a:t>#   └──────────────────────────────────┘</a:t>
            </a:r>
            <a:endParaRPr lang="en-US" sz="1100" dirty="0"/>
          </a:p>
        </p:txBody>
      </p:sp>
      <p:sp>
        <p:nvSpPr>
          <p:cNvPr id="19" name="recap"/>
          <p:cNvSpPr txBox="1"/>
          <p:nvPr/>
        </p:nvSpPr>
        <p:spPr>
          <a:xfrm>
            <a:off x="5344160" y="2428103"/>
            <a:ext cx="3022600" cy="1961017"/>
          </a:xfrm>
          <a:prstGeom prst="rect">
            <a:avLst/>
          </a:prstGeom>
          <a:noFill/>
          <a:ln/>
        </p:spPr>
        <p:txBody>
          <a:bodyPr wrap="square" lIns="0" tIns="0" rIns="0" bIns="0" rtlCol="0" anchor="t"/>
          <a:lstStyle/>
          <a:p>
            <a:pPr indent="0" marL="0">
              <a:buNone/>
            </a:pPr>
            <a:r>
              <a:rPr lang="en-US" sz="1600" b="1" dirty="0">
                <a:solidFill>
                  <a:srgbClr val="FFFFFF"/>
                </a:solidFill>
              </a:rPr>
              <a:t>You just used:</a:t>
            </a:r>
            <a:endParaRPr lang="en-US" sz="1400" dirty="0"/>
          </a:p>
          <a:p>
            <a:pPr marL="342900" indent="-342900">
              <a:buSzPct val="100000"/>
              <a:buChar char="•"/>
            </a:pPr>
            <a:r>
              <a:rPr lang="en-US" sz="1400" dirty="0">
                <a:solidFill>
                  <a:srgbClr val="FFFFFF"/>
                </a:solidFill>
              </a:rPr>
              <a:t>a class (the model)</a:t>
            </a:r>
            <a:endParaRPr lang="en-US" sz="1400" dirty="0"/>
          </a:p>
          <a:p>
            <a:pPr marL="342900" indent="-342900">
              <a:buSzPct val="100000"/>
              <a:buChar char="•"/>
            </a:pPr>
            <a:r>
              <a:rPr lang="en-US" sz="1400" dirty="0">
                <a:solidFill>
                  <a:srgbClr val="FFFFFF"/>
                </a:solidFill>
              </a:rPr>
              <a:t>a function (the view)</a:t>
            </a:r>
            <a:endParaRPr lang="en-US" sz="1400" dirty="0"/>
          </a:p>
          <a:p>
            <a:pPr marL="342900" indent="-342900">
              <a:buSzPct val="100000"/>
              <a:buChar char="•"/>
            </a:pPr>
            <a:r>
              <a:rPr lang="en-US" sz="1400" dirty="0">
                <a:solidFill>
                  <a:srgbClr val="FFFFFF"/>
                </a:solidFill>
              </a:rPr>
              <a:t>a list and a for-loop (template)</a:t>
            </a:r>
            <a:endParaRPr lang="en-US" sz="1400" dirty="0"/>
          </a:p>
          <a:p>
            <a:pPr marL="342900" indent="-342900">
              <a:buSzPct val="100000"/>
              <a:buChar char="•"/>
            </a:pPr>
            <a:r>
              <a:rPr lang="en-US" sz="1400" dirty="0">
                <a:solidFill>
                  <a:srgbClr val="FFFFFF"/>
                </a:solidFill>
              </a:rPr>
              <a:t>a dictionary (the context)</a:t>
            </a:r>
            <a:endParaRPr lang="en-US" sz="14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D3C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Bonus: the ORM, talking to the database</a:t>
            </a:r>
            <a:endParaRPr lang="en-US" sz="2400" dirty="0"/>
          </a:p>
        </p:txBody>
      </p:sp>
      <p:sp>
        <p:nvSpPr>
          <p:cNvPr id="4" name="code card"/>
          <p:cNvSpPr/>
          <p:nvPr/>
        </p:nvSpPr>
        <p:spPr>
          <a:xfrm>
            <a:off x="365760" y="1234440"/>
            <a:ext cx="8001000" cy="2728372"/>
          </a:xfrm>
          <a:prstGeom prst="roundRect">
            <a:avLst>
              <a:gd name="adj" fmla="val 4022"/>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235140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235140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terminal · the Django shell</a:t>
            </a:r>
            <a:endParaRPr lang="en-US" sz="1000" dirty="0"/>
          </a:p>
        </p:txBody>
      </p:sp>
      <p:sp>
        <p:nvSpPr>
          <p:cNvPr id="7" name="code"/>
          <p:cNvSpPr txBox="1"/>
          <p:nvPr/>
        </p:nvSpPr>
        <p:spPr>
          <a:xfrm>
            <a:off x="588010" y="1660748"/>
            <a:ext cx="7556500" cy="2174171"/>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python manage</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py shell</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&gt;&gt;</a:t>
            </a:r>
            <a:pPr indent="0" marL="0">
              <a:buNone/>
            </a:pPr>
            <a:r>
              <a:rPr lang="en-US" sz="1200" dirty="0">
                <a:solidFill>
                  <a:srgbClr val="F92672"/>
                </a:solidFill>
                <a:latin typeface="Courier New" pitchFamily="34" charset="0"/>
                <a:ea typeface="Courier New" pitchFamily="34" charset="-122"/>
                <a:cs typeface="Courier New" pitchFamily="34" charset="-120"/>
              </a:rPr>
              <a:t>&gt;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92672"/>
                </a:solidFill>
                <a:latin typeface="Courier New" pitchFamily="34" charset="0"/>
                <a:ea typeface="Courier New" pitchFamily="34" charset="-122"/>
                <a:cs typeface="Courier New" pitchFamily="34" charset="-120"/>
              </a:rPr>
              <a:t>from</a:t>
            </a:r>
            <a:pPr indent="0" marL="0">
              <a:buNone/>
            </a:pPr>
            <a:r>
              <a:rPr lang="en-US" sz="1200" dirty="0">
                <a:solidFill>
                  <a:srgbClr val="F8F8F2"/>
                </a:solidFill>
                <a:latin typeface="Courier New" pitchFamily="34" charset="0"/>
                <a:ea typeface="Courier New" pitchFamily="34" charset="-122"/>
                <a:cs typeface="Courier New" pitchFamily="34" charset="-120"/>
              </a:rPr>
              <a:t> reviewers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models </a:t>
            </a:r>
            <a:pPr indent="0" marL="0">
              <a:buNone/>
            </a:pPr>
            <a:r>
              <a:rPr lang="en-US" sz="1200" dirty="0">
                <a:solidFill>
                  <a:srgbClr val="F92672"/>
                </a:solidFill>
                <a:latin typeface="Courier New" pitchFamily="34" charset="0"/>
                <a:ea typeface="Courier New" pitchFamily="34" charset="-122"/>
                <a:cs typeface="Courier New" pitchFamily="34" charset="-120"/>
              </a:rPr>
              <a:t>import</a:t>
            </a:r>
            <a:pPr indent="0" marL="0">
              <a:buNone/>
            </a:pPr>
            <a:r>
              <a:rPr lang="en-US" sz="1200" dirty="0">
                <a:solidFill>
                  <a:srgbClr val="F8F8F2"/>
                </a:solidFill>
                <a:latin typeface="Courier New" pitchFamily="34" charset="0"/>
                <a:ea typeface="Courier New" pitchFamily="34" charset="-122"/>
                <a:cs typeface="Courier New" pitchFamily="34" charset="-120"/>
              </a:rPr>
              <a:t> Reviewer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Question</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&gt;&gt;</a:t>
            </a:r>
            <a:pPr indent="0" marL="0">
              <a:buNone/>
            </a:pPr>
            <a:r>
              <a:rPr lang="en-US" sz="1200" dirty="0">
                <a:solidFill>
                  <a:srgbClr val="F92672"/>
                </a:solidFill>
                <a:latin typeface="Courier New" pitchFamily="34" charset="0"/>
                <a:ea typeface="Courier New" pitchFamily="34" charset="-122"/>
                <a:cs typeface="Courier New" pitchFamily="34" charset="-120"/>
              </a:rPr>
              <a:t>&gt;</a:t>
            </a:r>
            <a:pPr indent="0" marL="0">
              <a:buNone/>
            </a:pPr>
            <a:r>
              <a:rPr lang="en-US" sz="1200" dirty="0">
                <a:solidFill>
                  <a:srgbClr val="F8F8F2"/>
                </a:solidFill>
                <a:latin typeface="Courier New" pitchFamily="34" charset="0"/>
                <a:ea typeface="Courier New" pitchFamily="34" charset="-122"/>
                <a:cs typeface="Courier New" pitchFamily="34" charset="-120"/>
              </a:rPr>
              <a:t> r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Reviewer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objects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create</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title</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"Django Basics"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INSERT</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&gt;&gt;</a:t>
            </a:r>
            <a:pPr indent="0" marL="0">
              <a:buNone/>
            </a:pPr>
            <a:r>
              <a:rPr lang="en-US" sz="1200" dirty="0">
                <a:solidFill>
                  <a:srgbClr val="F92672"/>
                </a:solidFill>
                <a:latin typeface="Courier New" pitchFamily="34" charset="0"/>
                <a:ea typeface="Courier New" pitchFamily="34" charset="-122"/>
                <a:cs typeface="Courier New" pitchFamily="34" charset="-120"/>
              </a:rPr>
              <a:t>&gt;</a:t>
            </a:r>
            <a:pPr indent="0" marL="0">
              <a:buNone/>
            </a:pPr>
            <a:r>
              <a:rPr lang="en-US" sz="1200" dirty="0">
                <a:solidFill>
                  <a:srgbClr val="F8F8F2"/>
                </a:solidFill>
                <a:latin typeface="Courier New" pitchFamily="34" charset="0"/>
                <a:ea typeface="Courier New" pitchFamily="34" charset="-122"/>
                <a:cs typeface="Courier New" pitchFamily="34" charset="-120"/>
              </a:rPr>
              <a:t> 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slug                                   </a:t>
            </a:r>
            <a:pPr indent="0" marL="0">
              <a:buNone/>
            </a:pPr>
            <a:r>
              <a:rPr lang="en-US" sz="1200" dirty="0">
                <a:solidFill>
                  <a:srgbClr val="9A9B8C"/>
                </a:solidFill>
                <a:latin typeface="Courier New" pitchFamily="34" charset="0"/>
                <a:ea typeface="Courier New" pitchFamily="34" charset="-122"/>
                <a:cs typeface="Courier New" pitchFamily="34" charset="-120"/>
              </a:rPr>
              <a:t># 'django-basics' (automatic)</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&gt;&gt;</a:t>
            </a:r>
            <a:pPr indent="0" marL="0">
              <a:buNone/>
            </a:pPr>
            <a:r>
              <a:rPr lang="en-US" sz="1200" dirty="0">
                <a:solidFill>
                  <a:srgbClr val="F92672"/>
                </a:solidFill>
                <a:latin typeface="Courier New" pitchFamily="34" charset="0"/>
                <a:ea typeface="Courier New" pitchFamily="34" charset="-122"/>
                <a:cs typeface="Courier New" pitchFamily="34" charset="-120"/>
              </a:rPr>
              <a:t>&gt;</a:t>
            </a:r>
            <a:pPr indent="0" marL="0">
              <a:buNone/>
            </a:pPr>
            <a:r>
              <a:rPr lang="en-US" sz="1200" dirty="0">
                <a:solidFill>
                  <a:srgbClr val="F8F8F2"/>
                </a:solidFill>
                <a:latin typeface="Courier New" pitchFamily="34" charset="0"/>
                <a:ea typeface="Courier New" pitchFamily="34" charset="-122"/>
                <a:cs typeface="Courier New" pitchFamily="34" charset="-120"/>
              </a:rPr>
              <a:t> Reviewer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objects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66D9EF"/>
                </a:solidFill>
                <a:latin typeface="Courier New" pitchFamily="34" charset="0"/>
                <a:ea typeface="Courier New" pitchFamily="34" charset="-122"/>
                <a:cs typeface="Courier New" pitchFamily="34" charset="-120"/>
              </a:rPr>
              <a:t>all</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SELECT * ...</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&gt;&gt;</a:t>
            </a:r>
            <a:pPr indent="0" marL="0">
              <a:buNone/>
            </a:pPr>
            <a:r>
              <a:rPr lang="en-US" sz="1200" dirty="0">
                <a:solidFill>
                  <a:srgbClr val="F92672"/>
                </a:solidFill>
                <a:latin typeface="Courier New" pitchFamily="34" charset="0"/>
                <a:ea typeface="Courier New" pitchFamily="34" charset="-122"/>
                <a:cs typeface="Courier New" pitchFamily="34" charset="-120"/>
              </a:rPr>
              <a:t>&gt;</a:t>
            </a:r>
            <a:pPr indent="0" marL="0">
              <a:buNone/>
            </a:pPr>
            <a:r>
              <a:rPr lang="en-US" sz="1200" dirty="0">
                <a:solidFill>
                  <a:srgbClr val="F8F8F2"/>
                </a:solidFill>
                <a:latin typeface="Courier New" pitchFamily="34" charset="0"/>
                <a:ea typeface="Courier New" pitchFamily="34" charset="-122"/>
                <a:cs typeface="Courier New" pitchFamily="34" charset="-120"/>
              </a:rPr>
              <a:t> Reviewer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objects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get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slug</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"django-basics"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exactly one</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&gt;&gt;</a:t>
            </a:r>
            <a:pPr indent="0" marL="0">
              <a:buNone/>
            </a:pPr>
            <a:r>
              <a:rPr lang="en-US" sz="1200" dirty="0">
                <a:solidFill>
                  <a:srgbClr val="F92672"/>
                </a:solidFill>
                <a:latin typeface="Courier New" pitchFamily="34" charset="0"/>
                <a:ea typeface="Courier New" pitchFamily="34" charset="-122"/>
                <a:cs typeface="Courier New" pitchFamily="34" charset="-120"/>
              </a:rPr>
              <a:t>&gt;</a:t>
            </a:r>
            <a:pPr indent="0" marL="0">
              <a:buNone/>
            </a:pPr>
            <a:r>
              <a:rPr lang="en-US" sz="1200" dirty="0">
                <a:solidFill>
                  <a:srgbClr val="F8F8F2"/>
                </a:solidFill>
                <a:latin typeface="Courier New" pitchFamily="34" charset="0"/>
                <a:ea typeface="Courier New" pitchFamily="34" charset="-122"/>
                <a:cs typeface="Courier New" pitchFamily="34" charset="-120"/>
              </a:rPr>
              <a:t> 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questions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66D9EF"/>
                </a:solidFill>
                <a:latin typeface="Courier New" pitchFamily="34" charset="0"/>
                <a:ea typeface="Courier New" pitchFamily="34" charset="-122"/>
                <a:cs typeface="Courier New" pitchFamily="34" charset="-120"/>
              </a:rPr>
              <a:t>all</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follow the ForeignKey backwards</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&gt;&gt;</a:t>
            </a:r>
            <a:pPr indent="0" marL="0">
              <a:buNone/>
            </a:pPr>
            <a:r>
              <a:rPr lang="en-US" sz="1200" dirty="0">
                <a:solidFill>
                  <a:srgbClr val="F92672"/>
                </a:solidFill>
                <a:latin typeface="Courier New" pitchFamily="34" charset="0"/>
                <a:ea typeface="Courier New" pitchFamily="34" charset="-122"/>
                <a:cs typeface="Courier New" pitchFamily="34" charset="-120"/>
              </a:rPr>
              <a:t>&gt;</a:t>
            </a:r>
            <a:pPr indent="0" marL="0">
              <a:buNone/>
            </a:pPr>
            <a:r>
              <a:rPr lang="en-US" sz="1200" dirty="0">
                <a:solidFill>
                  <a:srgbClr val="F8F8F2"/>
                </a:solidFill>
                <a:latin typeface="Courier New" pitchFamily="34" charset="0"/>
                <a:ea typeface="Courier New" pitchFamily="34" charset="-122"/>
                <a:cs typeface="Courier New" pitchFamily="34" charset="-120"/>
              </a:rPr>
              <a:t> Question</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objects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66D9EF"/>
                </a:solidFill>
                <a:latin typeface="Courier New" pitchFamily="34" charset="0"/>
                <a:ea typeface="Courier New" pitchFamily="34" charset="-122"/>
                <a:cs typeface="Courier New" pitchFamily="34" charset="-120"/>
              </a:rPr>
              <a:t>filter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status</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"published"</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count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WHERE ...</a:t>
            </a:r>
            <a:endParaRPr lang="en-US" sz="1200" dirty="0"/>
          </a:p>
          <a:p>
            <a:pPr indent="0" marL="0">
              <a:buNone/>
            </a:pPr>
            <a:r>
              <a:rPr lang="en-US" sz="1200" dirty="0">
                <a:solidFill>
                  <a:srgbClr val="F92672"/>
                </a:solidFill>
                <a:latin typeface="Courier New" pitchFamily="34" charset="0"/>
                <a:ea typeface="Courier New" pitchFamily="34" charset="-122"/>
                <a:cs typeface="Courier New" pitchFamily="34" charset="-120"/>
              </a:rPr>
              <a:t>&gt;&gt;</a:t>
            </a:r>
            <a:pPr indent="0" marL="0">
              <a:buNone/>
            </a:pPr>
            <a:r>
              <a:rPr lang="en-US" sz="1200" dirty="0">
                <a:solidFill>
                  <a:srgbClr val="F92672"/>
                </a:solidFill>
                <a:latin typeface="Courier New" pitchFamily="34" charset="0"/>
                <a:ea typeface="Courier New" pitchFamily="34" charset="-122"/>
                <a:cs typeface="Courier New" pitchFamily="34" charset="-120"/>
              </a:rPr>
              <a:t>&gt;</a:t>
            </a:r>
            <a:pPr indent="0" marL="0">
              <a:buNone/>
            </a:pPr>
            <a:r>
              <a:rPr lang="en-US" sz="1200" dirty="0">
                <a:solidFill>
                  <a:srgbClr val="F8F8F2"/>
                </a:solidFill>
                <a:latin typeface="Courier New" pitchFamily="34" charset="0"/>
                <a:ea typeface="Courier New" pitchFamily="34" charset="-122"/>
                <a:cs typeface="Courier New" pitchFamily="34" charset="-120"/>
              </a:rPr>
              <a:t> 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title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"Django 101"</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save</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9A9B8C"/>
                </a:solidFill>
                <a:latin typeface="Courier New" pitchFamily="34" charset="0"/>
                <a:ea typeface="Courier New" pitchFamily="34" charset="-122"/>
                <a:cs typeface="Courier New" pitchFamily="34" charset="-120"/>
              </a:rPr>
              <a:t># UPDATE</a:t>
            </a:r>
            <a:endParaRPr lang="en-US" sz="1200" dirty="0"/>
          </a:p>
        </p:txBody>
      </p:sp>
      <p:sp>
        <p:nvSpPr>
          <p:cNvPr id="8" name="tip"/>
          <p:cNvSpPr/>
          <p:nvPr/>
        </p:nvSpPr>
        <p:spPr>
          <a:xfrm>
            <a:off x="365760" y="4090704"/>
            <a:ext cx="8001000" cy="383677"/>
          </a:xfrm>
          <a:prstGeom prst="roundRect">
            <a:avLst>
              <a:gd name="adj" fmla="val 23833"/>
            </a:avLst>
          </a:prstGeom>
          <a:solidFill>
            <a:srgbClr val="FFFFFF"/>
          </a:solidFill>
          <a:ln w="12700">
            <a:solidFill>
              <a:srgbClr val="FFFFFF"/>
            </a:solidFill>
            <a:prstDash val="solid"/>
          </a:ln>
        </p:spPr>
      </p:sp>
      <p:sp>
        <p:nvSpPr>
          <p:cNvPr id="9" name="tip dot"/>
          <p:cNvSpPr/>
          <p:nvPr/>
        </p:nvSpPr>
        <p:spPr>
          <a:xfrm>
            <a:off x="499110" y="4154651"/>
            <a:ext cx="266700" cy="255785"/>
          </a:xfrm>
          <a:prstGeom prst="ellipse">
            <a:avLst/>
          </a:prstGeom>
          <a:solidFill>
            <a:srgbClr val="1B6F86"/>
          </a:solidFill>
          <a:ln w="12700">
            <a:solidFill>
              <a:srgbClr val="1B6F86"/>
            </a:solidFill>
            <a:prstDash val="solid"/>
          </a:ln>
        </p:spPr>
      </p:sp>
      <p:sp>
        <p:nvSpPr>
          <p:cNvPr id="10" name="tip mark"/>
          <p:cNvSpPr txBox="1"/>
          <p:nvPr/>
        </p:nvSpPr>
        <p:spPr>
          <a:xfrm>
            <a:off x="499110" y="4154651"/>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11" name="tip text"/>
          <p:cNvSpPr txBox="1"/>
          <p:nvPr/>
        </p:nvSpPr>
        <p:spPr>
          <a:xfrm>
            <a:off x="899160" y="4090704"/>
            <a:ext cx="7334250" cy="383677"/>
          </a:xfrm>
          <a:prstGeom prst="rect">
            <a:avLst/>
          </a:prstGeom>
          <a:noFill/>
          <a:ln/>
        </p:spPr>
        <p:txBody>
          <a:bodyPr wrap="square" lIns="0" tIns="0" rIns="0" bIns="0" rtlCol="0" anchor="ctr"/>
          <a:lstStyle/>
          <a:p>
            <a:pPr indent="0" marL="0">
              <a:buNone/>
            </a:pPr>
            <a:r>
              <a:rPr lang="en-US" sz="1200" dirty="0">
                <a:solidFill>
                  <a:srgbClr val="072E47"/>
                </a:solidFill>
              </a:rPr>
              <a:t>ORM = Object-Relational Mapper. You think in objects, Django writes the SQL.</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0"/>
          <p:cNvSpPr/>
          <p:nvPr>
            <p:ph idx="100" type="title" hasCustomPrompt="1"/>
          </p:nvPr>
        </p:nvSpPr>
        <p:spPr>
          <a:xfrm>
            <a:off x="4983480" y="1463040"/>
            <a:ext cx="3749040" cy="1737360"/>
          </a:xfrm>
          <a:prstGeom prst="rect">
            <a:avLst/>
          </a:prstGeom>
          <a:noFill/>
          <a:ln/>
        </p:spPr>
        <p:txBody>
          <a:bodyPr wrap="square" lIns="0" tIns="0" rIns="0" bIns="0" rtlCol="0" anchor="b"/>
          <a:lstStyle/>
          <a:p>
            <a:pPr indent="0" marL="0">
              <a:buNone/>
            </a:pPr>
            <a:r>
              <a:rPr lang="en-US" sz="3000" b="1" dirty="0">
                <a:solidFill>
                  <a:srgbClr val="FEF9D7"/>
                </a:solidFill>
              </a:rPr>
              <a:t>Part 3 · The quiz experience</a:t>
            </a:r>
            <a:endParaRPr lang="en-US" sz="3000" dirty="0"/>
          </a:p>
        </p:txBody>
      </p:sp>
      <p:sp>
        <p:nvSpPr>
          <p:cNvPr id="4" name="Text 0"/>
          <p:cNvSpPr/>
          <p:nvPr>
            <p:ph idx="101" type="body" hasCustomPrompt="1"/>
          </p:nvPr>
        </p:nvSpPr>
        <p:spPr>
          <a:xfrm>
            <a:off x="4983480" y="3291840"/>
            <a:ext cx="3749040" cy="731520"/>
          </a:xfrm>
          <a:prstGeom prst="rect">
            <a:avLst/>
          </a:prstGeom>
          <a:noFill/>
          <a:ln/>
        </p:spPr>
        <p:txBody>
          <a:bodyPr wrap="square" lIns="0" tIns="0" rIns="0" bIns="0" rtlCol="0" anchor="t"/>
          <a:lstStyle/>
          <a:p>
            <a:pPr indent="0" marL="0">
              <a:buNone/>
            </a:pPr>
            <a:r>
              <a:rPr lang="en-US" sz="1300" dirty="0">
                <a:solidFill>
                  <a:srgbClr val="8FD3CC"/>
                </a:solidFill>
              </a:rPr>
              <a:t>Forms · GET vs POST · shareable link · grading · results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9 · Forms: collect and check input</a:t>
            </a:r>
            <a:endParaRPr lang="en-US" sz="2400" dirty="0"/>
          </a:p>
        </p:txBody>
      </p:sp>
      <p:sp>
        <p:nvSpPr>
          <p:cNvPr id="4" name="code card"/>
          <p:cNvSpPr/>
          <p:nvPr/>
        </p:nvSpPr>
        <p:spPr>
          <a:xfrm>
            <a:off x="365760" y="1234440"/>
            <a:ext cx="5511800" cy="2216802"/>
          </a:xfrm>
          <a:prstGeom prst="roundRect">
            <a:avLst>
              <a:gd name="adj" fmla="val 495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67132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reviewers/forms.py</a:t>
            </a:r>
            <a:endParaRPr lang="en-US" sz="1000" dirty="0"/>
          </a:p>
        </p:txBody>
      </p:sp>
      <p:sp>
        <p:nvSpPr>
          <p:cNvPr id="7" name="code"/>
          <p:cNvSpPr txBox="1"/>
          <p:nvPr/>
        </p:nvSpPr>
        <p:spPr>
          <a:xfrm>
            <a:off x="588010" y="1660748"/>
            <a:ext cx="5067300" cy="1662602"/>
          </a:xfrm>
          <a:prstGeom prst="rect">
            <a:avLst/>
          </a:prstGeom>
          <a:noFill/>
          <a:ln/>
        </p:spPr>
        <p:txBody>
          <a:bodyPr wrap="square" lIns="0" tIns="0" rIns="0" bIns="0" rtlCol="0" anchor="t"/>
          <a:lstStyle/>
          <a:p>
            <a:pPr indent="0" marL="0">
              <a:buNone/>
            </a:pPr>
            <a:r>
              <a:rPr lang="en-US" sz="1150" dirty="0">
                <a:solidFill>
                  <a:srgbClr val="F92672"/>
                </a:solidFill>
                <a:latin typeface="Courier New" pitchFamily="34" charset="0"/>
                <a:ea typeface="Courier New" pitchFamily="34" charset="-122"/>
                <a:cs typeface="Courier New" pitchFamily="34" charset="-120"/>
              </a:rPr>
              <a:t>from</a:t>
            </a:r>
            <a:pPr indent="0" marL="0">
              <a:buNone/>
            </a:pPr>
            <a:r>
              <a:rPr lang="en-US" sz="1150" dirty="0">
                <a:solidFill>
                  <a:srgbClr val="F8F8F2"/>
                </a:solidFill>
                <a:latin typeface="Courier New" pitchFamily="34" charset="0"/>
                <a:ea typeface="Courier New" pitchFamily="34" charset="-122"/>
                <a:cs typeface="Courier New" pitchFamily="34" charset="-120"/>
              </a:rPr>
              <a:t> django </a:t>
            </a:r>
            <a:pPr indent="0" marL="0">
              <a:buNone/>
            </a:pPr>
            <a:r>
              <a:rPr lang="en-US" sz="1150" dirty="0">
                <a:solidFill>
                  <a:srgbClr val="F92672"/>
                </a:solidFill>
                <a:latin typeface="Courier New" pitchFamily="34" charset="0"/>
                <a:ea typeface="Courier New" pitchFamily="34" charset="-122"/>
                <a:cs typeface="Courier New" pitchFamily="34" charset="-120"/>
              </a:rPr>
              <a:t>import</a:t>
            </a:r>
            <a:pPr indent="0" marL="0">
              <a:buNone/>
            </a:pPr>
            <a:r>
              <a:rPr lang="en-US" sz="1150" dirty="0">
                <a:solidFill>
                  <a:srgbClr val="F8F8F2"/>
                </a:solidFill>
                <a:latin typeface="Courier New" pitchFamily="34" charset="0"/>
                <a:ea typeface="Courier New" pitchFamily="34" charset="-122"/>
                <a:cs typeface="Courier New" pitchFamily="34" charset="-120"/>
              </a:rPr>
              <a:t> forms</a:t>
            </a:r>
            <a:endParaRPr lang="en-US" sz="1150" dirty="0"/>
          </a:p>
          <a:p>
            <a:pPr indent="0" marL="0">
              <a:buNone/>
            </a:pPr>
            <a:r>
              <a:rPr lang="en-US" sz="1150" dirty="0">
                <a:solidFill>
                  <a:srgbClr val="F92672"/>
                </a:solidFill>
                <a:latin typeface="Courier New" pitchFamily="34" charset="0"/>
                <a:ea typeface="Courier New" pitchFamily="34" charset="-122"/>
                <a:cs typeface="Courier New" pitchFamily="34" charset="-120"/>
              </a:rPr>
              <a:t>from</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models </a:t>
            </a:r>
            <a:pPr indent="0" marL="0">
              <a:buNone/>
            </a:pPr>
            <a:r>
              <a:rPr lang="en-US" sz="1150" dirty="0">
                <a:solidFill>
                  <a:srgbClr val="F92672"/>
                </a:solidFill>
                <a:latin typeface="Courier New" pitchFamily="34" charset="0"/>
                <a:ea typeface="Courier New" pitchFamily="34" charset="-122"/>
                <a:cs typeface="Courier New" pitchFamily="34" charset="-120"/>
              </a:rPr>
              <a:t>import</a:t>
            </a:r>
            <a:pPr indent="0" marL="0">
              <a:buNone/>
            </a:pPr>
            <a:r>
              <a:rPr lang="en-US" sz="1150" dirty="0">
                <a:solidFill>
                  <a:srgbClr val="F8F8F2"/>
                </a:solidFill>
                <a:latin typeface="Courier New" pitchFamily="34" charset="0"/>
                <a:ea typeface="Courier New" pitchFamily="34" charset="-122"/>
                <a:cs typeface="Courier New" pitchFamily="34" charset="-120"/>
              </a:rPr>
              <a:t> Reviewer</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92672"/>
                </a:solidFill>
                <a:latin typeface="Courier New" pitchFamily="34" charset="0"/>
                <a:ea typeface="Courier New" pitchFamily="34" charset="-122"/>
                <a:cs typeface="Courier New" pitchFamily="34" charset="-120"/>
              </a:rPr>
              <a:t>class</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ReviewerForm</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forms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ModelForm</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"""Create a Reviewer from a title + description."""</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class</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Meta</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model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Reviewer</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fields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"title"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"description"</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p:txBody>
      </p:sp>
      <p:sp>
        <p:nvSpPr>
          <p:cNvPr id="8" name="badge 1"/>
          <p:cNvSpPr/>
          <p:nvPr/>
        </p:nvSpPr>
        <p:spPr>
          <a:xfrm>
            <a:off x="6055360" y="1277071"/>
            <a:ext cx="320040" cy="306942"/>
          </a:xfrm>
          <a:prstGeom prst="ellipse">
            <a:avLst/>
          </a:prstGeom>
          <a:solidFill>
            <a:srgbClr val="8FD3CC"/>
          </a:solidFill>
          <a:ln w="12700">
            <a:solidFill>
              <a:srgbClr val="8FD3CC"/>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682093"/>
          </a:xfrm>
          <a:prstGeom prst="rect">
            <a:avLst/>
          </a:prstGeom>
          <a:noFill/>
          <a:ln/>
        </p:spPr>
        <p:txBody>
          <a:bodyPr wrap="square" lIns="0" tIns="0" rIns="0" bIns="0" rtlCol="0" anchor="t"/>
          <a:lstStyle/>
          <a:p>
            <a:pPr indent="0" marL="0">
              <a:buNone/>
            </a:pPr>
            <a:r>
              <a:rPr lang="en-US" sz="1200" b="1" dirty="0">
                <a:solidFill>
                  <a:srgbClr val="000000"/>
                </a:solidFill>
              </a:rPr>
              <a:t>Renders the inputs</a:t>
            </a:r>
            <a:endParaRPr lang="en-US" sz="1200" dirty="0"/>
          </a:p>
          <a:p>
            <a:pPr indent="0" marL="0">
              <a:buNone/>
            </a:pPr>
            <a:r>
              <a:rPr lang="en-US" sz="1100" dirty="0">
                <a:solidFill>
                  <a:srgbClr val="0F8D91"/>
                </a:solidFill>
              </a:rPr>
              <a:t>{{ form.as_div }} draws labels and boxes.</a:t>
            </a:r>
            <a:endParaRPr lang="en-US" sz="1200" dirty="0"/>
          </a:p>
        </p:txBody>
      </p:sp>
      <p:sp>
        <p:nvSpPr>
          <p:cNvPr id="11" name="badge 2"/>
          <p:cNvSpPr/>
          <p:nvPr/>
        </p:nvSpPr>
        <p:spPr>
          <a:xfrm>
            <a:off x="6055360" y="2044425"/>
            <a:ext cx="320040" cy="306942"/>
          </a:xfrm>
          <a:prstGeom prst="ellipse">
            <a:avLst/>
          </a:prstGeom>
          <a:solidFill>
            <a:srgbClr val="8FD3CC"/>
          </a:solidFill>
          <a:ln w="12700">
            <a:solidFill>
              <a:srgbClr val="8FD3CC"/>
            </a:solidFill>
            <a:prstDash val="solid"/>
          </a:ln>
        </p:spPr>
      </p:sp>
      <p:sp>
        <p:nvSpPr>
          <p:cNvPr id="12" name="badge 2 text"/>
          <p:cNvSpPr txBox="1"/>
          <p:nvPr/>
        </p:nvSpPr>
        <p:spPr>
          <a:xfrm>
            <a:off x="6055360" y="2044425"/>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001795"/>
            <a:ext cx="1884680" cy="682093"/>
          </a:xfrm>
          <a:prstGeom prst="rect">
            <a:avLst/>
          </a:prstGeom>
          <a:noFill/>
          <a:ln/>
        </p:spPr>
        <p:txBody>
          <a:bodyPr wrap="square" lIns="0" tIns="0" rIns="0" bIns="0" rtlCol="0" anchor="t"/>
          <a:lstStyle/>
          <a:p>
            <a:pPr indent="0" marL="0">
              <a:buNone/>
            </a:pPr>
            <a:r>
              <a:rPr lang="en-US" sz="1200" b="1" dirty="0">
                <a:solidFill>
                  <a:srgbClr val="000000"/>
                </a:solidFill>
              </a:rPr>
              <a:t>Validates</a:t>
            </a:r>
            <a:endParaRPr lang="en-US" sz="1200" dirty="0"/>
          </a:p>
          <a:p>
            <a:pPr indent="0" marL="0">
              <a:buNone/>
            </a:pPr>
            <a:r>
              <a:rPr lang="en-US" sz="1100" dirty="0">
                <a:solidFill>
                  <a:srgbClr val="0F8D91"/>
                </a:solidFill>
              </a:rPr>
              <a:t>Required? Too long? Wrong type? form.is_valid() says.</a:t>
            </a:r>
            <a:endParaRPr lang="en-US" sz="1200" dirty="0"/>
          </a:p>
        </p:txBody>
      </p:sp>
      <p:sp>
        <p:nvSpPr>
          <p:cNvPr id="14" name="badge 3"/>
          <p:cNvSpPr/>
          <p:nvPr/>
        </p:nvSpPr>
        <p:spPr>
          <a:xfrm>
            <a:off x="6055360" y="2811780"/>
            <a:ext cx="320040" cy="306942"/>
          </a:xfrm>
          <a:prstGeom prst="ellipse">
            <a:avLst/>
          </a:prstGeom>
          <a:solidFill>
            <a:srgbClr val="8FD3CC"/>
          </a:solidFill>
          <a:ln w="12700">
            <a:solidFill>
              <a:srgbClr val="8FD3CC"/>
            </a:solidFill>
            <a:prstDash val="solid"/>
          </a:ln>
        </p:spPr>
      </p:sp>
      <p:sp>
        <p:nvSpPr>
          <p:cNvPr id="15" name="badge 3 text"/>
          <p:cNvSpPr txBox="1"/>
          <p:nvPr/>
        </p:nvSpPr>
        <p:spPr>
          <a:xfrm>
            <a:off x="6055360" y="2811780"/>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769149"/>
            <a:ext cx="1884680" cy="682093"/>
          </a:xfrm>
          <a:prstGeom prst="rect">
            <a:avLst/>
          </a:prstGeom>
          <a:noFill/>
          <a:ln/>
        </p:spPr>
        <p:txBody>
          <a:bodyPr wrap="square" lIns="0" tIns="0" rIns="0" bIns="0" rtlCol="0" anchor="t"/>
          <a:lstStyle/>
          <a:p>
            <a:pPr indent="0" marL="0">
              <a:buNone/>
            </a:pPr>
            <a:r>
              <a:rPr lang="en-US" sz="1200" b="1" dirty="0">
                <a:solidFill>
                  <a:srgbClr val="000000"/>
                </a:solidFill>
              </a:rPr>
              <a:t>Gives clean data</a:t>
            </a:r>
            <a:endParaRPr lang="en-US" sz="1200" dirty="0"/>
          </a:p>
          <a:p>
            <a:pPr indent="0" marL="0">
              <a:buNone/>
            </a:pPr>
            <a:r>
              <a:rPr lang="en-US" sz="1100" dirty="0">
                <a:solidFill>
                  <a:srgbClr val="0F8D91"/>
                </a:solidFill>
              </a:rPr>
              <a:t>form.cleaned_data or form.save().</a:t>
            </a:r>
            <a:endParaRPr lang="en-US" sz="1200" dirty="0"/>
          </a:p>
        </p:txBody>
      </p:sp>
      <p:sp>
        <p:nvSpPr>
          <p:cNvPr id="17" name="tip"/>
          <p:cNvSpPr/>
          <p:nvPr/>
        </p:nvSpPr>
        <p:spPr>
          <a:xfrm>
            <a:off x="365760" y="3621765"/>
            <a:ext cx="8001000" cy="511570"/>
          </a:xfrm>
          <a:prstGeom prst="roundRect">
            <a:avLst>
              <a:gd name="adj" fmla="val 17874"/>
            </a:avLst>
          </a:prstGeom>
          <a:solidFill>
            <a:srgbClr val="FFFFFF"/>
          </a:solidFill>
          <a:ln w="12700">
            <a:solidFill>
              <a:srgbClr val="FFFFFF"/>
            </a:solidFill>
            <a:prstDash val="solid"/>
          </a:ln>
        </p:spPr>
      </p:sp>
      <p:sp>
        <p:nvSpPr>
          <p:cNvPr id="18" name="tip dot"/>
          <p:cNvSpPr/>
          <p:nvPr/>
        </p:nvSpPr>
        <p:spPr>
          <a:xfrm>
            <a:off x="499110" y="3749658"/>
            <a:ext cx="266700" cy="255785"/>
          </a:xfrm>
          <a:prstGeom prst="ellipse">
            <a:avLst/>
          </a:prstGeom>
          <a:solidFill>
            <a:srgbClr val="D9534F"/>
          </a:solidFill>
          <a:ln w="12700">
            <a:solidFill>
              <a:srgbClr val="D9534F"/>
            </a:solidFill>
            <a:prstDash val="solid"/>
          </a:ln>
        </p:spPr>
      </p:sp>
      <p:sp>
        <p:nvSpPr>
          <p:cNvPr id="19" name="tip mark"/>
          <p:cNvSpPr txBox="1"/>
          <p:nvPr/>
        </p:nvSpPr>
        <p:spPr>
          <a:xfrm>
            <a:off x="499110" y="3749658"/>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20" name="tip text"/>
          <p:cNvSpPr txBox="1"/>
          <p:nvPr/>
        </p:nvSpPr>
        <p:spPr>
          <a:xfrm>
            <a:off x="899160" y="3621765"/>
            <a:ext cx="7334250" cy="511570"/>
          </a:xfrm>
          <a:prstGeom prst="rect">
            <a:avLst/>
          </a:prstGeom>
          <a:noFill/>
          <a:ln/>
        </p:spPr>
        <p:txBody>
          <a:bodyPr wrap="square" lIns="0" tIns="0" rIns="0" bIns="0" rtlCol="0" anchor="ctr"/>
          <a:lstStyle/>
          <a:p>
            <a:pPr indent="0" marL="0">
              <a:buNone/>
            </a:pPr>
            <a:r>
              <a:rPr lang="en-US" sz="1200" dirty="0">
                <a:solidFill>
                  <a:srgbClr val="072E47"/>
                </a:solidFill>
              </a:rPr>
              <a:t>Rule of the day: never trust input. Not from humans, and (Part 4) not from AI either.</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GET vs POST: opening a page vs sending a form</a:t>
            </a:r>
            <a:endParaRPr lang="en-US" sz="2400" dirty="0"/>
          </a:p>
        </p:txBody>
      </p:sp>
      <p:sp>
        <p:nvSpPr>
          <p:cNvPr id="4" name="card GET"/>
          <p:cNvSpPr/>
          <p:nvPr/>
        </p:nvSpPr>
        <p:spPr>
          <a:xfrm>
            <a:off x="365760" y="1234440"/>
            <a:ext cx="2578100" cy="1364186"/>
          </a:xfrm>
          <a:prstGeom prst="roundRect">
            <a:avLst>
              <a:gd name="adj" fmla="val 8043"/>
            </a:avLst>
          </a:prstGeom>
          <a:solidFill>
            <a:srgbClr val="FFFFFF"/>
          </a:solidFill>
          <a:ln w="12700">
            <a:solidFill>
              <a:srgbClr val="FFFFFF"/>
            </a:solidFill>
            <a:prstDash val="solid"/>
          </a:ln>
        </p:spPr>
      </p:sp>
      <p:sp>
        <p:nvSpPr>
          <p:cNvPr id="5" name="icon bg GET"/>
          <p:cNvSpPr/>
          <p:nvPr/>
        </p:nvSpPr>
        <p:spPr>
          <a:xfrm>
            <a:off x="543560" y="1387911"/>
            <a:ext cx="444500" cy="426308"/>
          </a:xfrm>
          <a:prstGeom prst="ellipse">
            <a:avLst/>
          </a:prstGeom>
          <a:solidFill>
            <a:srgbClr val="8FD3CC"/>
          </a:solidFill>
          <a:ln w="12700">
            <a:solidFill>
              <a:srgbClr val="8FD3CC"/>
            </a:solidFill>
            <a:prstDash val="solid"/>
          </a:ln>
        </p:spPr>
      </p:sp>
      <p:pic>
        <p:nvPicPr>
          <p:cNvPr id="6" name="icon GET" descr="preencoded.png">    </p:cNvPr>
          <p:cNvPicPr>
            <a:picLocks noChangeAspect="1"/>
          </p:cNvPicPr>
          <p:nvPr/>
        </p:nvPicPr>
        <p:blipFill>
          <a:blip r:embed="rId1"/>
          <a:stretch>
            <a:fillRect/>
          </a:stretch>
        </p:blipFill>
        <p:spPr>
          <a:xfrm>
            <a:off x="641350" y="1481699"/>
            <a:ext cx="248920" cy="238733"/>
          </a:xfrm>
          <a:prstGeom prst="rect">
            <a:avLst/>
          </a:prstGeom>
        </p:spPr>
      </p:pic>
      <p:sp>
        <p:nvSpPr>
          <p:cNvPr id="7" name="card title GET"/>
          <p:cNvSpPr txBox="1"/>
          <p:nvPr/>
        </p:nvSpPr>
        <p:spPr>
          <a:xfrm>
            <a:off x="1121410" y="1387911"/>
            <a:ext cx="1689100" cy="426308"/>
          </a:xfrm>
          <a:prstGeom prst="rect">
            <a:avLst/>
          </a:prstGeom>
          <a:noFill/>
          <a:ln/>
        </p:spPr>
        <p:txBody>
          <a:bodyPr wrap="square" lIns="0" tIns="0" rIns="0" bIns="0" rtlCol="0" anchor="ctr"/>
          <a:lstStyle/>
          <a:p>
            <a:pPr indent="0" marL="0">
              <a:buNone/>
            </a:pPr>
            <a:r>
              <a:rPr lang="en-US" sz="1200" b="1" dirty="0">
                <a:solidFill>
                  <a:srgbClr val="072E47"/>
                </a:solidFill>
              </a:rPr>
              <a:t>GET</a:t>
            </a:r>
            <a:endParaRPr lang="en-US" sz="1200" dirty="0"/>
          </a:p>
        </p:txBody>
      </p:sp>
      <p:sp>
        <p:nvSpPr>
          <p:cNvPr id="8" name="card body GET"/>
          <p:cNvSpPr txBox="1"/>
          <p:nvPr/>
        </p:nvSpPr>
        <p:spPr>
          <a:xfrm>
            <a:off x="543560" y="1916533"/>
            <a:ext cx="2222500" cy="554201"/>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The browser asks to SEE a page: an address, a link. Nothing changes.</a:t>
            </a:r>
            <a:endParaRPr lang="en-US" sz="1300" dirty="0"/>
          </a:p>
        </p:txBody>
      </p:sp>
      <p:sp>
        <p:nvSpPr>
          <p:cNvPr id="9" name="card POST"/>
          <p:cNvSpPr/>
          <p:nvPr/>
        </p:nvSpPr>
        <p:spPr>
          <a:xfrm>
            <a:off x="365760" y="2726518"/>
            <a:ext cx="2578100" cy="1364186"/>
          </a:xfrm>
          <a:prstGeom prst="roundRect">
            <a:avLst>
              <a:gd name="adj" fmla="val 8043"/>
            </a:avLst>
          </a:prstGeom>
          <a:solidFill>
            <a:srgbClr val="FFFFFF"/>
          </a:solidFill>
          <a:ln w="12700">
            <a:solidFill>
              <a:srgbClr val="FFFFFF"/>
            </a:solidFill>
            <a:prstDash val="solid"/>
          </a:ln>
        </p:spPr>
      </p:sp>
      <p:sp>
        <p:nvSpPr>
          <p:cNvPr id="10" name="icon bg POST"/>
          <p:cNvSpPr/>
          <p:nvPr/>
        </p:nvSpPr>
        <p:spPr>
          <a:xfrm>
            <a:off x="543560" y="2879989"/>
            <a:ext cx="444500" cy="426308"/>
          </a:xfrm>
          <a:prstGeom prst="ellipse">
            <a:avLst/>
          </a:prstGeom>
          <a:solidFill>
            <a:srgbClr val="5DA144"/>
          </a:solidFill>
          <a:ln w="12700">
            <a:solidFill>
              <a:srgbClr val="5DA144"/>
            </a:solidFill>
            <a:prstDash val="solid"/>
          </a:ln>
        </p:spPr>
      </p:sp>
      <p:pic>
        <p:nvPicPr>
          <p:cNvPr id="11" name="icon POST" descr="preencoded.png">    </p:cNvPr>
          <p:cNvPicPr>
            <a:picLocks noChangeAspect="1"/>
          </p:cNvPicPr>
          <p:nvPr/>
        </p:nvPicPr>
        <p:blipFill>
          <a:blip r:embed="rId2"/>
          <a:stretch>
            <a:fillRect/>
          </a:stretch>
        </p:blipFill>
        <p:spPr>
          <a:xfrm>
            <a:off x="641350" y="2973777"/>
            <a:ext cx="248920" cy="238733"/>
          </a:xfrm>
          <a:prstGeom prst="rect">
            <a:avLst/>
          </a:prstGeom>
        </p:spPr>
      </p:pic>
      <p:sp>
        <p:nvSpPr>
          <p:cNvPr id="12" name="card title POST"/>
          <p:cNvSpPr txBox="1"/>
          <p:nvPr/>
        </p:nvSpPr>
        <p:spPr>
          <a:xfrm>
            <a:off x="1121410" y="2879989"/>
            <a:ext cx="1689100" cy="426308"/>
          </a:xfrm>
          <a:prstGeom prst="rect">
            <a:avLst/>
          </a:prstGeom>
          <a:noFill/>
          <a:ln/>
        </p:spPr>
        <p:txBody>
          <a:bodyPr wrap="square" lIns="0" tIns="0" rIns="0" bIns="0" rtlCol="0" anchor="ctr"/>
          <a:lstStyle/>
          <a:p>
            <a:pPr indent="0" marL="0">
              <a:buNone/>
            </a:pPr>
            <a:r>
              <a:rPr lang="en-US" sz="1200" b="1" dirty="0">
                <a:solidFill>
                  <a:srgbClr val="072E47"/>
                </a:solidFill>
              </a:rPr>
              <a:t>POST</a:t>
            </a:r>
            <a:endParaRPr lang="en-US" sz="1200" dirty="0"/>
          </a:p>
        </p:txBody>
      </p:sp>
      <p:sp>
        <p:nvSpPr>
          <p:cNvPr id="13" name="card body POST"/>
          <p:cNvSpPr txBox="1"/>
          <p:nvPr/>
        </p:nvSpPr>
        <p:spPr>
          <a:xfrm>
            <a:off x="543560" y="3408611"/>
            <a:ext cx="2222500" cy="554201"/>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The browser SENDS data: a form submit. The server may change something.</a:t>
            </a:r>
            <a:endParaRPr lang="en-US" sz="1300" dirty="0"/>
          </a:p>
        </p:txBody>
      </p:sp>
      <p:sp>
        <p:nvSpPr>
          <p:cNvPr id="14" name="code card"/>
          <p:cNvSpPr/>
          <p:nvPr/>
        </p:nvSpPr>
        <p:spPr>
          <a:xfrm>
            <a:off x="3121660" y="1234440"/>
            <a:ext cx="5245100" cy="3112049"/>
          </a:xfrm>
          <a:prstGeom prst="roundRect">
            <a:avLst>
              <a:gd name="adj" fmla="val 3526"/>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15" name="file label"/>
          <p:cNvSpPr/>
          <p:nvPr/>
        </p:nvSpPr>
        <p:spPr>
          <a:xfrm>
            <a:off x="3299460" y="1336754"/>
            <a:ext cx="1671320" cy="238733"/>
          </a:xfrm>
          <a:prstGeom prst="roundRect">
            <a:avLst>
              <a:gd name="adj" fmla="val 30642"/>
            </a:avLst>
          </a:prstGeom>
          <a:solidFill>
            <a:srgbClr val="F99508"/>
          </a:solidFill>
          <a:ln w="12700">
            <a:solidFill>
              <a:srgbClr val="F99508"/>
            </a:solidFill>
            <a:prstDash val="solid"/>
          </a:ln>
        </p:spPr>
      </p:sp>
      <p:sp>
        <p:nvSpPr>
          <p:cNvPr id="16" name="file label text"/>
          <p:cNvSpPr txBox="1"/>
          <p:nvPr/>
        </p:nvSpPr>
        <p:spPr>
          <a:xfrm>
            <a:off x="3299460" y="1336754"/>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reviewers/views.py</a:t>
            </a:r>
            <a:endParaRPr lang="en-US" sz="1000" dirty="0"/>
          </a:p>
        </p:txBody>
      </p:sp>
      <p:sp>
        <p:nvSpPr>
          <p:cNvPr id="17" name="code"/>
          <p:cNvSpPr txBox="1"/>
          <p:nvPr/>
        </p:nvSpPr>
        <p:spPr>
          <a:xfrm>
            <a:off x="3343910" y="1660748"/>
            <a:ext cx="4800600" cy="2557849"/>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reviewer_create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method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"POST"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form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ReviewerForm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POST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form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is_valid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reviewer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form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save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redirect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"reviewers:question_add"</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slug</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slug</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else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form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ReviewerForm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render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request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"reviewers/reviewer_form.html"</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"form"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form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The form template (and the mysterious csrf_token)</a:t>
            </a:r>
            <a:endParaRPr lang="en-US" sz="2400" dirty="0"/>
          </a:p>
        </p:txBody>
      </p:sp>
      <p:sp>
        <p:nvSpPr>
          <p:cNvPr id="4" name="code card"/>
          <p:cNvSpPr/>
          <p:nvPr/>
        </p:nvSpPr>
        <p:spPr>
          <a:xfrm>
            <a:off x="365760" y="1234440"/>
            <a:ext cx="5511800" cy="2131541"/>
          </a:xfrm>
          <a:prstGeom prst="roundRect">
            <a:avLst>
              <a:gd name="adj" fmla="val 514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318262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31826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templates/reviewers/reviewer_form.html</a:t>
            </a:r>
            <a:endParaRPr lang="en-US" sz="1000" dirty="0"/>
          </a:p>
        </p:txBody>
      </p:sp>
      <p:sp>
        <p:nvSpPr>
          <p:cNvPr id="7" name="code"/>
          <p:cNvSpPr txBox="1"/>
          <p:nvPr/>
        </p:nvSpPr>
        <p:spPr>
          <a:xfrm>
            <a:off x="588010" y="1660748"/>
            <a:ext cx="5067300" cy="1577340"/>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extends</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"base.html"</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block</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content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h1</a:t>
            </a:r>
            <a:pPr indent="0" marL="0">
              <a:buNone/>
            </a:pPr>
            <a:r>
              <a:rPr lang="en-US" sz="1100" dirty="0">
                <a:solidFill>
                  <a:srgbClr val="F92672"/>
                </a:solidFill>
                <a:latin typeface="Courier New" pitchFamily="34" charset="0"/>
                <a:ea typeface="Courier New" pitchFamily="34" charset="-122"/>
                <a:cs typeface="Courier New" pitchFamily="34" charset="-120"/>
              </a:rPr>
              <a:t>&gt;</a:t>
            </a:r>
            <a:pPr indent="0" marL="0">
              <a:buNone/>
            </a:pPr>
            <a:r>
              <a:rPr lang="en-US" sz="1100" dirty="0">
                <a:solidFill>
                  <a:srgbClr val="66D9EF"/>
                </a:solidFill>
                <a:latin typeface="Courier New" pitchFamily="34" charset="0"/>
                <a:ea typeface="Courier New" pitchFamily="34" charset="-122"/>
                <a:cs typeface="Courier New" pitchFamily="34" charset="-120"/>
              </a:rPr>
              <a:t>New</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reviewer</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h1</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form</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method</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"post"</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csrf_token</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form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as_div</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button</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type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"submit"</a:t>
            </a:r>
            <a:pPr indent="0" marL="0">
              <a:buNone/>
            </a:pPr>
            <a:r>
              <a:rPr lang="en-US" sz="1100" dirty="0">
                <a:solidFill>
                  <a:srgbClr val="F92672"/>
                </a:solidFill>
                <a:latin typeface="Courier New" pitchFamily="34" charset="0"/>
                <a:ea typeface="Courier New" pitchFamily="34" charset="-122"/>
                <a:cs typeface="Courier New" pitchFamily="34" charset="-120"/>
              </a:rPr>
              <a:t>&gt;</a:t>
            </a:r>
            <a:pPr indent="0" marL="0">
              <a:buNone/>
            </a:pPr>
            <a:r>
              <a:rPr lang="en-US" sz="1100" dirty="0">
                <a:solidFill>
                  <a:srgbClr val="66D9EF"/>
                </a:solidFill>
                <a:latin typeface="Courier New" pitchFamily="34" charset="0"/>
                <a:ea typeface="Courier New" pitchFamily="34" charset="-122"/>
                <a:cs typeface="Courier New" pitchFamily="34" charset="-120"/>
              </a:rPr>
              <a:t>Create</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reviewer</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button</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form</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endblock</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endParaRPr lang="en-US" sz="1100" dirty="0"/>
          </a:p>
        </p:txBody>
      </p:sp>
      <p:sp>
        <p:nvSpPr>
          <p:cNvPr id="8" name="badge 1"/>
          <p:cNvSpPr/>
          <p:nvPr/>
        </p:nvSpPr>
        <p:spPr>
          <a:xfrm>
            <a:off x="6055360" y="1277071"/>
            <a:ext cx="320040" cy="306942"/>
          </a:xfrm>
          <a:prstGeom prst="ellipse">
            <a:avLst/>
          </a:prstGeom>
          <a:solidFill>
            <a:srgbClr val="8FD3CC"/>
          </a:solidFill>
          <a:ln w="12700">
            <a:solidFill>
              <a:srgbClr val="8FD3CC"/>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724724"/>
          </a:xfrm>
          <a:prstGeom prst="rect">
            <a:avLst/>
          </a:prstGeom>
          <a:noFill/>
          <a:ln/>
        </p:spPr>
        <p:txBody>
          <a:bodyPr wrap="square" lIns="0" tIns="0" rIns="0" bIns="0" rtlCol="0" anchor="t"/>
          <a:lstStyle/>
          <a:p>
            <a:pPr indent="0" marL="0">
              <a:buNone/>
            </a:pPr>
            <a:r>
              <a:rPr lang="en-US" sz="1200" b="1" dirty="0">
                <a:solidFill>
                  <a:srgbClr val="000000"/>
                </a:solidFill>
              </a:rPr>
              <a:t>method="post"</a:t>
            </a:r>
            <a:endParaRPr lang="en-US" sz="1200" dirty="0"/>
          </a:p>
          <a:p>
            <a:pPr indent="0" marL="0">
              <a:buNone/>
            </a:pPr>
            <a:r>
              <a:rPr lang="en-US" sz="1100" dirty="0">
                <a:solidFill>
                  <a:srgbClr val="0F8D91"/>
                </a:solidFill>
              </a:rPr>
              <a:t>Without it the form sends a GET and nothing saves.</a:t>
            </a:r>
            <a:endParaRPr lang="en-US" sz="1200" dirty="0"/>
          </a:p>
        </p:txBody>
      </p:sp>
      <p:sp>
        <p:nvSpPr>
          <p:cNvPr id="11" name="badge 2"/>
          <p:cNvSpPr/>
          <p:nvPr/>
        </p:nvSpPr>
        <p:spPr>
          <a:xfrm>
            <a:off x="6055360" y="2087056"/>
            <a:ext cx="320040" cy="306942"/>
          </a:xfrm>
          <a:prstGeom prst="ellipse">
            <a:avLst/>
          </a:prstGeom>
          <a:solidFill>
            <a:srgbClr val="D9534F"/>
          </a:solidFill>
          <a:ln w="12700">
            <a:solidFill>
              <a:srgbClr val="D9534F"/>
            </a:solidFill>
            <a:prstDash val="solid"/>
          </a:ln>
        </p:spPr>
      </p:sp>
      <p:sp>
        <p:nvSpPr>
          <p:cNvPr id="12" name="badge 2 text"/>
          <p:cNvSpPr txBox="1"/>
          <p:nvPr/>
        </p:nvSpPr>
        <p:spPr>
          <a:xfrm>
            <a:off x="6055360" y="2087056"/>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044425"/>
            <a:ext cx="1884680" cy="724724"/>
          </a:xfrm>
          <a:prstGeom prst="rect">
            <a:avLst/>
          </a:prstGeom>
          <a:noFill/>
          <a:ln/>
        </p:spPr>
        <p:txBody>
          <a:bodyPr wrap="square" lIns="0" tIns="0" rIns="0" bIns="0" rtlCol="0" anchor="t"/>
          <a:lstStyle/>
          <a:p>
            <a:pPr indent="0" marL="0">
              <a:buNone/>
            </a:pPr>
            <a:r>
              <a:rPr lang="en-US" sz="1200" b="1" dirty="0">
                <a:solidFill>
                  <a:srgbClr val="000000"/>
                </a:solidFill>
              </a:rPr>
              <a:t>{% csrf_token %}</a:t>
            </a:r>
            <a:endParaRPr lang="en-US" sz="1200" dirty="0"/>
          </a:p>
          <a:p>
            <a:pPr indent="0" marL="0">
              <a:buNone/>
            </a:pPr>
            <a:r>
              <a:rPr lang="en-US" sz="1100" dirty="0">
                <a:solidFill>
                  <a:srgbClr val="0F8D91"/>
                </a:solidFill>
              </a:rPr>
              <a:t>A secret stamp. Django blocks POSTs that lack it (403 error).</a:t>
            </a:r>
            <a:endParaRPr lang="en-US" sz="1200" dirty="0"/>
          </a:p>
        </p:txBody>
      </p:sp>
      <p:sp>
        <p:nvSpPr>
          <p:cNvPr id="14" name="badge 3"/>
          <p:cNvSpPr/>
          <p:nvPr/>
        </p:nvSpPr>
        <p:spPr>
          <a:xfrm>
            <a:off x="6055360" y="2897042"/>
            <a:ext cx="320040" cy="306942"/>
          </a:xfrm>
          <a:prstGeom prst="ellipse">
            <a:avLst/>
          </a:prstGeom>
          <a:solidFill>
            <a:srgbClr val="8FD3CC"/>
          </a:solidFill>
          <a:ln w="12700">
            <a:solidFill>
              <a:srgbClr val="8FD3CC"/>
            </a:solidFill>
            <a:prstDash val="solid"/>
          </a:ln>
        </p:spPr>
      </p:sp>
      <p:sp>
        <p:nvSpPr>
          <p:cNvPr id="15" name="badge 3 text"/>
          <p:cNvSpPr txBox="1"/>
          <p:nvPr/>
        </p:nvSpPr>
        <p:spPr>
          <a:xfrm>
            <a:off x="6055360" y="2897042"/>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854411"/>
            <a:ext cx="1884680" cy="724724"/>
          </a:xfrm>
          <a:prstGeom prst="rect">
            <a:avLst/>
          </a:prstGeom>
          <a:noFill/>
          <a:ln/>
        </p:spPr>
        <p:txBody>
          <a:bodyPr wrap="square" lIns="0" tIns="0" rIns="0" bIns="0" rtlCol="0" anchor="t"/>
          <a:lstStyle/>
          <a:p>
            <a:pPr indent="0" marL="0">
              <a:buNone/>
            </a:pPr>
            <a:r>
              <a:rPr lang="en-US" sz="1200" b="1" dirty="0">
                <a:solidFill>
                  <a:srgbClr val="000000"/>
                </a:solidFill>
              </a:rPr>
              <a:t>{{ form.as_div }}</a:t>
            </a:r>
            <a:endParaRPr lang="en-US" sz="1200" dirty="0"/>
          </a:p>
          <a:p>
            <a:pPr indent="0" marL="0">
              <a:buNone/>
            </a:pPr>
            <a:r>
              <a:rPr lang="en-US" sz="1100" dirty="0">
                <a:solidFill>
                  <a:srgbClr val="0F8D91"/>
                </a:solidFill>
              </a:rPr>
              <a:t>Django draws every field plus any error messages.</a:t>
            </a:r>
            <a:endParaRPr lang="en-US" sz="1200" dirty="0"/>
          </a:p>
        </p:txBody>
      </p:sp>
      <p:sp>
        <p:nvSpPr>
          <p:cNvPr id="17" name="tip"/>
          <p:cNvSpPr/>
          <p:nvPr/>
        </p:nvSpPr>
        <p:spPr>
          <a:xfrm>
            <a:off x="365760" y="3536504"/>
            <a:ext cx="4711700" cy="596831"/>
          </a:xfrm>
          <a:prstGeom prst="roundRect">
            <a:avLst>
              <a:gd name="adj" fmla="val 15321"/>
            </a:avLst>
          </a:prstGeom>
          <a:solidFill>
            <a:srgbClr val="FFFFFF"/>
          </a:solidFill>
          <a:ln w="12700">
            <a:solidFill>
              <a:srgbClr val="FFFFFF"/>
            </a:solidFill>
            <a:prstDash val="solid"/>
          </a:ln>
        </p:spPr>
      </p:sp>
      <p:sp>
        <p:nvSpPr>
          <p:cNvPr id="18" name="tip dot"/>
          <p:cNvSpPr/>
          <p:nvPr/>
        </p:nvSpPr>
        <p:spPr>
          <a:xfrm>
            <a:off x="499110" y="3707027"/>
            <a:ext cx="266700" cy="255785"/>
          </a:xfrm>
          <a:prstGeom prst="ellipse">
            <a:avLst/>
          </a:prstGeom>
          <a:solidFill>
            <a:srgbClr val="04B1A4"/>
          </a:solidFill>
          <a:ln w="12700">
            <a:solidFill>
              <a:srgbClr val="04B1A4"/>
            </a:solidFill>
            <a:prstDash val="solid"/>
          </a:ln>
        </p:spPr>
      </p:sp>
      <p:sp>
        <p:nvSpPr>
          <p:cNvPr id="19" name="tip mark"/>
          <p:cNvSpPr txBox="1"/>
          <p:nvPr/>
        </p:nvSpPr>
        <p:spPr>
          <a:xfrm>
            <a:off x="499110" y="3707027"/>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20" name="tip text"/>
          <p:cNvSpPr txBox="1"/>
          <p:nvPr/>
        </p:nvSpPr>
        <p:spPr>
          <a:xfrm>
            <a:off x="899160" y="3536504"/>
            <a:ext cx="4044950" cy="596831"/>
          </a:xfrm>
          <a:prstGeom prst="rect">
            <a:avLst/>
          </a:prstGeom>
          <a:noFill/>
          <a:ln/>
        </p:spPr>
        <p:txBody>
          <a:bodyPr wrap="square" lIns="0" tIns="0" rIns="0" bIns="0" rtlCol="0" anchor="ctr"/>
          <a:lstStyle/>
          <a:p>
            <a:pPr indent="0" marL="0">
              <a:buNone/>
            </a:pPr>
            <a:r>
              <a:rPr lang="en-US" sz="1200" dirty="0">
                <a:solidFill>
                  <a:srgbClr val="072E47"/>
                </a:solidFill>
              </a:rPr>
              <a:t>CSRF = Cross-Site Request Forgery. Big words, simple idea: prove the form is ours.</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10 · Adding a question and its choices</a:t>
            </a:r>
            <a:endParaRPr lang="en-US" sz="2400" dirty="0"/>
          </a:p>
        </p:txBody>
      </p:sp>
      <p:sp>
        <p:nvSpPr>
          <p:cNvPr id="4" name="code card"/>
          <p:cNvSpPr/>
          <p:nvPr/>
        </p:nvSpPr>
        <p:spPr>
          <a:xfrm>
            <a:off x="365760" y="1234440"/>
            <a:ext cx="55118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67132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reviewers/forms.py</a:t>
            </a:r>
            <a:endParaRPr lang="en-US" sz="1000" dirty="0"/>
          </a:p>
        </p:txBody>
      </p:sp>
      <p:sp>
        <p:nvSpPr>
          <p:cNvPr id="7" name="code"/>
          <p:cNvSpPr txBox="1"/>
          <p:nvPr/>
        </p:nvSpPr>
        <p:spPr>
          <a:xfrm>
            <a:off x="588010" y="1660748"/>
            <a:ext cx="5067300" cy="2600479"/>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class</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QuestionForm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forms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Form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text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forms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CharField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widget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forms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Textarea</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question_type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forms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ChoiceField</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choices</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Type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choices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answer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forms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CharField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required</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False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correct_choice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forms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TypedChoiceField</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choices</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0</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"1"</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1</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"2"</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2</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"3"</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3</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"4"</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coerce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int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required</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False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clean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self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9A9B8C"/>
                </a:solidFill>
                <a:latin typeface="Courier New" pitchFamily="34" charset="0"/>
                <a:ea typeface="Courier New" pitchFamily="34" charset="-122"/>
                <a:cs typeface="Courier New" pitchFamily="34" charset="-120"/>
              </a:rPr>
              <a:t># choice_0..3 come from __init__</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"""Rules that need several fields."""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data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super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clean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data</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"question_type"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"multiple_choice"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len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self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choice_texts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E81FF"/>
                </a:solidFill>
                <a:latin typeface="Courier New" pitchFamily="34" charset="0"/>
                <a:ea typeface="Courier New" pitchFamily="34" charset="-122"/>
                <a:cs typeface="Courier New" pitchFamily="34" charset="-120"/>
              </a:rPr>
              <a:t>2</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raise</a:t>
            </a:r>
            <a:pPr indent="0" marL="0">
              <a:buNone/>
            </a:pPr>
            <a:r>
              <a:rPr lang="en-US" sz="1100" dirty="0">
                <a:solidFill>
                  <a:srgbClr val="F8F8F2"/>
                </a:solidFill>
                <a:latin typeface="Courier New" pitchFamily="34" charset="0"/>
                <a:ea typeface="Courier New" pitchFamily="34" charset="-122"/>
                <a:cs typeface="Courier New" pitchFamily="34" charset="-120"/>
              </a:rPr>
              <a:t> forms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ValidationError</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"Need at least two choices."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8" name="badge 1"/>
          <p:cNvSpPr/>
          <p:nvPr/>
        </p:nvSpPr>
        <p:spPr>
          <a:xfrm>
            <a:off x="6055360" y="1277071"/>
            <a:ext cx="320040" cy="306942"/>
          </a:xfrm>
          <a:prstGeom prst="ellipse">
            <a:avLst/>
          </a:prstGeom>
          <a:solidFill>
            <a:srgbClr val="8FD3CC"/>
          </a:solidFill>
          <a:ln w="12700">
            <a:solidFill>
              <a:srgbClr val="8FD3CC"/>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682093"/>
          </a:xfrm>
          <a:prstGeom prst="rect">
            <a:avLst/>
          </a:prstGeom>
          <a:noFill/>
          <a:ln/>
        </p:spPr>
        <p:txBody>
          <a:bodyPr wrap="square" lIns="0" tIns="0" rIns="0" bIns="0" rtlCol="0" anchor="t"/>
          <a:lstStyle/>
          <a:p>
            <a:pPr indent="0" marL="0">
              <a:buNone/>
            </a:pPr>
            <a:r>
              <a:rPr lang="en-US" sz="1200" b="1" dirty="0">
                <a:solidFill>
                  <a:srgbClr val="000000"/>
                </a:solidFill>
              </a:rPr>
              <a:t>Fields per input</a:t>
            </a:r>
            <a:endParaRPr lang="en-US" sz="1200" dirty="0"/>
          </a:p>
          <a:p>
            <a:pPr indent="0" marL="0">
              <a:buNone/>
            </a:pPr>
            <a:r>
              <a:rPr lang="en-US" sz="1100" dirty="0">
                <a:solidFill>
                  <a:srgbClr val="0F8D91"/>
                </a:solidFill>
              </a:rPr>
              <a:t>Each attribute becomes an &lt;input&gt;.</a:t>
            </a:r>
            <a:endParaRPr lang="en-US" sz="1200" dirty="0"/>
          </a:p>
        </p:txBody>
      </p:sp>
      <p:sp>
        <p:nvSpPr>
          <p:cNvPr id="11" name="badge 2"/>
          <p:cNvSpPr/>
          <p:nvPr/>
        </p:nvSpPr>
        <p:spPr>
          <a:xfrm>
            <a:off x="6055360" y="2044425"/>
            <a:ext cx="320040" cy="306942"/>
          </a:xfrm>
          <a:prstGeom prst="ellipse">
            <a:avLst/>
          </a:prstGeom>
          <a:solidFill>
            <a:srgbClr val="8FD3CC"/>
          </a:solidFill>
          <a:ln w="12700">
            <a:solidFill>
              <a:srgbClr val="8FD3CC"/>
            </a:solidFill>
            <a:prstDash val="solid"/>
          </a:ln>
        </p:spPr>
      </p:sp>
      <p:sp>
        <p:nvSpPr>
          <p:cNvPr id="12" name="badge 2 text"/>
          <p:cNvSpPr txBox="1"/>
          <p:nvPr/>
        </p:nvSpPr>
        <p:spPr>
          <a:xfrm>
            <a:off x="6055360" y="2044425"/>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001795"/>
            <a:ext cx="1884680" cy="767355"/>
          </a:xfrm>
          <a:prstGeom prst="rect">
            <a:avLst/>
          </a:prstGeom>
          <a:noFill/>
          <a:ln/>
        </p:spPr>
        <p:txBody>
          <a:bodyPr wrap="square" lIns="0" tIns="0" rIns="0" bIns="0" rtlCol="0" anchor="t"/>
          <a:lstStyle/>
          <a:p>
            <a:pPr indent="0" marL="0">
              <a:buNone/>
            </a:pPr>
            <a:r>
              <a:rPr lang="en-US" sz="1200" b="1" dirty="0">
                <a:solidFill>
                  <a:srgbClr val="000000"/>
                </a:solidFill>
              </a:rPr>
              <a:t>clean() = house rules</a:t>
            </a:r>
            <a:endParaRPr lang="en-US" sz="1200" dirty="0"/>
          </a:p>
          <a:p>
            <a:pPr indent="0" marL="0">
              <a:buNone/>
            </a:pPr>
            <a:r>
              <a:rPr lang="en-US" sz="1100" dirty="0">
                <a:solidFill>
                  <a:srgbClr val="0F8D91"/>
                </a:solidFill>
              </a:rPr>
              <a:t>MC needs 2+ choices and a correct one; direct needs an answer.</a:t>
            </a:r>
            <a:endParaRPr lang="en-US" sz="1200" dirty="0"/>
          </a:p>
        </p:txBody>
      </p:sp>
      <p:sp>
        <p:nvSpPr>
          <p:cNvPr id="14" name="badge 3"/>
          <p:cNvSpPr/>
          <p:nvPr/>
        </p:nvSpPr>
        <p:spPr>
          <a:xfrm>
            <a:off x="6055360" y="2897042"/>
            <a:ext cx="320040" cy="306942"/>
          </a:xfrm>
          <a:prstGeom prst="ellipse">
            <a:avLst/>
          </a:prstGeom>
          <a:solidFill>
            <a:srgbClr val="1B6F86"/>
          </a:solidFill>
          <a:ln w="12700">
            <a:solidFill>
              <a:srgbClr val="1B6F86"/>
            </a:solidFill>
            <a:prstDash val="solid"/>
          </a:ln>
        </p:spPr>
      </p:sp>
      <p:sp>
        <p:nvSpPr>
          <p:cNvPr id="15" name="badge 3 text"/>
          <p:cNvSpPr txBox="1"/>
          <p:nvPr/>
        </p:nvSpPr>
        <p:spPr>
          <a:xfrm>
            <a:off x="6055360" y="2897042"/>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854411"/>
            <a:ext cx="1884680" cy="767355"/>
          </a:xfrm>
          <a:prstGeom prst="rect">
            <a:avLst/>
          </a:prstGeom>
          <a:noFill/>
          <a:ln/>
        </p:spPr>
        <p:txBody>
          <a:bodyPr wrap="square" lIns="0" tIns="0" rIns="0" bIns="0" rtlCol="0" anchor="t"/>
          <a:lstStyle/>
          <a:p>
            <a:pPr indent="0" marL="0">
              <a:buNone/>
            </a:pPr>
            <a:r>
              <a:rPr lang="en-US" sz="1200" b="1" dirty="0">
                <a:solidFill>
                  <a:srgbClr val="000000"/>
                </a:solidFill>
              </a:rPr>
              <a:t>Save together</a:t>
            </a:r>
            <a:endParaRPr lang="en-US" sz="1200" dirty="0"/>
          </a:p>
          <a:p>
            <a:pPr indent="0" marL="0">
              <a:buNone/>
            </a:pPr>
            <a:r>
              <a:rPr lang="en-US" sz="1100" dirty="0">
                <a:solidFill>
                  <a:srgbClr val="0F8D91"/>
                </a:solidFill>
              </a:rPr>
              <a:t>with transaction.atomic(): question + choices, or nothing.</a:t>
            </a:r>
            <a:endParaRPr lang="en-US" sz="1200" dirty="0"/>
          </a:p>
        </p:txBody>
      </p:sp>
      <p:sp>
        <p:nvSpPr>
          <p:cNvPr id="17" name="tip"/>
          <p:cNvSpPr/>
          <p:nvPr/>
        </p:nvSpPr>
        <p:spPr>
          <a:xfrm>
            <a:off x="6055360" y="3792289"/>
            <a:ext cx="2311400" cy="511570"/>
          </a:xfrm>
          <a:prstGeom prst="roundRect">
            <a:avLst>
              <a:gd name="adj" fmla="val 17874"/>
            </a:avLst>
          </a:prstGeom>
          <a:solidFill>
            <a:srgbClr val="FFFFFF"/>
          </a:solidFill>
          <a:ln w="12700">
            <a:solidFill>
              <a:srgbClr val="FFFFFF"/>
            </a:solidFill>
            <a:prstDash val="solid"/>
          </a:ln>
        </p:spPr>
      </p:sp>
      <p:sp>
        <p:nvSpPr>
          <p:cNvPr id="18" name="tip dot"/>
          <p:cNvSpPr/>
          <p:nvPr/>
        </p:nvSpPr>
        <p:spPr>
          <a:xfrm>
            <a:off x="6188710" y="3920181"/>
            <a:ext cx="266700" cy="255785"/>
          </a:xfrm>
          <a:prstGeom prst="ellipse">
            <a:avLst/>
          </a:prstGeom>
          <a:solidFill>
            <a:srgbClr val="04B1A4"/>
          </a:solidFill>
          <a:ln w="12700">
            <a:solidFill>
              <a:srgbClr val="04B1A4"/>
            </a:solidFill>
            <a:prstDash val="solid"/>
          </a:ln>
        </p:spPr>
      </p:sp>
      <p:sp>
        <p:nvSpPr>
          <p:cNvPr id="19" name="tip mark"/>
          <p:cNvSpPr txBox="1"/>
          <p:nvPr/>
        </p:nvSpPr>
        <p:spPr>
          <a:xfrm>
            <a:off x="6188710" y="3920181"/>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20" name="tip text"/>
          <p:cNvSpPr txBox="1"/>
          <p:nvPr/>
        </p:nvSpPr>
        <p:spPr>
          <a:xfrm>
            <a:off x="6588760" y="3792289"/>
            <a:ext cx="1644650" cy="511570"/>
          </a:xfrm>
          <a:prstGeom prst="rect">
            <a:avLst/>
          </a:prstGeom>
          <a:noFill/>
          <a:ln/>
        </p:spPr>
        <p:txBody>
          <a:bodyPr wrap="square" lIns="0" tIns="0" rIns="0" bIns="0" rtlCol="0" anchor="ctr"/>
          <a:lstStyle/>
          <a:p>
            <a:pPr indent="0" marL="0">
              <a:buNone/>
            </a:pPr>
            <a:r>
              <a:rPr lang="en-US" sz="1200" dirty="0">
                <a:solidFill>
                  <a:srgbClr val="072E47"/>
                </a:solidFill>
              </a:rPr>
              <a:t>See views.question_add for the saving part.</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11 · A shareable link, no account needed</a:t>
            </a:r>
            <a:endParaRPr lang="en-US" sz="2400" dirty="0"/>
          </a:p>
        </p:txBody>
      </p:sp>
      <p:sp>
        <p:nvSpPr>
          <p:cNvPr id="4" name="code card"/>
          <p:cNvSpPr/>
          <p:nvPr/>
        </p:nvSpPr>
        <p:spPr>
          <a:xfrm>
            <a:off x="365760" y="1234440"/>
            <a:ext cx="55118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74688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74688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reviewers/models.py</a:t>
            </a:r>
            <a:endParaRPr lang="en-US" sz="1000" dirty="0"/>
          </a:p>
        </p:txBody>
      </p:sp>
      <p:sp>
        <p:nvSpPr>
          <p:cNvPr id="7" name="code"/>
          <p:cNvSpPr txBox="1"/>
          <p:nvPr/>
        </p:nvSpPr>
        <p:spPr>
          <a:xfrm>
            <a:off x="588010" y="1660748"/>
            <a:ext cx="5067300" cy="2600479"/>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from</a:t>
            </a:r>
            <a:pPr indent="0" marL="0">
              <a:buNone/>
            </a:pPr>
            <a:r>
              <a:rPr lang="en-US" sz="1100" dirty="0">
                <a:solidFill>
                  <a:srgbClr val="F8F8F2"/>
                </a:solidFill>
                <a:latin typeface="Courier New" pitchFamily="34" charset="0"/>
                <a:ea typeface="Courier New" pitchFamily="34" charset="-122"/>
                <a:cs typeface="Courier New" pitchFamily="34" charset="-120"/>
              </a:rPr>
              <a:t> django</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utils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text </a:t>
            </a:r>
            <a:pPr indent="0" marL="0">
              <a:buNone/>
            </a:pPr>
            <a:r>
              <a:rPr lang="en-US" sz="1100" dirty="0">
                <a:solidFill>
                  <a:srgbClr val="F92672"/>
                </a:solidFill>
                <a:latin typeface="Courier New" pitchFamily="34" charset="0"/>
                <a:ea typeface="Courier New" pitchFamily="34" charset="-122"/>
                <a:cs typeface="Courier New" pitchFamily="34" charset="-120"/>
              </a:rPr>
              <a:t>import</a:t>
            </a:r>
            <a:pPr indent="0" marL="0">
              <a:buNone/>
            </a:pPr>
            <a:r>
              <a:rPr lang="en-US" sz="1100" dirty="0">
                <a:solidFill>
                  <a:srgbClr val="F8F8F2"/>
                </a:solidFill>
                <a:latin typeface="Courier New" pitchFamily="34" charset="0"/>
                <a:ea typeface="Courier New" pitchFamily="34" charset="-122"/>
                <a:cs typeface="Courier New" pitchFamily="34" charset="-120"/>
              </a:rPr>
              <a:t> slugify</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A9B8C"/>
                </a:solidFill>
                <a:latin typeface="Courier New" pitchFamily="34" charset="0"/>
                <a:ea typeface="Courier New" pitchFamily="34" charset="-122"/>
                <a:cs typeface="Courier New" pitchFamily="34" charset="-120"/>
              </a:rPr>
              <a:t># inside class Reviewer(models.Model):</a:t>
            </a:r>
            <a:endParaRPr lang="en-US" sz="1100" dirty="0"/>
          </a:p>
          <a:p>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save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self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args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kwargs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not</a:t>
            </a:r>
            <a:pPr indent="0" marL="0">
              <a:buNone/>
            </a:pPr>
            <a:r>
              <a:rPr lang="en-US" sz="1100" dirty="0">
                <a:solidFill>
                  <a:srgbClr val="F8F8F2"/>
                </a:solidFill>
                <a:latin typeface="Courier New" pitchFamily="34" charset="0"/>
                <a:ea typeface="Courier New" pitchFamily="34" charset="-122"/>
                <a:cs typeface="Courier New" pitchFamily="34" charset="-120"/>
              </a:rPr>
              <a:t> self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slug</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base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slugify</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self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title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9A9B8C"/>
                </a:solidFill>
                <a:latin typeface="Courier New" pitchFamily="34" charset="0"/>
                <a:ea typeface="Courier New" pitchFamily="34" charset="-122"/>
                <a:cs typeface="Courier New" pitchFamily="34" charset="-120"/>
              </a:rPr>
              <a:t># Python Basics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slug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base                 </a:t>
            </a:r>
            <a:pPr indent="0" marL="0">
              <a:buNone/>
            </a:pPr>
            <a:r>
              <a:rPr lang="en-US" sz="1100" dirty="0">
                <a:solidFill>
                  <a:srgbClr val="9A9B8C"/>
                </a:solidFill>
                <a:latin typeface="Courier New" pitchFamily="34" charset="0"/>
                <a:ea typeface="Courier New" pitchFamily="34" charset="-122"/>
                <a:cs typeface="Courier New" pitchFamily="34" charset="-120"/>
              </a:rPr>
              <a:t># -&gt; python-basics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n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E81FF"/>
                </a:solidFill>
                <a:latin typeface="Courier New" pitchFamily="34" charset="0"/>
                <a:ea typeface="Courier New" pitchFamily="34" charset="-122"/>
                <a:cs typeface="Courier New" pitchFamily="34" charset="-120"/>
              </a:rPr>
              <a:t>2</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while</a:t>
            </a:r>
            <a:pPr indent="0" marL="0">
              <a:buNone/>
            </a:pPr>
            <a:r>
              <a:rPr lang="en-US" sz="1100" dirty="0">
                <a:solidFill>
                  <a:srgbClr val="F8F8F2"/>
                </a:solidFill>
                <a:latin typeface="Courier New" pitchFamily="34" charset="0"/>
                <a:ea typeface="Courier New" pitchFamily="34" charset="-122"/>
                <a:cs typeface="Courier New" pitchFamily="34" charset="-120"/>
              </a:rPr>
              <a:t> 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objects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filter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slug</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slug</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slug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base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n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E81FF"/>
                </a:solidFill>
                <a:latin typeface="Courier New" pitchFamily="34" charset="0"/>
                <a:ea typeface="Courier New" pitchFamily="34" charset="-122"/>
                <a:cs typeface="Courier New" pitchFamily="34" charset="-120"/>
              </a:rPr>
              <a:t>1</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9A9B8C"/>
                </a:solidFill>
                <a:latin typeface="Courier New" pitchFamily="34" charset="0"/>
                <a:ea typeface="Courier New" pitchFamily="34" charset="-122"/>
                <a:cs typeface="Courier New" pitchFamily="34" charset="-120"/>
              </a:rPr>
              <a:t># -2, -3</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self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slug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slug</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super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save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args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kwargs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get_absolute_url</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self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reverse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"reviewers:take"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kwargs</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"slug"</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self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slug</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8" name="card Why a slug?"/>
          <p:cNvSpPr/>
          <p:nvPr/>
        </p:nvSpPr>
        <p:spPr>
          <a:xfrm>
            <a:off x="6055360" y="1234440"/>
            <a:ext cx="2311400" cy="1619971"/>
          </a:xfrm>
          <a:prstGeom prst="roundRect">
            <a:avLst>
              <a:gd name="adj" fmla="val 6773"/>
            </a:avLst>
          </a:prstGeom>
          <a:solidFill>
            <a:srgbClr val="FFFFFF"/>
          </a:solidFill>
          <a:ln w="12700">
            <a:solidFill>
              <a:srgbClr val="FFFFFF"/>
            </a:solidFill>
            <a:prstDash val="solid"/>
          </a:ln>
        </p:spPr>
      </p:sp>
      <p:sp>
        <p:nvSpPr>
          <p:cNvPr id="9" name="icon bg Why a slug?"/>
          <p:cNvSpPr/>
          <p:nvPr/>
        </p:nvSpPr>
        <p:spPr>
          <a:xfrm>
            <a:off x="6233160" y="1387911"/>
            <a:ext cx="444500" cy="426308"/>
          </a:xfrm>
          <a:prstGeom prst="ellipse">
            <a:avLst/>
          </a:prstGeom>
          <a:solidFill>
            <a:srgbClr val="8FD3CC"/>
          </a:solidFill>
          <a:ln w="12700">
            <a:solidFill>
              <a:srgbClr val="8FD3CC"/>
            </a:solidFill>
            <a:prstDash val="solid"/>
          </a:ln>
        </p:spPr>
      </p:sp>
      <p:pic>
        <p:nvPicPr>
          <p:cNvPr id="10" name="icon Why a slug?" descr="preencoded.png">    </p:cNvPr>
          <p:cNvPicPr>
            <a:picLocks noChangeAspect="1"/>
          </p:cNvPicPr>
          <p:nvPr/>
        </p:nvPicPr>
        <p:blipFill>
          <a:blip r:embed="rId1"/>
          <a:stretch>
            <a:fillRect/>
          </a:stretch>
        </p:blipFill>
        <p:spPr>
          <a:xfrm>
            <a:off x="6330950" y="1481699"/>
            <a:ext cx="248920" cy="238733"/>
          </a:xfrm>
          <a:prstGeom prst="rect">
            <a:avLst/>
          </a:prstGeom>
        </p:spPr>
      </p:pic>
      <p:sp>
        <p:nvSpPr>
          <p:cNvPr id="11" name="card title Why a slug?"/>
          <p:cNvSpPr txBox="1"/>
          <p:nvPr/>
        </p:nvSpPr>
        <p:spPr>
          <a:xfrm>
            <a:off x="6811010" y="1387911"/>
            <a:ext cx="1422400" cy="426308"/>
          </a:xfrm>
          <a:prstGeom prst="rect">
            <a:avLst/>
          </a:prstGeom>
          <a:noFill/>
          <a:ln/>
        </p:spPr>
        <p:txBody>
          <a:bodyPr wrap="square" lIns="0" tIns="0" rIns="0" bIns="0" rtlCol="0" anchor="ctr"/>
          <a:lstStyle/>
          <a:p>
            <a:pPr indent="0" marL="0">
              <a:buNone/>
            </a:pPr>
            <a:r>
              <a:rPr lang="en-US" sz="1200" b="1" dirty="0">
                <a:solidFill>
                  <a:srgbClr val="072E47"/>
                </a:solidFill>
              </a:rPr>
              <a:t>Why a slug?</a:t>
            </a:r>
            <a:endParaRPr lang="en-US" sz="1200" dirty="0"/>
          </a:p>
        </p:txBody>
      </p:sp>
      <p:sp>
        <p:nvSpPr>
          <p:cNvPr id="12" name="card body Why a slug?"/>
          <p:cNvSpPr txBox="1"/>
          <p:nvPr/>
        </p:nvSpPr>
        <p:spPr>
          <a:xfrm>
            <a:off x="6233160" y="1916533"/>
            <a:ext cx="1955800" cy="809985"/>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0F8D91"/>
                </a:solidFill>
              </a:rPr>
              <a:t>Readable URLs</a:t>
            </a:r>
            <a:endParaRPr lang="en-US" sz="1200" dirty="0"/>
          </a:p>
          <a:p>
            <a:pPr marL="342900" indent="-342900">
              <a:spcAft>
                <a:spcPts val="400"/>
              </a:spcAft>
              <a:buSzPct val="100000"/>
              <a:buChar char="•"/>
            </a:pPr>
            <a:r>
              <a:rPr lang="en-US" sz="1200" dirty="0">
                <a:solidFill>
                  <a:srgbClr val="0F8D91"/>
                </a:solidFill>
              </a:rPr>
              <a:t>Stable if the title changes</a:t>
            </a:r>
            <a:endParaRPr lang="en-US" sz="1200" dirty="0"/>
          </a:p>
          <a:p>
            <a:pPr marL="342900" indent="-342900">
              <a:spcAft>
                <a:spcPts val="400"/>
              </a:spcAft>
              <a:buSzPct val="100000"/>
              <a:buChar char="•"/>
            </a:pPr>
            <a:r>
              <a:rPr lang="en-US" sz="1200" dirty="0">
                <a:solidFill>
                  <a:srgbClr val="0F8D91"/>
                </a:solidFill>
              </a:rPr>
              <a:t>No spaces or odd characters</a:t>
            </a:r>
            <a:endParaRPr lang="en-US" sz="1200" dirty="0"/>
          </a:p>
        </p:txBody>
      </p:sp>
      <p:sp>
        <p:nvSpPr>
          <p:cNvPr id="13" name="card No login for takers"/>
          <p:cNvSpPr/>
          <p:nvPr/>
        </p:nvSpPr>
        <p:spPr>
          <a:xfrm>
            <a:off x="6055360" y="2982303"/>
            <a:ext cx="2311400" cy="1065770"/>
          </a:xfrm>
          <a:prstGeom prst="roundRect">
            <a:avLst>
              <a:gd name="adj" fmla="val 10296"/>
            </a:avLst>
          </a:prstGeom>
          <a:solidFill>
            <a:srgbClr val="FFFFFF"/>
          </a:solidFill>
          <a:ln w="12700">
            <a:solidFill>
              <a:srgbClr val="FFFFFF"/>
            </a:solidFill>
            <a:prstDash val="solid"/>
          </a:ln>
        </p:spPr>
      </p:sp>
      <p:sp>
        <p:nvSpPr>
          <p:cNvPr id="14" name="card title No login for takers"/>
          <p:cNvSpPr txBox="1"/>
          <p:nvPr/>
        </p:nvSpPr>
        <p:spPr>
          <a:xfrm>
            <a:off x="6233160" y="3110196"/>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No login for takers</a:t>
            </a:r>
            <a:endParaRPr lang="en-US" sz="1200" dirty="0"/>
          </a:p>
        </p:txBody>
      </p:sp>
      <p:sp>
        <p:nvSpPr>
          <p:cNvPr id="15" name="card body No login for takers"/>
          <p:cNvSpPr txBox="1"/>
          <p:nvPr/>
        </p:nvSpPr>
        <p:spPr>
          <a:xfrm>
            <a:off x="6233160" y="3493873"/>
            <a:ext cx="1955800" cy="426308"/>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The link IS the access. Simple for a public reviewer.</a:t>
            </a:r>
            <a:endParaRPr lang="en-US" sz="13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12 · The take page: radio buttons or a text box</a:t>
            </a:r>
            <a:endParaRPr lang="en-US" sz="2400" dirty="0"/>
          </a:p>
        </p:txBody>
      </p:sp>
      <p:sp>
        <p:nvSpPr>
          <p:cNvPr id="4" name="code card"/>
          <p:cNvSpPr/>
          <p:nvPr/>
        </p:nvSpPr>
        <p:spPr>
          <a:xfrm>
            <a:off x="365760" y="1234440"/>
            <a:ext cx="55118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250253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250253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templates/reviewers/take.html</a:t>
            </a:r>
            <a:endParaRPr lang="en-US" sz="1000" dirty="0"/>
          </a:p>
        </p:txBody>
      </p:sp>
      <p:sp>
        <p:nvSpPr>
          <p:cNvPr id="7" name="code"/>
          <p:cNvSpPr txBox="1"/>
          <p:nvPr/>
        </p:nvSpPr>
        <p:spPr>
          <a:xfrm>
            <a:off x="588010" y="1660748"/>
            <a:ext cx="5067300" cy="2600479"/>
          </a:xfrm>
          <a:prstGeom prst="rect">
            <a:avLst/>
          </a:prstGeom>
          <a:noFill/>
          <a:ln/>
        </p:spPr>
        <p:txBody>
          <a:bodyPr wrap="square" lIns="0" tIns="0" rIns="0" bIns="0" rtlCol="0" anchor="t"/>
          <a:lstStyle/>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for</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in</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questions</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b</a:t>
            </a:r>
            <a:pPr indent="0" marL="0">
              <a:buNone/>
            </a:pPr>
            <a:r>
              <a:rPr lang="en-US" sz="1100" dirty="0">
                <a:solidFill>
                  <a:srgbClr val="F92672"/>
                </a:solidFill>
                <a:latin typeface="Courier New" pitchFamily="34" charset="0"/>
                <a:ea typeface="Courier New" pitchFamily="34" charset="-122"/>
                <a:cs typeface="Courier New" pitchFamily="34" charset="-120"/>
              </a:rPr>
              <a:t>&gt;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forloop</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counter</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text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b</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is_multiple_choice</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for</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choice</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in</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choices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all</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label</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input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type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"radio"</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name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"q_{{ question.id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value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 choice.id }}"</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required</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choice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text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label</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endfor</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else</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&lt;</a:t>
            </a:r>
            <a:pPr indent="0" marL="0">
              <a:buNone/>
            </a:pPr>
            <a:r>
              <a:rPr lang="en-US" sz="1100" dirty="0">
                <a:solidFill>
                  <a:srgbClr val="66D9EF"/>
                </a:solidFill>
                <a:latin typeface="Courier New" pitchFamily="34" charset="0"/>
                <a:ea typeface="Courier New" pitchFamily="34" charset="-122"/>
                <a:cs typeface="Courier New" pitchFamily="34" charset="-120"/>
              </a:rPr>
              <a:t>input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type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"text"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name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"q_{{ question.id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required</a:t>
            </a:r>
            <a:pPr indent="0" marL="0">
              <a:buNone/>
            </a:pPr>
            <a:r>
              <a:rPr lang="en-US" sz="1100" dirty="0">
                <a:solidFill>
                  <a:srgbClr val="F92672"/>
                </a:solidFill>
                <a:latin typeface="Courier New" pitchFamily="34" charset="0"/>
                <a:ea typeface="Courier New" pitchFamily="34" charset="-122"/>
                <a:cs typeface="Courier New" pitchFamily="34" charset="-120"/>
              </a:rPr>
              <a:t>&gt;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endif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endfor</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endParaRPr lang="en-US" sz="1100" dirty="0"/>
          </a:p>
        </p:txBody>
      </p:sp>
      <p:sp>
        <p:nvSpPr>
          <p:cNvPr id="8" name="badge 1"/>
          <p:cNvSpPr/>
          <p:nvPr/>
        </p:nvSpPr>
        <p:spPr>
          <a:xfrm>
            <a:off x="6055360" y="1277071"/>
            <a:ext cx="320040" cy="306942"/>
          </a:xfrm>
          <a:prstGeom prst="ellipse">
            <a:avLst/>
          </a:prstGeom>
          <a:solidFill>
            <a:srgbClr val="F99508"/>
          </a:solidFill>
          <a:ln w="12700">
            <a:solidFill>
              <a:srgbClr val="F99508"/>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767355"/>
          </a:xfrm>
          <a:prstGeom prst="rect">
            <a:avLst/>
          </a:prstGeom>
          <a:noFill/>
          <a:ln/>
        </p:spPr>
        <p:txBody>
          <a:bodyPr wrap="square" lIns="0" tIns="0" rIns="0" bIns="0" rtlCol="0" anchor="t"/>
          <a:lstStyle/>
          <a:p>
            <a:pPr indent="0" marL="0">
              <a:buNone/>
            </a:pPr>
            <a:r>
              <a:rPr lang="en-US" sz="1200" b="1" dirty="0">
                <a:solidFill>
                  <a:srgbClr val="000000"/>
                </a:solidFill>
              </a:rPr>
              <a:t>{% if %} in a template</a:t>
            </a:r>
            <a:endParaRPr lang="en-US" sz="1200" dirty="0"/>
          </a:p>
          <a:p>
            <a:pPr indent="0" marL="0">
              <a:buNone/>
            </a:pPr>
            <a:r>
              <a:rPr lang="en-US" sz="1100" dirty="0">
                <a:solidFill>
                  <a:srgbClr val="0F8D91"/>
                </a:solidFill>
              </a:rPr>
              <a:t>Multiple choice gets radios, direct gets a text box.</a:t>
            </a:r>
            <a:endParaRPr lang="en-US" sz="1200" dirty="0"/>
          </a:p>
        </p:txBody>
      </p:sp>
      <p:sp>
        <p:nvSpPr>
          <p:cNvPr id="11" name="badge 2"/>
          <p:cNvSpPr/>
          <p:nvPr/>
        </p:nvSpPr>
        <p:spPr>
          <a:xfrm>
            <a:off x="6055360" y="2129687"/>
            <a:ext cx="320040" cy="306942"/>
          </a:xfrm>
          <a:prstGeom prst="ellipse">
            <a:avLst/>
          </a:prstGeom>
          <a:solidFill>
            <a:srgbClr val="8FD3CC"/>
          </a:solidFill>
          <a:ln w="12700">
            <a:solidFill>
              <a:srgbClr val="8FD3CC"/>
            </a:solidFill>
            <a:prstDash val="solid"/>
          </a:ln>
        </p:spPr>
      </p:sp>
      <p:sp>
        <p:nvSpPr>
          <p:cNvPr id="12" name="badge 2 text"/>
          <p:cNvSpPr txBox="1"/>
          <p:nvPr/>
        </p:nvSpPr>
        <p:spPr>
          <a:xfrm>
            <a:off x="6055360" y="2129687"/>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087056"/>
            <a:ext cx="1884680" cy="767355"/>
          </a:xfrm>
          <a:prstGeom prst="rect">
            <a:avLst/>
          </a:prstGeom>
          <a:noFill/>
          <a:ln/>
        </p:spPr>
        <p:txBody>
          <a:bodyPr wrap="square" lIns="0" tIns="0" rIns="0" bIns="0" rtlCol="0" anchor="t"/>
          <a:lstStyle/>
          <a:p>
            <a:pPr indent="0" marL="0">
              <a:buNone/>
            </a:pPr>
            <a:r>
              <a:rPr lang="en-US" sz="1200" b="1" dirty="0">
                <a:solidFill>
                  <a:srgbClr val="000000"/>
                </a:solidFill>
              </a:rPr>
              <a:t>name="q_{{ question.id }}"</a:t>
            </a:r>
            <a:endParaRPr lang="en-US" sz="1200" dirty="0"/>
          </a:p>
          <a:p>
            <a:pPr indent="0" marL="0">
              <a:buNone/>
            </a:pPr>
            <a:r>
              <a:rPr lang="en-US" sz="1100" dirty="0">
                <a:solidFill>
                  <a:srgbClr val="0F8D91"/>
                </a:solidFill>
              </a:rPr>
              <a:t>Each answer is labelled with its question's id.</a:t>
            </a:r>
            <a:endParaRPr lang="en-US" sz="1200" dirty="0"/>
          </a:p>
        </p:txBody>
      </p:sp>
      <p:sp>
        <p:nvSpPr>
          <p:cNvPr id="14" name="badge 3"/>
          <p:cNvSpPr/>
          <p:nvPr/>
        </p:nvSpPr>
        <p:spPr>
          <a:xfrm>
            <a:off x="6055360" y="2982303"/>
            <a:ext cx="320040" cy="306942"/>
          </a:xfrm>
          <a:prstGeom prst="ellipse">
            <a:avLst/>
          </a:prstGeom>
          <a:solidFill>
            <a:srgbClr val="04B1A4"/>
          </a:solidFill>
          <a:ln w="12700">
            <a:solidFill>
              <a:srgbClr val="04B1A4"/>
            </a:solidFill>
            <a:prstDash val="solid"/>
          </a:ln>
        </p:spPr>
      </p:sp>
      <p:sp>
        <p:nvSpPr>
          <p:cNvPr id="15" name="badge 3 text"/>
          <p:cNvSpPr txBox="1"/>
          <p:nvPr/>
        </p:nvSpPr>
        <p:spPr>
          <a:xfrm>
            <a:off x="6055360" y="2982303"/>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939672"/>
            <a:ext cx="1884680" cy="767355"/>
          </a:xfrm>
          <a:prstGeom prst="rect">
            <a:avLst/>
          </a:prstGeom>
          <a:noFill/>
          <a:ln/>
        </p:spPr>
        <p:txBody>
          <a:bodyPr wrap="square" lIns="0" tIns="0" rIns="0" bIns="0" rtlCol="0" anchor="t"/>
          <a:lstStyle/>
          <a:p>
            <a:pPr indent="0" marL="0">
              <a:buNone/>
            </a:pPr>
            <a:r>
              <a:rPr lang="en-US" sz="1200" b="1" dirty="0">
                <a:solidFill>
                  <a:srgbClr val="000000"/>
                </a:solidFill>
              </a:rPr>
              <a:t>Only published questions</a:t>
            </a:r>
            <a:endParaRPr lang="en-US" sz="1200" dirty="0"/>
          </a:p>
          <a:p>
            <a:pPr indent="0" marL="0">
              <a:buNone/>
            </a:pPr>
            <a:r>
              <a:rPr lang="en-US" sz="1100" dirty="0">
                <a:solidFill>
                  <a:srgbClr val="0F8D91"/>
                </a:solidFill>
              </a:rPr>
              <a:t>reviewer.published_questions hides AI drafts (Part 4).</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13 · Grading: the model decides</a:t>
            </a:r>
            <a:endParaRPr lang="en-US" sz="2400" dirty="0"/>
          </a:p>
        </p:txBody>
      </p:sp>
      <p:sp>
        <p:nvSpPr>
          <p:cNvPr id="4" name="code card"/>
          <p:cNvSpPr/>
          <p:nvPr/>
        </p:nvSpPr>
        <p:spPr>
          <a:xfrm>
            <a:off x="365760" y="1234440"/>
            <a:ext cx="5511800" cy="2813634"/>
          </a:xfrm>
          <a:prstGeom prst="roundRect">
            <a:avLst>
              <a:gd name="adj" fmla="val 390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74688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74688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reviewers/models.py</a:t>
            </a:r>
            <a:endParaRPr lang="en-US" sz="1000" dirty="0"/>
          </a:p>
        </p:txBody>
      </p:sp>
      <p:sp>
        <p:nvSpPr>
          <p:cNvPr id="7" name="code"/>
          <p:cNvSpPr txBox="1"/>
          <p:nvPr/>
        </p:nvSpPr>
        <p:spPr>
          <a:xfrm>
            <a:off x="588010" y="1660748"/>
            <a:ext cx="5067300" cy="2259433"/>
          </a:xfrm>
          <a:prstGeom prst="rect">
            <a:avLst/>
          </a:prstGeom>
          <a:noFill/>
          <a:ln/>
        </p:spPr>
        <p:txBody>
          <a:bodyPr wrap="square" lIns="0" tIns="0" rIns="0" bIns="0" rtlCol="0" anchor="t"/>
          <a:lstStyle/>
          <a:p>
            <a:pPr indent="0" marL="0">
              <a:buNone/>
            </a:pPr>
            <a:r>
              <a:rPr lang="en-US" sz="1150" dirty="0">
                <a:solidFill>
                  <a:srgbClr val="9A9B8C"/>
                </a:solidFill>
                <a:latin typeface="Courier New" pitchFamily="34" charset="0"/>
                <a:ea typeface="Courier New" pitchFamily="34" charset="-122"/>
                <a:cs typeface="Courier New" pitchFamily="34" charset="-120"/>
              </a:rPr>
              <a:t># inside class Question</a:t>
            </a:r>
            <a:endParaRPr lang="en-US" sz="1150" dirty="0"/>
          </a:p>
          <a:p>
            <a:pPr indent="0" marL="0">
              <a:buNone/>
            </a:pPr>
            <a:r>
              <a:rPr lang="en-US" sz="1150" dirty="0">
                <a:solidFill>
                  <a:srgbClr val="F92672"/>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is_correct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self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submitted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submitted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submitted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strip</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if</a:t>
            </a:r>
            <a:pPr indent="0" marL="0">
              <a:buNone/>
            </a:pPr>
            <a:r>
              <a:rPr lang="en-US" sz="1150" dirty="0">
                <a:solidFill>
                  <a:srgbClr val="F8F8F2"/>
                </a:solidFill>
                <a:latin typeface="Courier New" pitchFamily="34" charset="0"/>
                <a:ea typeface="Courier New" pitchFamily="34" charset="-122"/>
                <a:cs typeface="Courier New" pitchFamily="34" charset="-120"/>
              </a:rPr>
              <a:t> self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is_multiple_choice</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if</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not</a:t>
            </a:r>
            <a:pPr indent="0" marL="0">
              <a:buNone/>
            </a:pPr>
            <a:r>
              <a:rPr lang="en-US" sz="1150" dirty="0">
                <a:solidFill>
                  <a:srgbClr val="F8F8F2"/>
                </a:solidFill>
                <a:latin typeface="Courier New" pitchFamily="34" charset="0"/>
                <a:ea typeface="Courier New" pitchFamily="34" charset="-122"/>
                <a:cs typeface="Courier New" pitchFamily="34" charset="-120"/>
              </a:rPr>
              <a:t> submitted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isdigit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9A9B8C"/>
                </a:solidFill>
                <a:latin typeface="Courier New" pitchFamily="34" charset="0"/>
                <a:ea typeface="Courier New" pitchFamily="34" charset="-122"/>
                <a:cs typeface="Courier New" pitchFamily="34" charset="-120"/>
              </a:rPr>
              <a:t># tampered form?</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return</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E81FF"/>
                </a:solidFill>
                <a:latin typeface="Courier New" pitchFamily="34" charset="0"/>
                <a:ea typeface="Courier New" pitchFamily="34" charset="-122"/>
                <a:cs typeface="Courier New" pitchFamily="34" charset="-120"/>
              </a:rPr>
              <a:t>False</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return</a:t>
            </a:r>
            <a:pPr indent="0" marL="0">
              <a:buNone/>
            </a:pPr>
            <a:r>
              <a:rPr lang="en-US" sz="1150" dirty="0">
                <a:solidFill>
                  <a:srgbClr val="F8F8F2"/>
                </a:solidFill>
                <a:latin typeface="Courier New" pitchFamily="34" charset="0"/>
                <a:ea typeface="Courier New" pitchFamily="34" charset="-122"/>
                <a:cs typeface="Courier New" pitchFamily="34" charset="-120"/>
              </a:rPr>
              <a:t> self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choices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66D9EF"/>
                </a:solidFill>
                <a:latin typeface="Courier New" pitchFamily="34" charset="0"/>
                <a:ea typeface="Courier New" pitchFamily="34" charset="-122"/>
                <a:cs typeface="Courier New" pitchFamily="34" charset="-120"/>
              </a:rPr>
              <a:t>filter</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pk</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submitted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is_correct</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AE81FF"/>
                </a:solidFill>
                <a:latin typeface="Courier New" pitchFamily="34" charset="0"/>
                <a:ea typeface="Courier New" pitchFamily="34" charset="-122"/>
                <a:cs typeface="Courier New" pitchFamily="34" charset="-120"/>
              </a:rPr>
              <a:t>True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exists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answer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self</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answer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casefold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return</a:t>
            </a:r>
            <a:pPr indent="0" marL="0">
              <a:buNone/>
            </a:pPr>
            <a:r>
              <a:rPr lang="en-US" sz="1150" dirty="0">
                <a:solidFill>
                  <a:srgbClr val="F8F8F2"/>
                </a:solidFill>
                <a:latin typeface="Courier New" pitchFamily="34" charset="0"/>
                <a:ea typeface="Courier New" pitchFamily="34" charset="-122"/>
                <a:cs typeface="Courier New" pitchFamily="34" charset="-120"/>
              </a:rPr>
              <a:t> submitted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casefold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answer</a:t>
            </a:r>
            <a:endParaRPr lang="en-US" sz="1150" dirty="0"/>
          </a:p>
        </p:txBody>
      </p:sp>
      <p:sp>
        <p:nvSpPr>
          <p:cNvPr id="8" name="badge 1"/>
          <p:cNvSpPr/>
          <p:nvPr/>
        </p:nvSpPr>
        <p:spPr>
          <a:xfrm>
            <a:off x="6055360" y="1277071"/>
            <a:ext cx="320040" cy="306942"/>
          </a:xfrm>
          <a:prstGeom prst="ellipse">
            <a:avLst/>
          </a:prstGeom>
          <a:solidFill>
            <a:srgbClr val="5DA144"/>
          </a:solidFill>
          <a:ln w="12700">
            <a:solidFill>
              <a:srgbClr val="5DA144"/>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852616"/>
          </a:xfrm>
          <a:prstGeom prst="rect">
            <a:avLst/>
          </a:prstGeom>
          <a:noFill/>
          <a:ln/>
        </p:spPr>
        <p:txBody>
          <a:bodyPr wrap="square" lIns="0" tIns="0" rIns="0" bIns="0" rtlCol="0" anchor="t"/>
          <a:lstStyle/>
          <a:p>
            <a:pPr indent="0" marL="0">
              <a:buNone/>
            </a:pPr>
            <a:r>
              <a:rPr lang="en-US" sz="1200" b="1" dirty="0">
                <a:solidFill>
                  <a:srgbClr val="000000"/>
                </a:solidFill>
              </a:rPr>
              <a:t>Multiple choice</a:t>
            </a:r>
            <a:endParaRPr lang="en-US" sz="1200" dirty="0"/>
          </a:p>
          <a:p>
            <a:pPr indent="0" marL="0">
              <a:buNone/>
            </a:pPr>
            <a:r>
              <a:rPr lang="en-US" sz="1100" dirty="0">
                <a:solidFill>
                  <a:srgbClr val="0F8D91"/>
                </a:solidFill>
              </a:rPr>
              <a:t>Compare the chosen Choice id. Not a number? Simply wrong.</a:t>
            </a:r>
            <a:endParaRPr lang="en-US" sz="1200" dirty="0"/>
          </a:p>
        </p:txBody>
      </p:sp>
      <p:sp>
        <p:nvSpPr>
          <p:cNvPr id="11" name="badge 2"/>
          <p:cNvSpPr/>
          <p:nvPr/>
        </p:nvSpPr>
        <p:spPr>
          <a:xfrm>
            <a:off x="6055360" y="2214949"/>
            <a:ext cx="320040" cy="306942"/>
          </a:xfrm>
          <a:prstGeom prst="ellipse">
            <a:avLst/>
          </a:prstGeom>
          <a:solidFill>
            <a:srgbClr val="5DA144"/>
          </a:solidFill>
          <a:ln w="12700">
            <a:solidFill>
              <a:srgbClr val="5DA144"/>
            </a:solidFill>
            <a:prstDash val="solid"/>
          </a:ln>
        </p:spPr>
      </p:sp>
      <p:sp>
        <p:nvSpPr>
          <p:cNvPr id="12" name="badge 2 text"/>
          <p:cNvSpPr txBox="1"/>
          <p:nvPr/>
        </p:nvSpPr>
        <p:spPr>
          <a:xfrm>
            <a:off x="6055360" y="2214949"/>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172318"/>
            <a:ext cx="1884680" cy="852616"/>
          </a:xfrm>
          <a:prstGeom prst="rect">
            <a:avLst/>
          </a:prstGeom>
          <a:noFill/>
          <a:ln/>
        </p:spPr>
        <p:txBody>
          <a:bodyPr wrap="square" lIns="0" tIns="0" rIns="0" bIns="0" rtlCol="0" anchor="t"/>
          <a:lstStyle/>
          <a:p>
            <a:pPr indent="0" marL="0">
              <a:buNone/>
            </a:pPr>
            <a:r>
              <a:rPr lang="en-US" sz="1200" b="1" dirty="0">
                <a:solidFill>
                  <a:srgbClr val="000000"/>
                </a:solidFill>
              </a:rPr>
              <a:t>Direct answer</a:t>
            </a:r>
            <a:endParaRPr lang="en-US" sz="1200" dirty="0"/>
          </a:p>
          <a:p>
            <a:pPr indent="0" marL="0">
              <a:buNone/>
            </a:pPr>
            <a:r>
              <a:rPr lang="en-US" sz="1100" dirty="0">
                <a:solidFill>
                  <a:srgbClr val="0F8D91"/>
                </a:solidFill>
              </a:rPr>
              <a:t>.strip() and .casefold(): 'Def ' equals 'def'.</a:t>
            </a:r>
            <a:endParaRPr lang="en-US" sz="1200" dirty="0"/>
          </a:p>
        </p:txBody>
      </p:sp>
      <p:sp>
        <p:nvSpPr>
          <p:cNvPr id="14" name="badge 3"/>
          <p:cNvSpPr/>
          <p:nvPr/>
        </p:nvSpPr>
        <p:spPr>
          <a:xfrm>
            <a:off x="6055360" y="3152826"/>
            <a:ext cx="320040" cy="306942"/>
          </a:xfrm>
          <a:prstGeom prst="ellipse">
            <a:avLst/>
          </a:prstGeom>
          <a:solidFill>
            <a:srgbClr val="5DA144"/>
          </a:solidFill>
          <a:ln w="12700">
            <a:solidFill>
              <a:srgbClr val="5DA144"/>
            </a:solidFill>
            <a:prstDash val="solid"/>
          </a:ln>
        </p:spPr>
      </p:sp>
      <p:sp>
        <p:nvSpPr>
          <p:cNvPr id="15" name="badge 3 text"/>
          <p:cNvSpPr txBox="1"/>
          <p:nvPr/>
        </p:nvSpPr>
        <p:spPr>
          <a:xfrm>
            <a:off x="6055360" y="3152826"/>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3110196"/>
            <a:ext cx="1884680" cy="937878"/>
          </a:xfrm>
          <a:prstGeom prst="rect">
            <a:avLst/>
          </a:prstGeom>
          <a:noFill/>
          <a:ln/>
        </p:spPr>
        <p:txBody>
          <a:bodyPr wrap="square" lIns="0" tIns="0" rIns="0" bIns="0" rtlCol="0" anchor="t"/>
          <a:lstStyle/>
          <a:p>
            <a:pPr indent="0" marL="0">
              <a:buNone/>
            </a:pPr>
            <a:r>
              <a:rPr lang="en-US" sz="1200" b="1" dirty="0">
                <a:solidFill>
                  <a:srgbClr val="000000"/>
                </a:solidFill>
              </a:rPr>
              <a:t>A method on the model</a:t>
            </a:r>
            <a:endParaRPr lang="en-US" sz="1200" dirty="0"/>
          </a:p>
          <a:p>
            <a:pPr indent="0" marL="0">
              <a:buNone/>
            </a:pPr>
            <a:r>
              <a:rPr lang="en-US" sz="1100" dirty="0">
                <a:solidFill>
                  <a:srgbClr val="0F8D91"/>
                </a:solidFill>
              </a:rPr>
              <a:t>Part 1's check_answer(), living where the data lives.</a:t>
            </a:r>
            <a:endParaRPr lang="en-US" sz="1200" dirty="0"/>
          </a:p>
        </p:txBody>
      </p:sp>
      <p:sp>
        <p:nvSpPr>
          <p:cNvPr id="17" name="tip"/>
          <p:cNvSpPr/>
          <p:nvPr/>
        </p:nvSpPr>
        <p:spPr>
          <a:xfrm>
            <a:off x="365760" y="4175966"/>
            <a:ext cx="5511800" cy="341046"/>
          </a:xfrm>
          <a:prstGeom prst="roundRect">
            <a:avLst>
              <a:gd name="adj" fmla="val 26812"/>
            </a:avLst>
          </a:prstGeom>
          <a:solidFill>
            <a:srgbClr val="FFFFFF"/>
          </a:solidFill>
          <a:ln w="12700">
            <a:solidFill>
              <a:srgbClr val="FFFFFF"/>
            </a:solidFill>
            <a:prstDash val="solid"/>
          </a:ln>
        </p:spPr>
      </p:sp>
      <p:sp>
        <p:nvSpPr>
          <p:cNvPr id="18" name="tip dot"/>
          <p:cNvSpPr/>
          <p:nvPr/>
        </p:nvSpPr>
        <p:spPr>
          <a:xfrm>
            <a:off x="499110" y="4218597"/>
            <a:ext cx="266700" cy="255785"/>
          </a:xfrm>
          <a:prstGeom prst="ellipse">
            <a:avLst/>
          </a:prstGeom>
          <a:solidFill>
            <a:srgbClr val="D9534F"/>
          </a:solidFill>
          <a:ln w="12700">
            <a:solidFill>
              <a:srgbClr val="D9534F"/>
            </a:solidFill>
            <a:prstDash val="solid"/>
          </a:ln>
        </p:spPr>
      </p:sp>
      <p:sp>
        <p:nvSpPr>
          <p:cNvPr id="19" name="tip mark"/>
          <p:cNvSpPr txBox="1"/>
          <p:nvPr/>
        </p:nvSpPr>
        <p:spPr>
          <a:xfrm>
            <a:off x="499110" y="4218597"/>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20" name="tip text"/>
          <p:cNvSpPr txBox="1"/>
          <p:nvPr/>
        </p:nvSpPr>
        <p:spPr>
          <a:xfrm>
            <a:off x="899160" y="4175966"/>
            <a:ext cx="4845050" cy="341046"/>
          </a:xfrm>
          <a:prstGeom prst="rect">
            <a:avLst/>
          </a:prstGeom>
          <a:noFill/>
          <a:ln/>
        </p:spPr>
        <p:txBody>
          <a:bodyPr wrap="square" lIns="0" tIns="0" rIns="0" bIns="0" rtlCol="0" anchor="ctr"/>
          <a:lstStyle/>
          <a:p>
            <a:pPr indent="0" marL="0">
              <a:buNone/>
            </a:pPr>
            <a:r>
              <a:rPr lang="en-US" sz="1200" dirty="0">
                <a:solidFill>
                  <a:srgbClr val="072E47"/>
                </a:solidFill>
              </a:rPr>
              <a:t>Never trust input: even a choice id can be edited in the browser.</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13 · Grading: the view collects the answers</a:t>
            </a:r>
            <a:endParaRPr lang="en-US" sz="2400" dirty="0"/>
          </a:p>
        </p:txBody>
      </p:sp>
      <p:sp>
        <p:nvSpPr>
          <p:cNvPr id="4" name="code card"/>
          <p:cNvSpPr/>
          <p:nvPr/>
        </p:nvSpPr>
        <p:spPr>
          <a:xfrm>
            <a:off x="365760" y="1234440"/>
            <a:ext cx="55118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67132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reviewers/views.py</a:t>
            </a:r>
            <a:endParaRPr lang="en-US" sz="1000" dirty="0"/>
          </a:p>
        </p:txBody>
      </p:sp>
      <p:sp>
        <p:nvSpPr>
          <p:cNvPr id="7" name="code"/>
          <p:cNvSpPr txBox="1"/>
          <p:nvPr/>
        </p:nvSpPr>
        <p:spPr>
          <a:xfrm>
            <a:off x="588010" y="1660748"/>
            <a:ext cx="5067300" cy="2600479"/>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take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slug</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get_object_or_404</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slug</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slug</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questions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published_questions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method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"POST"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results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for</a:t>
            </a:r>
            <a:pPr indent="0" marL="0">
              <a:buNone/>
            </a:pPr>
            <a:r>
              <a:rPr lang="en-US" sz="1100" dirty="0">
                <a:solidFill>
                  <a:srgbClr val="F8F8F2"/>
                </a:solidFill>
                <a:latin typeface="Courier New" pitchFamily="34" charset="0"/>
                <a:ea typeface="Courier New" pitchFamily="34" charset="-122"/>
                <a:cs typeface="Courier New" pitchFamily="34" charset="-120"/>
              </a:rPr>
              <a:t> q </a:t>
            </a:r>
            <a:pPr indent="0" marL="0">
              <a:buNone/>
            </a:pPr>
            <a:r>
              <a:rPr lang="en-US" sz="1100" dirty="0">
                <a:solidFill>
                  <a:srgbClr val="F92672"/>
                </a:solidFill>
                <a:latin typeface="Courier New" pitchFamily="34" charset="0"/>
                <a:ea typeface="Courier New" pitchFamily="34" charset="-122"/>
                <a:cs typeface="Courier New" pitchFamily="34" charset="-120"/>
              </a:rPr>
              <a:t>in</a:t>
            </a:r>
            <a:pPr indent="0" marL="0">
              <a:buNone/>
            </a:pPr>
            <a:r>
              <a:rPr lang="en-US" sz="1100" dirty="0">
                <a:solidFill>
                  <a:srgbClr val="F8F8F2"/>
                </a:solidFill>
                <a:latin typeface="Courier New" pitchFamily="34" charset="0"/>
                <a:ea typeface="Courier New" pitchFamily="34" charset="-122"/>
                <a:cs typeface="Courier New" pitchFamily="34" charset="-120"/>
              </a:rPr>
              <a:t> questions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answer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POST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get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f"q_</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q</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id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results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append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q</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"correct"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q</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is_correct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answer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score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sum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x</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"correct"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for</a:t>
            </a:r>
            <a:pPr indent="0" marL="0">
              <a:buNone/>
            </a:pPr>
            <a:r>
              <a:rPr lang="en-US" sz="1100" dirty="0">
                <a:solidFill>
                  <a:srgbClr val="F8F8F2"/>
                </a:solidFill>
                <a:latin typeface="Courier New" pitchFamily="34" charset="0"/>
                <a:ea typeface="Courier New" pitchFamily="34" charset="-122"/>
                <a:cs typeface="Courier New" pitchFamily="34" charset="-120"/>
              </a:rPr>
              <a:t> x </a:t>
            </a:r>
            <a:pPr indent="0" marL="0">
              <a:buNone/>
            </a:pPr>
            <a:r>
              <a:rPr lang="en-US" sz="1100" dirty="0">
                <a:solidFill>
                  <a:srgbClr val="F92672"/>
                </a:solidFill>
                <a:latin typeface="Courier New" pitchFamily="34" charset="0"/>
                <a:ea typeface="Courier New" pitchFamily="34" charset="-122"/>
                <a:cs typeface="Courier New" pitchFamily="34" charset="-120"/>
              </a:rPr>
              <a:t>in</a:t>
            </a:r>
            <a:pPr indent="0" marL="0">
              <a:buNone/>
            </a:pPr>
            <a:r>
              <a:rPr lang="en-US" sz="1100" dirty="0">
                <a:solidFill>
                  <a:srgbClr val="F8F8F2"/>
                </a:solidFill>
                <a:latin typeface="Courier New" pitchFamily="34" charset="0"/>
                <a:ea typeface="Courier New" pitchFamily="34" charset="-122"/>
                <a:cs typeface="Courier New" pitchFamily="34" charset="-120"/>
              </a:rPr>
              <a:t> results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render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"reviewers/results.html"</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"results"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results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"score"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score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"total"</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len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results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render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"reviewers/take.html"</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"questions"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questions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8" name="badge 1"/>
          <p:cNvSpPr/>
          <p:nvPr/>
        </p:nvSpPr>
        <p:spPr>
          <a:xfrm>
            <a:off x="6055360" y="1277071"/>
            <a:ext cx="320040" cy="306942"/>
          </a:xfrm>
          <a:prstGeom prst="ellipse">
            <a:avLst/>
          </a:prstGeom>
          <a:solidFill>
            <a:srgbClr val="5DA144"/>
          </a:solidFill>
          <a:ln w="12700">
            <a:solidFill>
              <a:srgbClr val="5DA144"/>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852616"/>
          </a:xfrm>
          <a:prstGeom prst="rect">
            <a:avLst/>
          </a:prstGeom>
          <a:noFill/>
          <a:ln/>
        </p:spPr>
        <p:txBody>
          <a:bodyPr wrap="square" lIns="0" tIns="0" rIns="0" bIns="0" rtlCol="0" anchor="t"/>
          <a:lstStyle/>
          <a:p>
            <a:pPr indent="0" marL="0">
              <a:buNone/>
            </a:pPr>
            <a:r>
              <a:rPr lang="en-US" sz="1200" b="1" dirty="0">
                <a:solidFill>
                  <a:srgbClr val="000000"/>
                </a:solidFill>
              </a:rPr>
              <a:t>request.POST.get(...)</a:t>
            </a:r>
            <a:endParaRPr lang="en-US" sz="1200" dirty="0"/>
          </a:p>
          <a:p>
            <a:pPr indent="0" marL="0">
              <a:buNone/>
            </a:pPr>
            <a:r>
              <a:rPr lang="en-US" sz="1100" dirty="0">
                <a:solidFill>
                  <a:srgbClr val="0F8D91"/>
                </a:solidFill>
              </a:rPr>
              <a:t>Find each answer by its question's id.</a:t>
            </a:r>
            <a:endParaRPr lang="en-US" sz="1200" dirty="0"/>
          </a:p>
        </p:txBody>
      </p:sp>
      <p:sp>
        <p:nvSpPr>
          <p:cNvPr id="11" name="badge 2"/>
          <p:cNvSpPr/>
          <p:nvPr/>
        </p:nvSpPr>
        <p:spPr>
          <a:xfrm>
            <a:off x="6055360" y="2214949"/>
            <a:ext cx="320040" cy="306942"/>
          </a:xfrm>
          <a:prstGeom prst="ellipse">
            <a:avLst/>
          </a:prstGeom>
          <a:solidFill>
            <a:srgbClr val="5DA144"/>
          </a:solidFill>
          <a:ln w="12700">
            <a:solidFill>
              <a:srgbClr val="5DA144"/>
            </a:solidFill>
            <a:prstDash val="solid"/>
          </a:ln>
        </p:spPr>
      </p:sp>
      <p:sp>
        <p:nvSpPr>
          <p:cNvPr id="12" name="badge 2 text"/>
          <p:cNvSpPr txBox="1"/>
          <p:nvPr/>
        </p:nvSpPr>
        <p:spPr>
          <a:xfrm>
            <a:off x="6055360" y="2214949"/>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172318"/>
            <a:ext cx="1884680" cy="852616"/>
          </a:xfrm>
          <a:prstGeom prst="rect">
            <a:avLst/>
          </a:prstGeom>
          <a:noFill/>
          <a:ln/>
        </p:spPr>
        <p:txBody>
          <a:bodyPr wrap="square" lIns="0" tIns="0" rIns="0" bIns="0" rtlCol="0" anchor="t"/>
          <a:lstStyle/>
          <a:p>
            <a:pPr indent="0" marL="0">
              <a:buNone/>
            </a:pPr>
            <a:r>
              <a:rPr lang="en-US" sz="1200" b="1" dirty="0">
                <a:solidFill>
                  <a:srgbClr val="000000"/>
                </a:solidFill>
              </a:rPr>
              <a:t>Count the Trues</a:t>
            </a:r>
            <a:endParaRPr lang="en-US" sz="1200" dirty="0"/>
          </a:p>
          <a:p>
            <a:pPr indent="0" marL="0">
              <a:buNone/>
            </a:pPr>
            <a:r>
              <a:rPr lang="en-US" sz="1100" dirty="0">
                <a:solidFill>
                  <a:srgbClr val="0F8D91"/>
                </a:solidFill>
              </a:rPr>
              <a:t>sum() over the results: True counts as 1.</a:t>
            </a:r>
            <a:endParaRPr lang="en-US" sz="1200" dirty="0"/>
          </a:p>
        </p:txBody>
      </p:sp>
      <p:sp>
        <p:nvSpPr>
          <p:cNvPr id="14" name="badge 3"/>
          <p:cNvSpPr/>
          <p:nvPr/>
        </p:nvSpPr>
        <p:spPr>
          <a:xfrm>
            <a:off x="6055360" y="3152826"/>
            <a:ext cx="320040" cy="306942"/>
          </a:xfrm>
          <a:prstGeom prst="ellipse">
            <a:avLst/>
          </a:prstGeom>
          <a:solidFill>
            <a:srgbClr val="5DA144"/>
          </a:solidFill>
          <a:ln w="12700">
            <a:solidFill>
              <a:srgbClr val="5DA144"/>
            </a:solidFill>
            <a:prstDash val="solid"/>
          </a:ln>
        </p:spPr>
      </p:sp>
      <p:sp>
        <p:nvSpPr>
          <p:cNvPr id="15" name="badge 3 text"/>
          <p:cNvSpPr txBox="1"/>
          <p:nvPr/>
        </p:nvSpPr>
        <p:spPr>
          <a:xfrm>
            <a:off x="6055360" y="3152826"/>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3110196"/>
            <a:ext cx="1884680" cy="937878"/>
          </a:xfrm>
          <a:prstGeom prst="rect">
            <a:avLst/>
          </a:prstGeom>
          <a:noFill/>
          <a:ln/>
        </p:spPr>
        <p:txBody>
          <a:bodyPr wrap="square" lIns="0" tIns="0" rIns="0" bIns="0" rtlCol="0" anchor="t"/>
          <a:lstStyle/>
          <a:p>
            <a:pPr indent="0" marL="0">
              <a:buNone/>
            </a:pPr>
            <a:r>
              <a:rPr lang="en-US" sz="1200" b="1" dirty="0">
                <a:solidFill>
                  <a:srgbClr val="000000"/>
                </a:solidFill>
              </a:rPr>
              <a:t>Two renders</a:t>
            </a:r>
            <a:endParaRPr lang="en-US" sz="1200" dirty="0"/>
          </a:p>
          <a:p>
            <a:pPr indent="0" marL="0">
              <a:buNone/>
            </a:pPr>
            <a:r>
              <a:rPr lang="en-US" sz="1100" dirty="0">
                <a:solidFill>
                  <a:srgbClr val="0F8D91"/>
                </a:solidFill>
              </a:rPr>
              <a:t>POST → results.html, GET → take.html.</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FEF9D7"/>
                </a:solidFill>
              </a:rPr>
              <a:t>Checkpoint 2 · Create, share, answer, score</a:t>
            </a:r>
            <a:endParaRPr lang="en-US" sz="2400" dirty="0"/>
          </a:p>
        </p:txBody>
      </p:sp>
      <p:sp>
        <p:nvSpPr>
          <p:cNvPr id="4" name="code card"/>
          <p:cNvSpPr/>
          <p:nvPr/>
        </p:nvSpPr>
        <p:spPr>
          <a:xfrm>
            <a:off x="365760" y="1234440"/>
            <a:ext cx="3911600" cy="2557849"/>
          </a:xfrm>
          <a:prstGeom prst="roundRect">
            <a:avLst>
              <a:gd name="adj" fmla="val 429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21793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21793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results.html</a:t>
            </a:r>
            <a:endParaRPr lang="en-US" sz="1000" dirty="0"/>
          </a:p>
        </p:txBody>
      </p:sp>
      <p:sp>
        <p:nvSpPr>
          <p:cNvPr id="7" name="code"/>
          <p:cNvSpPr txBox="1"/>
          <p:nvPr/>
        </p:nvSpPr>
        <p:spPr>
          <a:xfrm>
            <a:off x="588010" y="1660748"/>
            <a:ext cx="3467100" cy="2003648"/>
          </a:xfrm>
          <a:prstGeom prst="rect">
            <a:avLst/>
          </a:prstGeom>
          <a:noFill/>
          <a:ln/>
        </p:spPr>
        <p:txBody>
          <a:bodyPr wrap="square" lIns="0" tIns="0" rIns="0" bIns="0" rtlCol="0" anchor="t"/>
          <a:lstStyle/>
          <a:p>
            <a:pPr indent="0" marL="0">
              <a:buNone/>
            </a:pPr>
            <a:r>
              <a:rPr lang="en-US" sz="1150" dirty="0">
                <a:solidFill>
                  <a:srgbClr val="F8F8F2"/>
                </a:solidFill>
                <a:latin typeface="Courier New" pitchFamily="34" charset="0"/>
                <a:ea typeface="Courier New" pitchFamily="34" charset="-122"/>
                <a:cs typeface="Courier New" pitchFamily="34" charset="-120"/>
              </a:rPr>
              <a:t>Your score: 2 / 3</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1. Which keyword defines a function?</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 Correct — def</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2. What does len() return?</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 Correct — length</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3. What is a Django model?</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 Not quite. Correct: a class</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that becomes a database table</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Try again ]  [ All reviewers ]</a:t>
            </a:r>
            <a:endParaRPr lang="en-US" sz="1150" dirty="0"/>
          </a:p>
        </p:txBody>
      </p:sp>
      <p:sp>
        <p:nvSpPr>
          <p:cNvPr id="8" name="flow Create"/>
          <p:cNvSpPr/>
          <p:nvPr/>
        </p:nvSpPr>
        <p:spPr>
          <a:xfrm>
            <a:off x="4544060" y="1319702"/>
            <a:ext cx="742315" cy="682093"/>
          </a:xfrm>
          <a:prstGeom prst="roundRect">
            <a:avLst>
              <a:gd name="adj" fmla="val 13406"/>
            </a:avLst>
          </a:prstGeom>
          <a:solidFill>
            <a:srgbClr val="F99508"/>
          </a:solidFill>
          <a:ln w="12700">
            <a:solidFill>
              <a:srgbClr val="F99508"/>
            </a:solidFill>
            <a:prstDash val="solid"/>
          </a:ln>
          <a:effectLst>
            <a:outerShdw sx="100000" sy="100000" kx="0" ky="0" algn="bl" rotWithShape="0" blurRad="76200" dist="25400" dir="5400000">
              <a:srgbClr val="000000">
                <a:alpha val="18000"/>
              </a:srgbClr>
            </a:outerShdw>
          </a:effectLst>
        </p:spPr>
      </p:sp>
      <p:sp>
        <p:nvSpPr>
          <p:cNvPr id="9" name="flow label Create"/>
          <p:cNvSpPr txBox="1"/>
          <p:nvPr/>
        </p:nvSpPr>
        <p:spPr>
          <a:xfrm>
            <a:off x="4588510" y="1319702"/>
            <a:ext cx="653415" cy="682093"/>
          </a:xfrm>
          <a:prstGeom prst="rect">
            <a:avLst/>
          </a:prstGeom>
          <a:noFill/>
          <a:ln/>
        </p:spPr>
        <p:txBody>
          <a:bodyPr wrap="square" lIns="0" tIns="0" rIns="0" bIns="0" rtlCol="0" anchor="ctr"/>
          <a:lstStyle/>
          <a:p>
            <a:pPr algn="ctr" indent="0" marL="0">
              <a:buNone/>
            </a:pPr>
            <a:r>
              <a:rPr lang="en-US" sz="1100" b="1" dirty="0">
                <a:solidFill>
                  <a:srgbClr val="072E47"/>
                </a:solidFill>
              </a:rPr>
              <a:t>Create</a:t>
            </a:r>
            <a:endParaRPr lang="en-US" sz="1100" dirty="0"/>
          </a:p>
        </p:txBody>
      </p:sp>
      <p:sp>
        <p:nvSpPr>
          <p:cNvPr id="10" name="arrow 0"/>
          <p:cNvSpPr/>
          <p:nvPr/>
        </p:nvSpPr>
        <p:spPr>
          <a:xfrm>
            <a:off x="5321935" y="1558434"/>
            <a:ext cx="213360" cy="204628"/>
          </a:xfrm>
          <a:prstGeom prst="rightArrow">
            <a:avLst/>
          </a:prstGeom>
          <a:solidFill>
            <a:srgbClr val="FFFFFF"/>
          </a:solidFill>
          <a:ln w="12700">
            <a:solidFill>
              <a:srgbClr val="FFFFFF"/>
            </a:solidFill>
            <a:prstDash val="solid"/>
          </a:ln>
        </p:spPr>
      </p:sp>
      <p:sp>
        <p:nvSpPr>
          <p:cNvPr id="11" name="flow Share"/>
          <p:cNvSpPr/>
          <p:nvPr/>
        </p:nvSpPr>
        <p:spPr>
          <a:xfrm>
            <a:off x="5570855" y="1319702"/>
            <a:ext cx="742315" cy="682093"/>
          </a:xfrm>
          <a:prstGeom prst="roundRect">
            <a:avLst>
              <a:gd name="adj" fmla="val 13406"/>
            </a:avLst>
          </a:prstGeom>
          <a:solidFill>
            <a:srgbClr val="8FD3CC"/>
          </a:solidFill>
          <a:ln w="12700">
            <a:solidFill>
              <a:srgbClr val="8FD3CC"/>
            </a:solidFill>
            <a:prstDash val="solid"/>
          </a:ln>
          <a:effectLst>
            <a:outerShdw sx="100000" sy="100000" kx="0" ky="0" algn="bl" rotWithShape="0" blurRad="76200" dist="25400" dir="5400000">
              <a:srgbClr val="000000">
                <a:alpha val="18000"/>
              </a:srgbClr>
            </a:outerShdw>
          </a:effectLst>
        </p:spPr>
      </p:sp>
      <p:sp>
        <p:nvSpPr>
          <p:cNvPr id="12" name="flow label Share"/>
          <p:cNvSpPr txBox="1"/>
          <p:nvPr/>
        </p:nvSpPr>
        <p:spPr>
          <a:xfrm>
            <a:off x="5615305" y="1319702"/>
            <a:ext cx="653415" cy="682093"/>
          </a:xfrm>
          <a:prstGeom prst="rect">
            <a:avLst/>
          </a:prstGeom>
          <a:noFill/>
          <a:ln/>
        </p:spPr>
        <p:txBody>
          <a:bodyPr wrap="square" lIns="0" tIns="0" rIns="0" bIns="0" rtlCol="0" anchor="ctr"/>
          <a:lstStyle/>
          <a:p>
            <a:pPr algn="ctr" indent="0" marL="0">
              <a:buNone/>
            </a:pPr>
            <a:r>
              <a:rPr lang="en-US" sz="1100" b="1" dirty="0">
                <a:solidFill>
                  <a:srgbClr val="072E47"/>
                </a:solidFill>
              </a:rPr>
              <a:t>Share</a:t>
            </a:r>
            <a:endParaRPr lang="en-US" sz="1100" dirty="0"/>
          </a:p>
        </p:txBody>
      </p:sp>
      <p:sp>
        <p:nvSpPr>
          <p:cNvPr id="13" name="arrow 1"/>
          <p:cNvSpPr/>
          <p:nvPr/>
        </p:nvSpPr>
        <p:spPr>
          <a:xfrm>
            <a:off x="6348730" y="1558434"/>
            <a:ext cx="213360" cy="204628"/>
          </a:xfrm>
          <a:prstGeom prst="rightArrow">
            <a:avLst/>
          </a:prstGeom>
          <a:solidFill>
            <a:srgbClr val="FFFFFF"/>
          </a:solidFill>
          <a:ln w="12700">
            <a:solidFill>
              <a:srgbClr val="FFFFFF"/>
            </a:solidFill>
            <a:prstDash val="solid"/>
          </a:ln>
        </p:spPr>
      </p:sp>
      <p:sp>
        <p:nvSpPr>
          <p:cNvPr id="14" name="flow Answer"/>
          <p:cNvSpPr/>
          <p:nvPr/>
        </p:nvSpPr>
        <p:spPr>
          <a:xfrm>
            <a:off x="6597650" y="1319702"/>
            <a:ext cx="742315" cy="682093"/>
          </a:xfrm>
          <a:prstGeom prst="roundRect">
            <a:avLst>
              <a:gd name="adj" fmla="val 13406"/>
            </a:avLst>
          </a:prstGeom>
          <a:solidFill>
            <a:srgbClr val="1B6F86"/>
          </a:solidFill>
          <a:ln w="12700">
            <a:solidFill>
              <a:srgbClr val="1B6F86"/>
            </a:solidFill>
            <a:prstDash val="solid"/>
          </a:ln>
          <a:effectLst>
            <a:outerShdw sx="100000" sy="100000" kx="0" ky="0" algn="bl" rotWithShape="0" blurRad="76200" dist="25400" dir="5400000">
              <a:srgbClr val="000000">
                <a:alpha val="18000"/>
              </a:srgbClr>
            </a:outerShdw>
          </a:effectLst>
        </p:spPr>
      </p:sp>
      <p:sp>
        <p:nvSpPr>
          <p:cNvPr id="15" name="flow label Answer"/>
          <p:cNvSpPr txBox="1"/>
          <p:nvPr/>
        </p:nvSpPr>
        <p:spPr>
          <a:xfrm>
            <a:off x="6642100" y="1319702"/>
            <a:ext cx="653415" cy="682093"/>
          </a:xfrm>
          <a:prstGeom prst="rect">
            <a:avLst/>
          </a:prstGeom>
          <a:noFill/>
          <a:ln/>
        </p:spPr>
        <p:txBody>
          <a:bodyPr wrap="square" lIns="0" tIns="0" rIns="0" bIns="0" rtlCol="0" anchor="ctr"/>
          <a:lstStyle/>
          <a:p>
            <a:pPr algn="ctr" indent="0" marL="0">
              <a:buNone/>
            </a:pPr>
            <a:r>
              <a:rPr lang="en-US" sz="1100" b="1" dirty="0">
                <a:solidFill>
                  <a:srgbClr val="072E47"/>
                </a:solidFill>
              </a:rPr>
              <a:t>Answer</a:t>
            </a:r>
            <a:endParaRPr lang="en-US" sz="1100" dirty="0"/>
          </a:p>
        </p:txBody>
      </p:sp>
      <p:sp>
        <p:nvSpPr>
          <p:cNvPr id="16" name="arrow 2"/>
          <p:cNvSpPr/>
          <p:nvPr/>
        </p:nvSpPr>
        <p:spPr>
          <a:xfrm>
            <a:off x="7375525" y="1558434"/>
            <a:ext cx="213360" cy="204628"/>
          </a:xfrm>
          <a:prstGeom prst="rightArrow">
            <a:avLst/>
          </a:prstGeom>
          <a:solidFill>
            <a:srgbClr val="FFFFFF"/>
          </a:solidFill>
          <a:ln w="12700">
            <a:solidFill>
              <a:srgbClr val="FFFFFF"/>
            </a:solidFill>
            <a:prstDash val="solid"/>
          </a:ln>
        </p:spPr>
      </p:sp>
      <p:sp>
        <p:nvSpPr>
          <p:cNvPr id="17" name="flow Score"/>
          <p:cNvSpPr/>
          <p:nvPr/>
        </p:nvSpPr>
        <p:spPr>
          <a:xfrm>
            <a:off x="7624445" y="1319702"/>
            <a:ext cx="742315" cy="682093"/>
          </a:xfrm>
          <a:prstGeom prst="roundRect">
            <a:avLst>
              <a:gd name="adj" fmla="val 13406"/>
            </a:avLst>
          </a:prstGeom>
          <a:solidFill>
            <a:srgbClr val="04B1A4"/>
          </a:solidFill>
          <a:ln w="12700">
            <a:solidFill>
              <a:srgbClr val="04B1A4"/>
            </a:solidFill>
            <a:prstDash val="solid"/>
          </a:ln>
          <a:effectLst>
            <a:outerShdw sx="100000" sy="100000" kx="0" ky="0" algn="bl" rotWithShape="0" blurRad="76200" dist="25400" dir="5400000">
              <a:srgbClr val="000000">
                <a:alpha val="18000"/>
              </a:srgbClr>
            </a:outerShdw>
          </a:effectLst>
        </p:spPr>
      </p:sp>
      <p:sp>
        <p:nvSpPr>
          <p:cNvPr id="18" name="flow label Score"/>
          <p:cNvSpPr txBox="1"/>
          <p:nvPr/>
        </p:nvSpPr>
        <p:spPr>
          <a:xfrm>
            <a:off x="7668895" y="1319702"/>
            <a:ext cx="653415" cy="682093"/>
          </a:xfrm>
          <a:prstGeom prst="rect">
            <a:avLst/>
          </a:prstGeom>
          <a:noFill/>
          <a:ln/>
        </p:spPr>
        <p:txBody>
          <a:bodyPr wrap="square" lIns="0" tIns="0" rIns="0" bIns="0" rtlCol="0" anchor="ctr"/>
          <a:lstStyle/>
          <a:p>
            <a:pPr algn="ctr" indent="0" marL="0">
              <a:buNone/>
            </a:pPr>
            <a:r>
              <a:rPr lang="en-US" sz="1100" b="1" dirty="0">
                <a:solidFill>
                  <a:srgbClr val="072E47"/>
                </a:solidFill>
              </a:rPr>
              <a:t>Score</a:t>
            </a:r>
            <a:endParaRPr lang="en-US" sz="1100" dirty="0"/>
          </a:p>
        </p:txBody>
      </p:sp>
      <p:sp>
        <p:nvSpPr>
          <p:cNvPr id="19" name="checkpoint text"/>
          <p:cNvSpPr txBox="1"/>
          <p:nvPr/>
        </p:nvSpPr>
        <p:spPr>
          <a:xfrm>
            <a:off x="4544060" y="2257579"/>
            <a:ext cx="3822700" cy="2046279"/>
          </a:xfrm>
          <a:prstGeom prst="rect">
            <a:avLst/>
          </a:prstGeom>
          <a:noFill/>
          <a:ln/>
        </p:spPr>
        <p:txBody>
          <a:bodyPr wrap="square" lIns="0" tIns="0" rIns="0" bIns="0" rtlCol="0" anchor="t"/>
          <a:lstStyle/>
          <a:p>
            <a:pPr indent="0" marL="0">
              <a:spcAft>
                <a:spcPts val="1000"/>
              </a:spcAft>
              <a:buNone/>
            </a:pPr>
            <a:r>
              <a:rPr lang="en-US" sz="1500" dirty="0">
                <a:solidFill>
                  <a:srgbClr val="FFFFFF"/>
                </a:solidFill>
              </a:rPr>
              <a:t>Swap links with a neighbour and take their reviewer.</a:t>
            </a:r>
            <a:endParaRPr lang="en-US" sz="1500" dirty="0"/>
          </a:p>
          <a:p>
            <a:pPr indent="0" marL="0">
              <a:spcAft>
                <a:spcPts val="1000"/>
              </a:spcAft>
              <a:buNone/>
            </a:pPr>
            <a:r>
              <a:rPr lang="en-US" sz="1500" dirty="0">
                <a:solidFill>
                  <a:srgbClr val="FFFFFF"/>
                </a:solidFill>
              </a:rPr>
              <a:t>Everything so far is ordinary Django: models, forms, views, templates.</a:t>
            </a:r>
            <a:endParaRPr lang="en-US" sz="1500" dirty="0"/>
          </a:p>
          <a:p>
            <a:pPr indent="0" marL="0">
              <a:buNone/>
            </a:pPr>
            <a:r>
              <a:rPr lang="en-US" sz="1500" b="1" dirty="0">
                <a:solidFill>
                  <a:srgbClr val="04B1A4"/>
                </a:solidFill>
              </a:rPr>
              <a:t>Writing good questions is still slow and manual… let's get help.</a:t>
            </a:r>
            <a:endParaRPr lang="en-US" sz="15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D3CC"/>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3" name="Text 0"/>
          <p:cNvSpPr/>
          <p:nvPr>
            <p:ph idx="100" type="title" hasCustomPrompt="1"/>
          </p:nvPr>
        </p:nvSpPr>
        <p:spPr>
          <a:xfrm>
            <a:off x="4983480" y="1463040"/>
            <a:ext cx="3749040" cy="1737360"/>
          </a:xfrm>
          <a:prstGeom prst="rect">
            <a:avLst/>
          </a:prstGeom>
          <a:noFill/>
          <a:ln/>
        </p:spPr>
        <p:txBody>
          <a:bodyPr wrap="square" lIns="0" tIns="0" rIns="0" bIns="0" rtlCol="0" anchor="b"/>
          <a:lstStyle/>
          <a:p>
            <a:pPr indent="0" marL="0">
              <a:buNone/>
            </a:pPr>
            <a:r>
              <a:rPr lang="en-US" sz="3000" b="1" dirty="0">
                <a:solidFill>
                  <a:srgbClr val="FEF9D7"/>
                </a:solidFill>
              </a:rPr>
              <a:t>Part 4 · Add Generative AI</a:t>
            </a:r>
            <a:endParaRPr lang="en-US" sz="3000" dirty="0"/>
          </a:p>
        </p:txBody>
      </p:sp>
      <p:sp>
        <p:nvSpPr>
          <p:cNvPr id="4" name="Text 0"/>
          <p:cNvSpPr/>
          <p:nvPr>
            <p:ph idx="101" type="body" hasCustomPrompt="1"/>
          </p:nvPr>
        </p:nvSpPr>
        <p:spPr>
          <a:xfrm>
            <a:off x="4983480" y="3291840"/>
            <a:ext cx="3749040" cy="731520"/>
          </a:xfrm>
          <a:prstGeom prst="rect">
            <a:avLst/>
          </a:prstGeom>
          <a:noFill/>
          <a:ln/>
        </p:spPr>
        <p:txBody>
          <a:bodyPr wrap="square" lIns="0" tIns="0" rIns="0" bIns="0" rtlCol="0" anchor="t"/>
          <a:lstStyle/>
          <a:p>
            <a:pPr indent="0" marL="0">
              <a:buNone/>
            </a:pPr>
            <a:r>
              <a:rPr lang="en-US" sz="1300" dirty="0">
                <a:solidFill>
                  <a:srgbClr val="8FD3CC"/>
                </a:solidFill>
              </a:rPr>
              <a:t>Structured output · validation · drafts · human-in-the-loop</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What is an AI API? Text in, text out</a:t>
            </a:r>
            <a:endParaRPr lang="en-US" sz="2400" dirty="0"/>
          </a:p>
        </p:txBody>
      </p:sp>
      <p:sp>
        <p:nvSpPr>
          <p:cNvPr id="4" name="flow Your Python"/>
          <p:cNvSpPr/>
          <p:nvPr/>
        </p:nvSpPr>
        <p:spPr>
          <a:xfrm>
            <a:off x="365760" y="1319702"/>
            <a:ext cx="1372616" cy="937878"/>
          </a:xfrm>
          <a:prstGeom prst="roundRect">
            <a:avLst>
              <a:gd name="adj" fmla="val 9750"/>
            </a:avLst>
          </a:prstGeom>
          <a:solidFill>
            <a:srgbClr val="F99508"/>
          </a:solidFill>
          <a:ln w="12700">
            <a:solidFill>
              <a:srgbClr val="F99508"/>
            </a:solidFill>
            <a:prstDash val="solid"/>
          </a:ln>
          <a:effectLst>
            <a:outerShdw sx="100000" sy="100000" kx="0" ky="0" algn="bl" rotWithShape="0" blurRad="76200" dist="25400" dir="5400000">
              <a:srgbClr val="000000">
                <a:alpha val="18000"/>
              </a:srgbClr>
            </a:outerShdw>
          </a:effectLst>
        </p:spPr>
      </p:sp>
      <p:pic>
        <p:nvPicPr>
          <p:cNvPr id="5" name="flow icon Your Python" descr="preencoded.png">    </p:cNvPr>
          <p:cNvPicPr>
            <a:picLocks noChangeAspect="1"/>
          </p:cNvPicPr>
          <p:nvPr/>
        </p:nvPicPr>
        <p:blipFill>
          <a:blip r:embed="rId1"/>
          <a:stretch>
            <a:fillRect/>
          </a:stretch>
        </p:blipFill>
        <p:spPr>
          <a:xfrm>
            <a:off x="874268" y="1447594"/>
            <a:ext cx="355600" cy="341046"/>
          </a:xfrm>
          <a:prstGeom prst="rect">
            <a:avLst/>
          </a:prstGeom>
        </p:spPr>
      </p:pic>
      <p:sp>
        <p:nvSpPr>
          <p:cNvPr id="6" name="flow label Your Python"/>
          <p:cNvSpPr txBox="1"/>
          <p:nvPr/>
        </p:nvSpPr>
        <p:spPr>
          <a:xfrm>
            <a:off x="410210" y="1788641"/>
            <a:ext cx="1283716" cy="426308"/>
          </a:xfrm>
          <a:prstGeom prst="rect">
            <a:avLst/>
          </a:prstGeom>
          <a:noFill/>
          <a:ln/>
        </p:spPr>
        <p:txBody>
          <a:bodyPr wrap="square" lIns="0" tIns="0" rIns="0" bIns="0" rtlCol="0" anchor="t"/>
          <a:lstStyle/>
          <a:p>
            <a:pPr algn="ctr" indent="0" marL="0">
              <a:buNone/>
            </a:pPr>
            <a:r>
              <a:rPr lang="en-US" sz="1100" b="1" dirty="0">
                <a:solidFill>
                  <a:srgbClr val="072E47"/>
                </a:solidFill>
              </a:rPr>
              <a:t>Your Python</a:t>
            </a:r>
            <a:endParaRPr lang="en-US" sz="1100" dirty="0"/>
          </a:p>
        </p:txBody>
      </p:sp>
      <p:sp>
        <p:nvSpPr>
          <p:cNvPr id="7" name="arrow 0"/>
          <p:cNvSpPr/>
          <p:nvPr/>
        </p:nvSpPr>
        <p:spPr>
          <a:xfrm>
            <a:off x="1773936" y="1686327"/>
            <a:ext cx="213360" cy="204628"/>
          </a:xfrm>
          <a:prstGeom prst="rightArrow">
            <a:avLst/>
          </a:prstGeom>
          <a:solidFill>
            <a:srgbClr val="0F8D91"/>
          </a:solidFill>
          <a:ln w="12700">
            <a:solidFill>
              <a:srgbClr val="0F8D91"/>
            </a:solidFill>
            <a:prstDash val="solid"/>
          </a:ln>
        </p:spPr>
      </p:sp>
      <p:sp>
        <p:nvSpPr>
          <p:cNvPr id="8" name="flow HTTPS request (the letter)"/>
          <p:cNvSpPr/>
          <p:nvPr/>
        </p:nvSpPr>
        <p:spPr>
          <a:xfrm>
            <a:off x="2022856" y="1319702"/>
            <a:ext cx="1372616" cy="937878"/>
          </a:xfrm>
          <a:prstGeom prst="roundRect">
            <a:avLst>
              <a:gd name="adj" fmla="val 9750"/>
            </a:avLst>
          </a:prstGeom>
          <a:solidFill>
            <a:srgbClr val="8FD3CC"/>
          </a:solidFill>
          <a:ln w="12700">
            <a:solidFill>
              <a:srgbClr val="8FD3CC"/>
            </a:solidFill>
            <a:prstDash val="solid"/>
          </a:ln>
          <a:effectLst>
            <a:outerShdw sx="100000" sy="100000" kx="0" ky="0" algn="bl" rotWithShape="0" blurRad="76200" dist="25400" dir="5400000">
              <a:srgbClr val="000000">
                <a:alpha val="18000"/>
              </a:srgbClr>
            </a:outerShdw>
          </a:effectLst>
        </p:spPr>
      </p:sp>
      <p:pic>
        <p:nvPicPr>
          <p:cNvPr id="9" name="flow icon HTTPS request (the letter)" descr="preencoded.png">    </p:cNvPr>
          <p:cNvPicPr>
            <a:picLocks noChangeAspect="1"/>
          </p:cNvPicPr>
          <p:nvPr/>
        </p:nvPicPr>
        <p:blipFill>
          <a:blip r:embed="rId2"/>
          <a:stretch>
            <a:fillRect/>
          </a:stretch>
        </p:blipFill>
        <p:spPr>
          <a:xfrm>
            <a:off x="2531364" y="1447594"/>
            <a:ext cx="355600" cy="341046"/>
          </a:xfrm>
          <a:prstGeom prst="rect">
            <a:avLst/>
          </a:prstGeom>
        </p:spPr>
      </p:pic>
      <p:sp>
        <p:nvSpPr>
          <p:cNvPr id="10" name="flow label HTTPS request (the letter)"/>
          <p:cNvSpPr txBox="1"/>
          <p:nvPr/>
        </p:nvSpPr>
        <p:spPr>
          <a:xfrm>
            <a:off x="2067306" y="1788641"/>
            <a:ext cx="1283716" cy="426308"/>
          </a:xfrm>
          <a:prstGeom prst="rect">
            <a:avLst/>
          </a:prstGeom>
          <a:noFill/>
          <a:ln/>
        </p:spPr>
        <p:txBody>
          <a:bodyPr wrap="square" lIns="0" tIns="0" rIns="0" bIns="0" rtlCol="0" anchor="t"/>
          <a:lstStyle/>
          <a:p>
            <a:pPr algn="ctr" indent="0" marL="0">
              <a:buNone/>
            </a:pPr>
            <a:r>
              <a:rPr lang="en-US" sz="1100" b="1" dirty="0">
                <a:solidFill>
                  <a:srgbClr val="072E47"/>
                </a:solidFill>
              </a:rPr>
              <a:t>HTTPS request</a:t>
            </a:r>
            <a:endParaRPr lang="en-US" sz="1100" dirty="0"/>
          </a:p>
          <a:p>
            <a:pPr algn="ctr" indent="0" marL="0">
              <a:buNone/>
            </a:pPr>
            <a:r>
              <a:rPr lang="en-US" sz="1100" b="1" dirty="0">
                <a:solidFill>
                  <a:srgbClr val="072E47"/>
                </a:solidFill>
              </a:rPr>
              <a:t>(the letter)</a:t>
            </a:r>
            <a:endParaRPr lang="en-US" sz="1100" dirty="0"/>
          </a:p>
        </p:txBody>
      </p:sp>
      <p:sp>
        <p:nvSpPr>
          <p:cNvPr id="11" name="arrow 1"/>
          <p:cNvSpPr/>
          <p:nvPr/>
        </p:nvSpPr>
        <p:spPr>
          <a:xfrm>
            <a:off x="3431032" y="1686327"/>
            <a:ext cx="213360" cy="204628"/>
          </a:xfrm>
          <a:prstGeom prst="rightArrow">
            <a:avLst/>
          </a:prstGeom>
          <a:solidFill>
            <a:srgbClr val="0F8D91"/>
          </a:solidFill>
          <a:ln w="12700">
            <a:solidFill>
              <a:srgbClr val="0F8D91"/>
            </a:solidFill>
            <a:prstDash val="solid"/>
          </a:ln>
        </p:spPr>
      </p:sp>
      <p:sp>
        <p:nvSpPr>
          <p:cNvPr id="12" name="flow OpenAI's model"/>
          <p:cNvSpPr/>
          <p:nvPr/>
        </p:nvSpPr>
        <p:spPr>
          <a:xfrm>
            <a:off x="3679952" y="1319702"/>
            <a:ext cx="1372616" cy="937878"/>
          </a:xfrm>
          <a:prstGeom prst="roundRect">
            <a:avLst>
              <a:gd name="adj" fmla="val 9750"/>
            </a:avLst>
          </a:prstGeom>
          <a:solidFill>
            <a:srgbClr val="04B1A4"/>
          </a:solidFill>
          <a:ln w="12700">
            <a:solidFill>
              <a:srgbClr val="04B1A4"/>
            </a:solidFill>
            <a:prstDash val="solid"/>
          </a:ln>
          <a:effectLst>
            <a:outerShdw sx="100000" sy="100000" kx="0" ky="0" algn="bl" rotWithShape="0" blurRad="76200" dist="25400" dir="5400000">
              <a:srgbClr val="000000">
                <a:alpha val="18000"/>
              </a:srgbClr>
            </a:outerShdw>
          </a:effectLst>
        </p:spPr>
      </p:sp>
      <p:pic>
        <p:nvPicPr>
          <p:cNvPr id="13" name="flow icon OpenAI's model" descr="preencoded.png">    </p:cNvPr>
          <p:cNvPicPr>
            <a:picLocks noChangeAspect="1"/>
          </p:cNvPicPr>
          <p:nvPr/>
        </p:nvPicPr>
        <p:blipFill>
          <a:blip r:embed="rId3"/>
          <a:stretch>
            <a:fillRect/>
          </a:stretch>
        </p:blipFill>
        <p:spPr>
          <a:xfrm>
            <a:off x="4188460" y="1447594"/>
            <a:ext cx="355600" cy="341046"/>
          </a:xfrm>
          <a:prstGeom prst="rect">
            <a:avLst/>
          </a:prstGeom>
        </p:spPr>
      </p:pic>
      <p:sp>
        <p:nvSpPr>
          <p:cNvPr id="14" name="flow label OpenAI&amp;apos;s model"/>
          <p:cNvSpPr txBox="1"/>
          <p:nvPr/>
        </p:nvSpPr>
        <p:spPr>
          <a:xfrm>
            <a:off x="3724402" y="1788641"/>
            <a:ext cx="1283716" cy="426308"/>
          </a:xfrm>
          <a:prstGeom prst="rect">
            <a:avLst/>
          </a:prstGeom>
          <a:noFill/>
          <a:ln/>
        </p:spPr>
        <p:txBody>
          <a:bodyPr wrap="square" lIns="0" tIns="0" rIns="0" bIns="0" rtlCol="0" anchor="t"/>
          <a:lstStyle/>
          <a:p>
            <a:pPr algn="ctr" indent="0" marL="0">
              <a:buNone/>
            </a:pPr>
            <a:r>
              <a:rPr lang="en-US" sz="1100" b="1" dirty="0">
                <a:solidFill>
                  <a:srgbClr val="072E47"/>
                </a:solidFill>
              </a:rPr>
              <a:t>OpenAI's model</a:t>
            </a:r>
            <a:endParaRPr lang="en-US" sz="1100" dirty="0"/>
          </a:p>
        </p:txBody>
      </p:sp>
      <p:sp>
        <p:nvSpPr>
          <p:cNvPr id="15" name="arrow 2"/>
          <p:cNvSpPr/>
          <p:nvPr/>
        </p:nvSpPr>
        <p:spPr>
          <a:xfrm>
            <a:off x="5088128" y="1686327"/>
            <a:ext cx="213360" cy="204628"/>
          </a:xfrm>
          <a:prstGeom prst="rightArrow">
            <a:avLst/>
          </a:prstGeom>
          <a:solidFill>
            <a:srgbClr val="0F8D91"/>
          </a:solidFill>
          <a:ln w="12700">
            <a:solidFill>
              <a:srgbClr val="0F8D91"/>
            </a:solidFill>
            <a:prstDash val="solid"/>
          </a:ln>
        </p:spPr>
      </p:sp>
      <p:sp>
        <p:nvSpPr>
          <p:cNvPr id="16" name="flow HTTPS response (the reply)"/>
          <p:cNvSpPr/>
          <p:nvPr/>
        </p:nvSpPr>
        <p:spPr>
          <a:xfrm>
            <a:off x="5337048" y="1319702"/>
            <a:ext cx="1372616" cy="937878"/>
          </a:xfrm>
          <a:prstGeom prst="roundRect">
            <a:avLst>
              <a:gd name="adj" fmla="val 9750"/>
            </a:avLst>
          </a:prstGeom>
          <a:solidFill>
            <a:srgbClr val="8FD3CC"/>
          </a:solidFill>
          <a:ln w="12700">
            <a:solidFill>
              <a:srgbClr val="8FD3CC"/>
            </a:solidFill>
            <a:prstDash val="solid"/>
          </a:ln>
          <a:effectLst>
            <a:outerShdw sx="100000" sy="100000" kx="0" ky="0" algn="bl" rotWithShape="0" blurRad="76200" dist="25400" dir="5400000">
              <a:srgbClr val="000000">
                <a:alpha val="18000"/>
              </a:srgbClr>
            </a:outerShdw>
          </a:effectLst>
        </p:spPr>
      </p:sp>
      <p:pic>
        <p:nvPicPr>
          <p:cNvPr id="17" name="flow icon HTTPS response (the reply)" descr="preencoded.png">    </p:cNvPr>
          <p:cNvPicPr>
            <a:picLocks noChangeAspect="1"/>
          </p:cNvPicPr>
          <p:nvPr/>
        </p:nvPicPr>
        <p:blipFill>
          <a:blip r:embed="rId4"/>
          <a:stretch>
            <a:fillRect/>
          </a:stretch>
        </p:blipFill>
        <p:spPr>
          <a:xfrm>
            <a:off x="5845556" y="1447594"/>
            <a:ext cx="355600" cy="341046"/>
          </a:xfrm>
          <a:prstGeom prst="rect">
            <a:avLst/>
          </a:prstGeom>
        </p:spPr>
      </p:pic>
      <p:sp>
        <p:nvSpPr>
          <p:cNvPr id="18" name="flow label HTTPS response (the reply)"/>
          <p:cNvSpPr txBox="1"/>
          <p:nvPr/>
        </p:nvSpPr>
        <p:spPr>
          <a:xfrm>
            <a:off x="5381498" y="1788641"/>
            <a:ext cx="1283716" cy="426308"/>
          </a:xfrm>
          <a:prstGeom prst="rect">
            <a:avLst/>
          </a:prstGeom>
          <a:noFill/>
          <a:ln/>
        </p:spPr>
        <p:txBody>
          <a:bodyPr wrap="square" lIns="0" tIns="0" rIns="0" bIns="0" rtlCol="0" anchor="t"/>
          <a:lstStyle/>
          <a:p>
            <a:pPr algn="ctr" indent="0" marL="0">
              <a:buNone/>
            </a:pPr>
            <a:r>
              <a:rPr lang="en-US" sz="1100" b="1" dirty="0">
                <a:solidFill>
                  <a:srgbClr val="072E47"/>
                </a:solidFill>
              </a:rPr>
              <a:t>HTTPS response</a:t>
            </a:r>
            <a:endParaRPr lang="en-US" sz="1100" dirty="0"/>
          </a:p>
          <a:p>
            <a:pPr algn="ctr" indent="0" marL="0">
              <a:buNone/>
            </a:pPr>
            <a:r>
              <a:rPr lang="en-US" sz="1100" b="1" dirty="0">
                <a:solidFill>
                  <a:srgbClr val="072E47"/>
                </a:solidFill>
              </a:rPr>
              <a:t>(the reply)</a:t>
            </a:r>
            <a:endParaRPr lang="en-US" sz="1100" dirty="0"/>
          </a:p>
        </p:txBody>
      </p:sp>
      <p:sp>
        <p:nvSpPr>
          <p:cNvPr id="19" name="arrow 3"/>
          <p:cNvSpPr/>
          <p:nvPr/>
        </p:nvSpPr>
        <p:spPr>
          <a:xfrm>
            <a:off x="6745224" y="1686327"/>
            <a:ext cx="213360" cy="204628"/>
          </a:xfrm>
          <a:prstGeom prst="rightArrow">
            <a:avLst/>
          </a:prstGeom>
          <a:solidFill>
            <a:srgbClr val="0F8D91"/>
          </a:solidFill>
          <a:ln w="12700">
            <a:solidFill>
              <a:srgbClr val="0F8D91"/>
            </a:solidFill>
            <a:prstDash val="solid"/>
          </a:ln>
        </p:spPr>
      </p:sp>
      <p:sp>
        <p:nvSpPr>
          <p:cNvPr id="20" name="flow Your Python"/>
          <p:cNvSpPr/>
          <p:nvPr/>
        </p:nvSpPr>
        <p:spPr>
          <a:xfrm>
            <a:off x="6994144" y="1319702"/>
            <a:ext cx="1372616" cy="937878"/>
          </a:xfrm>
          <a:prstGeom prst="roundRect">
            <a:avLst>
              <a:gd name="adj" fmla="val 9750"/>
            </a:avLst>
          </a:prstGeom>
          <a:solidFill>
            <a:srgbClr val="F99508"/>
          </a:solidFill>
          <a:ln w="12700">
            <a:solidFill>
              <a:srgbClr val="F99508"/>
            </a:solidFill>
            <a:prstDash val="solid"/>
          </a:ln>
          <a:effectLst>
            <a:outerShdw sx="100000" sy="100000" kx="0" ky="0" algn="bl" rotWithShape="0" blurRad="76200" dist="25400" dir="5400000">
              <a:srgbClr val="000000">
                <a:alpha val="18000"/>
              </a:srgbClr>
            </a:outerShdw>
          </a:effectLst>
        </p:spPr>
      </p:sp>
      <p:pic>
        <p:nvPicPr>
          <p:cNvPr id="21" name="flow icon Your Python" descr="preencoded.png">    </p:cNvPr>
          <p:cNvPicPr>
            <a:picLocks noChangeAspect="1"/>
          </p:cNvPicPr>
          <p:nvPr/>
        </p:nvPicPr>
        <p:blipFill>
          <a:blip r:embed="rId5"/>
          <a:stretch>
            <a:fillRect/>
          </a:stretch>
        </p:blipFill>
        <p:spPr>
          <a:xfrm>
            <a:off x="7502652" y="1447594"/>
            <a:ext cx="355600" cy="341046"/>
          </a:xfrm>
          <a:prstGeom prst="rect">
            <a:avLst/>
          </a:prstGeom>
        </p:spPr>
      </p:pic>
      <p:sp>
        <p:nvSpPr>
          <p:cNvPr id="22" name="flow label Your Python"/>
          <p:cNvSpPr txBox="1"/>
          <p:nvPr/>
        </p:nvSpPr>
        <p:spPr>
          <a:xfrm>
            <a:off x="7038594" y="1788641"/>
            <a:ext cx="1283716" cy="426308"/>
          </a:xfrm>
          <a:prstGeom prst="rect">
            <a:avLst/>
          </a:prstGeom>
          <a:noFill/>
          <a:ln/>
        </p:spPr>
        <p:txBody>
          <a:bodyPr wrap="square" lIns="0" tIns="0" rIns="0" bIns="0" rtlCol="0" anchor="t"/>
          <a:lstStyle/>
          <a:p>
            <a:pPr algn="ctr" indent="0" marL="0">
              <a:buNone/>
            </a:pPr>
            <a:r>
              <a:rPr lang="en-US" sz="1100" b="1" dirty="0">
                <a:solidFill>
                  <a:srgbClr val="072E47"/>
                </a:solidFill>
              </a:rPr>
              <a:t>Your Python</a:t>
            </a:r>
            <a:endParaRPr lang="en-US" sz="1100" dirty="0"/>
          </a:p>
        </p:txBody>
      </p:sp>
      <p:sp>
        <p:nvSpPr>
          <p:cNvPr id="23" name="code card"/>
          <p:cNvSpPr/>
          <p:nvPr/>
        </p:nvSpPr>
        <p:spPr>
          <a:xfrm>
            <a:off x="365760" y="2513364"/>
            <a:ext cx="5511800" cy="1875756"/>
          </a:xfrm>
          <a:prstGeom prst="roundRect">
            <a:avLst>
              <a:gd name="adj" fmla="val 585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24" name="file label"/>
          <p:cNvSpPr/>
          <p:nvPr/>
        </p:nvSpPr>
        <p:spPr>
          <a:xfrm>
            <a:off x="543560" y="2615678"/>
            <a:ext cx="2275840" cy="238733"/>
          </a:xfrm>
          <a:prstGeom prst="roundRect">
            <a:avLst>
              <a:gd name="adj" fmla="val 30642"/>
            </a:avLst>
          </a:prstGeom>
          <a:solidFill>
            <a:srgbClr val="F99508"/>
          </a:solidFill>
          <a:ln w="12700">
            <a:solidFill>
              <a:srgbClr val="F99508"/>
            </a:solidFill>
            <a:prstDash val="solid"/>
          </a:ln>
        </p:spPr>
      </p:sp>
      <p:sp>
        <p:nvSpPr>
          <p:cNvPr id="25" name="file label text"/>
          <p:cNvSpPr txBox="1"/>
          <p:nvPr/>
        </p:nvSpPr>
        <p:spPr>
          <a:xfrm>
            <a:off x="543560" y="2615678"/>
            <a:ext cx="227584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the simplest possible call</a:t>
            </a:r>
            <a:endParaRPr lang="en-US" sz="1000" dirty="0"/>
          </a:p>
        </p:txBody>
      </p:sp>
      <p:sp>
        <p:nvSpPr>
          <p:cNvPr id="26" name="code"/>
          <p:cNvSpPr txBox="1"/>
          <p:nvPr/>
        </p:nvSpPr>
        <p:spPr>
          <a:xfrm>
            <a:off x="588010" y="2939672"/>
            <a:ext cx="5067300" cy="1321555"/>
          </a:xfrm>
          <a:prstGeom prst="rect">
            <a:avLst/>
          </a:prstGeom>
          <a:noFill/>
          <a:ln/>
        </p:spPr>
        <p:txBody>
          <a:bodyPr wrap="square" lIns="0" tIns="0" rIns="0" bIns="0" rtlCol="0" anchor="t"/>
          <a:lstStyle/>
          <a:p>
            <a:pPr indent="0" marL="0">
              <a:buNone/>
            </a:pPr>
            <a:r>
              <a:rPr lang="en-US" sz="1150" dirty="0">
                <a:solidFill>
                  <a:srgbClr val="F92672"/>
                </a:solidFill>
                <a:latin typeface="Courier New" pitchFamily="34" charset="0"/>
                <a:ea typeface="Courier New" pitchFamily="34" charset="-122"/>
                <a:cs typeface="Courier New" pitchFamily="34" charset="-120"/>
              </a:rPr>
              <a:t>from</a:t>
            </a:r>
            <a:pPr indent="0" marL="0">
              <a:buNone/>
            </a:pPr>
            <a:r>
              <a:rPr lang="en-US" sz="1150" dirty="0">
                <a:solidFill>
                  <a:srgbClr val="F8F8F2"/>
                </a:solidFill>
                <a:latin typeface="Courier New" pitchFamily="34" charset="0"/>
                <a:ea typeface="Courier New" pitchFamily="34" charset="-122"/>
                <a:cs typeface="Courier New" pitchFamily="34" charset="-120"/>
              </a:rPr>
              <a:t> openai </a:t>
            </a:r>
            <a:pPr indent="0" marL="0">
              <a:buNone/>
            </a:pPr>
            <a:r>
              <a:rPr lang="en-US" sz="1150" dirty="0">
                <a:solidFill>
                  <a:srgbClr val="F92672"/>
                </a:solidFill>
                <a:latin typeface="Courier New" pitchFamily="34" charset="0"/>
                <a:ea typeface="Courier New" pitchFamily="34" charset="-122"/>
                <a:cs typeface="Courier New" pitchFamily="34" charset="-120"/>
              </a:rPr>
              <a:t>import</a:t>
            </a:r>
            <a:pPr indent="0" marL="0">
              <a:buNone/>
            </a:pPr>
            <a:r>
              <a:rPr lang="en-US" sz="1150" dirty="0">
                <a:solidFill>
                  <a:srgbClr val="F8F8F2"/>
                </a:solidFill>
                <a:latin typeface="Courier New" pitchFamily="34" charset="0"/>
                <a:ea typeface="Courier New" pitchFamily="34" charset="-122"/>
                <a:cs typeface="Courier New" pitchFamily="34" charset="-120"/>
              </a:rPr>
              <a:t> OpenAI</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client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OpenAI</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api_key</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"sk-..."</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9A9B8C"/>
                </a:solidFill>
                <a:latin typeface="Courier New" pitchFamily="34" charset="0"/>
                <a:ea typeface="Courier New" pitchFamily="34" charset="-122"/>
                <a:cs typeface="Courier New" pitchFamily="34" charset="-120"/>
              </a:rPr>
              <a:t># from .env!</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reply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client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chat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completions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create</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model</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"gpt-4o-mini"</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messages</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"role"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"user"</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"content"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"Write 3 Python questions"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92672"/>
                </a:solidFill>
                <a:latin typeface="Courier New" pitchFamily="34" charset="0"/>
                <a:ea typeface="Courier New" pitchFamily="34" charset="-122"/>
                <a:cs typeface="Courier New" pitchFamily="34" charset="-120"/>
              </a:rPr>
              <a:t>print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reply</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choices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AE81FF"/>
                </a:solidFill>
                <a:latin typeface="Courier New" pitchFamily="34" charset="0"/>
                <a:ea typeface="Courier New" pitchFamily="34" charset="-122"/>
                <a:cs typeface="Courier New" pitchFamily="34" charset="-120"/>
              </a:rPr>
              <a:t>0</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message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content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p:txBody>
      </p:sp>
      <p:sp>
        <p:nvSpPr>
          <p:cNvPr id="27" name="bullets"/>
          <p:cNvSpPr txBox="1"/>
          <p:nvPr/>
        </p:nvSpPr>
        <p:spPr>
          <a:xfrm>
            <a:off x="6055360" y="2555995"/>
            <a:ext cx="2311400" cy="1875756"/>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072E47"/>
                </a:solidFill>
              </a:rPr>
              <a:t>API: programs talking to programs</a:t>
            </a:r>
            <a:endParaRPr lang="en-US" sz="1300" dirty="0"/>
          </a:p>
          <a:p>
            <a:pPr marL="342900" indent="-342900">
              <a:spcAft>
                <a:spcPts val="800"/>
              </a:spcAft>
              <a:buSzPct val="100000"/>
              <a:buChar char="•"/>
            </a:pPr>
            <a:r>
              <a:rPr lang="en-US" sz="1300" dirty="0">
                <a:solidFill>
                  <a:srgbClr val="072E47"/>
                </a:solidFill>
              </a:rPr>
              <a:t>Same skill as payments, maps, weather</a:t>
            </a:r>
            <a:endParaRPr lang="en-US" sz="1300" dirty="0"/>
          </a:p>
          <a:p>
            <a:pPr marL="342900" indent="-342900">
              <a:spcAft>
                <a:spcPts val="800"/>
              </a:spcAft>
              <a:buSzPct val="100000"/>
              <a:buChar char="•"/>
            </a:pPr>
            <a:r>
              <a:rPr lang="en-US" sz="1300" dirty="0">
                <a:solidFill>
                  <a:srgbClr val="072E47"/>
                </a:solidFill>
              </a:rPr>
              <a:t>The openai SDK does the HTTP for us</a:t>
            </a:r>
            <a:endParaRPr lang="en-US" sz="13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The problem with free text</a:t>
            </a:r>
            <a:endParaRPr lang="en-US" sz="2400" dirty="0"/>
          </a:p>
        </p:txBody>
      </p:sp>
      <p:sp>
        <p:nvSpPr>
          <p:cNvPr id="4" name="code card"/>
          <p:cNvSpPr/>
          <p:nvPr/>
        </p:nvSpPr>
        <p:spPr>
          <a:xfrm>
            <a:off x="365760" y="1234440"/>
            <a:ext cx="3467100" cy="1961017"/>
          </a:xfrm>
          <a:prstGeom prst="roundRect">
            <a:avLst>
              <a:gd name="adj" fmla="val 5595"/>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14236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14236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free text ✘</a:t>
            </a:r>
            <a:endParaRPr lang="en-US" sz="1000" dirty="0"/>
          </a:p>
        </p:txBody>
      </p:sp>
      <p:sp>
        <p:nvSpPr>
          <p:cNvPr id="7" name="code"/>
          <p:cNvSpPr txBox="1"/>
          <p:nvPr/>
        </p:nvSpPr>
        <p:spPr>
          <a:xfrm>
            <a:off x="588010" y="1660748"/>
            <a:ext cx="3022600" cy="1406817"/>
          </a:xfrm>
          <a:prstGeom prst="rect">
            <a:avLst/>
          </a:prstGeom>
          <a:noFill/>
          <a:ln/>
        </p:spPr>
        <p:txBody>
          <a:bodyPr wrap="square" lIns="0" tIns="0" rIns="0" bIns="0" rtlCol="0" anchor="t"/>
          <a:lstStyle/>
          <a:p>
            <a:pPr indent="0" marL="0">
              <a:buNone/>
            </a:pPr>
            <a:r>
              <a:rPr lang="en-US" sz="1100" dirty="0">
                <a:solidFill>
                  <a:srgbClr val="F8F8F2"/>
                </a:solidFill>
                <a:latin typeface="Courier New" pitchFamily="34" charset="0"/>
                <a:ea typeface="Courier New" pitchFamily="34" charset="-122"/>
                <a:cs typeface="Courier New" pitchFamily="34" charset="-120"/>
              </a:rPr>
              <a:t>Sure! Here are some questions: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Q1: Which keyword defines a</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function? It's def, though some</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think it's 'function'. Options...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(Good luck parsing that.)</a:t>
            </a:r>
            <a:endParaRPr lang="en-US" sz="1100" dirty="0"/>
          </a:p>
        </p:txBody>
      </p:sp>
      <p:sp>
        <p:nvSpPr>
          <p:cNvPr id="8" name="code card"/>
          <p:cNvSpPr/>
          <p:nvPr/>
        </p:nvSpPr>
        <p:spPr>
          <a:xfrm>
            <a:off x="4010660" y="1234440"/>
            <a:ext cx="4356100" cy="1961017"/>
          </a:xfrm>
          <a:prstGeom prst="roundRect">
            <a:avLst>
              <a:gd name="adj" fmla="val 5595"/>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9" name="file label"/>
          <p:cNvSpPr/>
          <p:nvPr/>
        </p:nvSpPr>
        <p:spPr>
          <a:xfrm>
            <a:off x="4188460" y="1336754"/>
            <a:ext cx="1595755" cy="238733"/>
          </a:xfrm>
          <a:prstGeom prst="roundRect">
            <a:avLst>
              <a:gd name="adj" fmla="val 30642"/>
            </a:avLst>
          </a:prstGeom>
          <a:solidFill>
            <a:srgbClr val="F99508"/>
          </a:solidFill>
          <a:ln w="12700">
            <a:solidFill>
              <a:srgbClr val="F99508"/>
            </a:solidFill>
            <a:prstDash val="solid"/>
          </a:ln>
        </p:spPr>
      </p:sp>
      <p:sp>
        <p:nvSpPr>
          <p:cNvPr id="10" name="file label text"/>
          <p:cNvSpPr txBox="1"/>
          <p:nvPr/>
        </p:nvSpPr>
        <p:spPr>
          <a:xfrm>
            <a:off x="4188460" y="1336754"/>
            <a:ext cx="159575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structured JSON ✔</a:t>
            </a:r>
            <a:endParaRPr lang="en-US" sz="1000" dirty="0"/>
          </a:p>
        </p:txBody>
      </p:sp>
      <p:sp>
        <p:nvSpPr>
          <p:cNvPr id="11" name="code"/>
          <p:cNvSpPr txBox="1"/>
          <p:nvPr/>
        </p:nvSpPr>
        <p:spPr>
          <a:xfrm>
            <a:off x="4232910" y="1660748"/>
            <a:ext cx="3911600" cy="1406817"/>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A6E22E"/>
                </a:solidFill>
                <a:latin typeface="Courier New" pitchFamily="34" charset="0"/>
                <a:ea typeface="Courier New" pitchFamily="34" charset="-122"/>
                <a:cs typeface="Courier New" pitchFamily="34" charset="-120"/>
              </a:rPr>
              <a:t>"questions"</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A6E22E"/>
                </a:solidFill>
                <a:latin typeface="Courier New" pitchFamily="34" charset="0"/>
                <a:ea typeface="Courier New" pitchFamily="34" charset="-122"/>
                <a:cs typeface="Courier New" pitchFamily="34" charset="-120"/>
              </a:rPr>
              <a:t>"type"</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"multiple_choice"</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A6E22E"/>
                </a:solidFill>
                <a:latin typeface="Courier New" pitchFamily="34" charset="0"/>
                <a:ea typeface="Courier New" pitchFamily="34" charset="-122"/>
                <a:cs typeface="Courier New" pitchFamily="34" charset="-120"/>
              </a:rPr>
              <a:t>"question"</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"What makes a function?"</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A6E22E"/>
                </a:solidFill>
                <a:latin typeface="Courier New" pitchFamily="34" charset="0"/>
                <a:ea typeface="Courier New" pitchFamily="34" charset="-122"/>
                <a:cs typeface="Courier New" pitchFamily="34" charset="-120"/>
              </a:rPr>
              <a:t>"choices"</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A6E22E"/>
                </a:solidFill>
                <a:latin typeface="Courier New" pitchFamily="34" charset="0"/>
                <a:ea typeface="Courier New" pitchFamily="34" charset="-122"/>
                <a:cs typeface="Courier New" pitchFamily="34" charset="-120"/>
              </a:rPr>
              <a:t>"text"</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"def"</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A6E22E"/>
                </a:solidFill>
                <a:latin typeface="Courier New" pitchFamily="34" charset="0"/>
                <a:ea typeface="Courier New" pitchFamily="34" charset="-122"/>
                <a:cs typeface="Courier New" pitchFamily="34" charset="-120"/>
              </a:rPr>
              <a:t>"correct"</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AE81FF"/>
                </a:solidFill>
                <a:latin typeface="Courier New" pitchFamily="34" charset="0"/>
                <a:ea typeface="Courier New" pitchFamily="34" charset="-122"/>
                <a:cs typeface="Courier New" pitchFamily="34" charset="-120"/>
              </a:rPr>
              <a:t>true</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A6E22E"/>
                </a:solidFill>
                <a:latin typeface="Courier New" pitchFamily="34" charset="0"/>
                <a:ea typeface="Courier New" pitchFamily="34" charset="-122"/>
                <a:cs typeface="Courier New" pitchFamily="34" charset="-120"/>
              </a:rPr>
              <a:t>"text"</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"func"</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A6E22E"/>
                </a:solidFill>
                <a:latin typeface="Courier New" pitchFamily="34" charset="0"/>
                <a:ea typeface="Courier New" pitchFamily="34" charset="-122"/>
                <a:cs typeface="Courier New" pitchFamily="34" charset="-120"/>
              </a:rPr>
              <a:t>"correct"</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AE81FF"/>
                </a:solidFill>
                <a:latin typeface="Courier New" pitchFamily="34" charset="0"/>
                <a:ea typeface="Courier New" pitchFamily="34" charset="-122"/>
                <a:cs typeface="Courier New" pitchFamily="34" charset="-120"/>
              </a:rPr>
              <a:t>false</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p:txBody>
      </p:sp>
      <p:sp>
        <p:nvSpPr>
          <p:cNvPr id="12" name="flow AI"/>
          <p:cNvSpPr/>
          <p:nvPr/>
        </p:nvSpPr>
        <p:spPr>
          <a:xfrm>
            <a:off x="365760" y="3408611"/>
            <a:ext cx="966047" cy="596831"/>
          </a:xfrm>
          <a:prstGeom prst="roundRect">
            <a:avLst>
              <a:gd name="adj" fmla="val 15321"/>
            </a:avLst>
          </a:prstGeom>
          <a:solidFill>
            <a:srgbClr val="04B1A4"/>
          </a:solidFill>
          <a:ln w="12700">
            <a:solidFill>
              <a:srgbClr val="04B1A4"/>
            </a:solidFill>
            <a:prstDash val="solid"/>
          </a:ln>
          <a:effectLst>
            <a:outerShdw sx="100000" sy="100000" kx="0" ky="0" algn="bl" rotWithShape="0" blurRad="76200" dist="25400" dir="5400000">
              <a:srgbClr val="000000">
                <a:alpha val="18000"/>
              </a:srgbClr>
            </a:outerShdw>
          </a:effectLst>
        </p:spPr>
      </p:sp>
      <p:sp>
        <p:nvSpPr>
          <p:cNvPr id="13" name="flow label AI"/>
          <p:cNvSpPr txBox="1"/>
          <p:nvPr/>
        </p:nvSpPr>
        <p:spPr>
          <a:xfrm>
            <a:off x="410210" y="3408611"/>
            <a:ext cx="877147" cy="596831"/>
          </a:xfrm>
          <a:prstGeom prst="rect">
            <a:avLst/>
          </a:prstGeom>
          <a:noFill/>
          <a:ln/>
        </p:spPr>
        <p:txBody>
          <a:bodyPr wrap="square" lIns="0" tIns="0" rIns="0" bIns="0" rtlCol="0" anchor="ctr"/>
          <a:lstStyle/>
          <a:p>
            <a:pPr algn="ctr" indent="0" marL="0">
              <a:buNone/>
            </a:pPr>
            <a:r>
              <a:rPr lang="en-US" sz="1100" b="1" dirty="0">
                <a:solidFill>
                  <a:srgbClr val="072E47"/>
                </a:solidFill>
              </a:rPr>
              <a:t>AI</a:t>
            </a:r>
            <a:endParaRPr lang="en-US" sz="1100" dirty="0"/>
          </a:p>
        </p:txBody>
      </p:sp>
      <p:sp>
        <p:nvSpPr>
          <p:cNvPr id="14" name="arrow 0"/>
          <p:cNvSpPr/>
          <p:nvPr/>
        </p:nvSpPr>
        <p:spPr>
          <a:xfrm>
            <a:off x="1367367" y="3604713"/>
            <a:ext cx="213360" cy="204628"/>
          </a:xfrm>
          <a:prstGeom prst="rightArrow">
            <a:avLst/>
          </a:prstGeom>
          <a:solidFill>
            <a:srgbClr val="0F8D91"/>
          </a:solidFill>
          <a:ln w="12700">
            <a:solidFill>
              <a:srgbClr val="0F8D91"/>
            </a:solidFill>
            <a:prstDash val="solid"/>
          </a:ln>
        </p:spPr>
      </p:sp>
      <p:sp>
        <p:nvSpPr>
          <p:cNvPr id="15" name="flow random text"/>
          <p:cNvSpPr/>
          <p:nvPr/>
        </p:nvSpPr>
        <p:spPr>
          <a:xfrm>
            <a:off x="1616287" y="3408611"/>
            <a:ext cx="966047" cy="596831"/>
          </a:xfrm>
          <a:prstGeom prst="roundRect">
            <a:avLst>
              <a:gd name="adj" fmla="val 15321"/>
            </a:avLst>
          </a:prstGeom>
          <a:solidFill>
            <a:srgbClr val="D9534F"/>
          </a:solidFill>
          <a:ln w="12700">
            <a:solidFill>
              <a:srgbClr val="D9534F"/>
            </a:solidFill>
            <a:prstDash val="solid"/>
          </a:ln>
          <a:effectLst>
            <a:outerShdw sx="100000" sy="100000" kx="0" ky="0" algn="bl" rotWithShape="0" blurRad="76200" dist="25400" dir="5400000">
              <a:srgbClr val="000000">
                <a:alpha val="18000"/>
              </a:srgbClr>
            </a:outerShdw>
          </a:effectLst>
        </p:spPr>
      </p:sp>
      <p:sp>
        <p:nvSpPr>
          <p:cNvPr id="16" name="flow label random text"/>
          <p:cNvSpPr txBox="1"/>
          <p:nvPr/>
        </p:nvSpPr>
        <p:spPr>
          <a:xfrm>
            <a:off x="1660737" y="3408611"/>
            <a:ext cx="877147" cy="596831"/>
          </a:xfrm>
          <a:prstGeom prst="rect">
            <a:avLst/>
          </a:prstGeom>
          <a:noFill/>
          <a:ln/>
        </p:spPr>
        <p:txBody>
          <a:bodyPr wrap="square" lIns="0" tIns="0" rIns="0" bIns="0" rtlCol="0" anchor="ctr"/>
          <a:lstStyle/>
          <a:p>
            <a:pPr algn="ctr" indent="0" marL="0">
              <a:buNone/>
            </a:pPr>
            <a:r>
              <a:rPr lang="en-US" sz="1100" b="1" dirty="0">
                <a:solidFill>
                  <a:srgbClr val="072E47"/>
                </a:solidFill>
              </a:rPr>
              <a:t>random text</a:t>
            </a:r>
            <a:endParaRPr lang="en-US" sz="1100" dirty="0"/>
          </a:p>
        </p:txBody>
      </p:sp>
      <p:sp>
        <p:nvSpPr>
          <p:cNvPr id="17" name="arrow 1"/>
          <p:cNvSpPr/>
          <p:nvPr/>
        </p:nvSpPr>
        <p:spPr>
          <a:xfrm>
            <a:off x="2617893" y="3604713"/>
            <a:ext cx="213360" cy="204628"/>
          </a:xfrm>
          <a:prstGeom prst="rightArrow">
            <a:avLst/>
          </a:prstGeom>
          <a:solidFill>
            <a:srgbClr val="0F8D91"/>
          </a:solidFill>
          <a:ln w="12700">
            <a:solidFill>
              <a:srgbClr val="0F8D91"/>
            </a:solidFill>
            <a:prstDash val="solid"/>
          </a:ln>
        </p:spPr>
      </p:sp>
      <p:sp>
        <p:nvSpPr>
          <p:cNvPr id="18" name="flow app breaks"/>
          <p:cNvSpPr/>
          <p:nvPr/>
        </p:nvSpPr>
        <p:spPr>
          <a:xfrm>
            <a:off x="2866813" y="3408611"/>
            <a:ext cx="966047" cy="596831"/>
          </a:xfrm>
          <a:prstGeom prst="roundRect">
            <a:avLst>
              <a:gd name="adj" fmla="val 15321"/>
            </a:avLst>
          </a:prstGeom>
          <a:solidFill>
            <a:srgbClr val="D9534F"/>
          </a:solidFill>
          <a:ln w="12700">
            <a:solidFill>
              <a:srgbClr val="D9534F"/>
            </a:solidFill>
            <a:prstDash val="solid"/>
          </a:ln>
          <a:effectLst>
            <a:outerShdw sx="100000" sy="100000" kx="0" ky="0" algn="bl" rotWithShape="0" blurRad="76200" dist="25400" dir="5400000">
              <a:srgbClr val="000000">
                <a:alpha val="18000"/>
              </a:srgbClr>
            </a:outerShdw>
          </a:effectLst>
        </p:spPr>
      </p:sp>
      <p:sp>
        <p:nvSpPr>
          <p:cNvPr id="19" name="flow label app breaks"/>
          <p:cNvSpPr txBox="1"/>
          <p:nvPr/>
        </p:nvSpPr>
        <p:spPr>
          <a:xfrm>
            <a:off x="2911263" y="3408611"/>
            <a:ext cx="877147" cy="596831"/>
          </a:xfrm>
          <a:prstGeom prst="rect">
            <a:avLst/>
          </a:prstGeom>
          <a:noFill/>
          <a:ln/>
        </p:spPr>
        <p:txBody>
          <a:bodyPr wrap="square" lIns="0" tIns="0" rIns="0" bIns="0" rtlCol="0" anchor="ctr"/>
          <a:lstStyle/>
          <a:p>
            <a:pPr algn="ctr" indent="0" marL="0">
              <a:buNone/>
            </a:pPr>
            <a:r>
              <a:rPr lang="en-US" sz="1100" b="1" dirty="0">
                <a:solidFill>
                  <a:srgbClr val="072E47"/>
                </a:solidFill>
              </a:rPr>
              <a:t>app breaks</a:t>
            </a:r>
            <a:endParaRPr lang="en-US" sz="1100" dirty="0"/>
          </a:p>
        </p:txBody>
      </p:sp>
      <p:sp>
        <p:nvSpPr>
          <p:cNvPr id="20" name="flow AI"/>
          <p:cNvSpPr/>
          <p:nvPr/>
        </p:nvSpPr>
        <p:spPr>
          <a:xfrm>
            <a:off x="4010660" y="3408611"/>
            <a:ext cx="875665" cy="596831"/>
          </a:xfrm>
          <a:prstGeom prst="roundRect">
            <a:avLst>
              <a:gd name="adj" fmla="val 15321"/>
            </a:avLst>
          </a:prstGeom>
          <a:solidFill>
            <a:srgbClr val="04B1A4"/>
          </a:solidFill>
          <a:ln w="12700">
            <a:solidFill>
              <a:srgbClr val="04B1A4"/>
            </a:solidFill>
            <a:prstDash val="solid"/>
          </a:ln>
          <a:effectLst>
            <a:outerShdw sx="100000" sy="100000" kx="0" ky="0" algn="bl" rotWithShape="0" blurRad="76200" dist="25400" dir="5400000">
              <a:srgbClr val="000000">
                <a:alpha val="18000"/>
              </a:srgbClr>
            </a:outerShdw>
          </a:effectLst>
        </p:spPr>
      </p:sp>
      <p:sp>
        <p:nvSpPr>
          <p:cNvPr id="21" name="flow label AI"/>
          <p:cNvSpPr txBox="1"/>
          <p:nvPr/>
        </p:nvSpPr>
        <p:spPr>
          <a:xfrm>
            <a:off x="4055110" y="3408611"/>
            <a:ext cx="786765" cy="596831"/>
          </a:xfrm>
          <a:prstGeom prst="rect">
            <a:avLst/>
          </a:prstGeom>
          <a:noFill/>
          <a:ln/>
        </p:spPr>
        <p:txBody>
          <a:bodyPr wrap="square" lIns="0" tIns="0" rIns="0" bIns="0" rtlCol="0" anchor="ctr"/>
          <a:lstStyle/>
          <a:p>
            <a:pPr algn="ctr" indent="0" marL="0">
              <a:buNone/>
            </a:pPr>
            <a:r>
              <a:rPr lang="en-US" sz="1100" b="1" dirty="0">
                <a:solidFill>
                  <a:srgbClr val="072E47"/>
                </a:solidFill>
              </a:rPr>
              <a:t>AI</a:t>
            </a:r>
            <a:endParaRPr lang="en-US" sz="1100" dirty="0"/>
          </a:p>
        </p:txBody>
      </p:sp>
      <p:sp>
        <p:nvSpPr>
          <p:cNvPr id="22" name="arrow 0"/>
          <p:cNvSpPr/>
          <p:nvPr/>
        </p:nvSpPr>
        <p:spPr>
          <a:xfrm>
            <a:off x="4921885" y="3604713"/>
            <a:ext cx="213360" cy="204628"/>
          </a:xfrm>
          <a:prstGeom prst="rightArrow">
            <a:avLst/>
          </a:prstGeom>
          <a:solidFill>
            <a:srgbClr val="0F8D91"/>
          </a:solidFill>
          <a:ln w="12700">
            <a:solidFill>
              <a:srgbClr val="0F8D91"/>
            </a:solidFill>
            <a:prstDash val="solid"/>
          </a:ln>
        </p:spPr>
      </p:sp>
      <p:sp>
        <p:nvSpPr>
          <p:cNvPr id="23" name="flow JSON"/>
          <p:cNvSpPr/>
          <p:nvPr/>
        </p:nvSpPr>
        <p:spPr>
          <a:xfrm>
            <a:off x="5170805" y="3408611"/>
            <a:ext cx="875665" cy="596831"/>
          </a:xfrm>
          <a:prstGeom prst="roundRect">
            <a:avLst>
              <a:gd name="adj" fmla="val 15321"/>
            </a:avLst>
          </a:prstGeom>
          <a:solidFill>
            <a:srgbClr val="8FD3CC"/>
          </a:solidFill>
          <a:ln w="12700">
            <a:solidFill>
              <a:srgbClr val="8FD3CC"/>
            </a:solidFill>
            <a:prstDash val="solid"/>
          </a:ln>
          <a:effectLst>
            <a:outerShdw sx="100000" sy="100000" kx="0" ky="0" algn="bl" rotWithShape="0" blurRad="76200" dist="25400" dir="5400000">
              <a:srgbClr val="000000">
                <a:alpha val="18000"/>
              </a:srgbClr>
            </a:outerShdw>
          </a:effectLst>
        </p:spPr>
      </p:sp>
      <p:sp>
        <p:nvSpPr>
          <p:cNvPr id="24" name="flow label JSON"/>
          <p:cNvSpPr txBox="1"/>
          <p:nvPr/>
        </p:nvSpPr>
        <p:spPr>
          <a:xfrm>
            <a:off x="5215255" y="3408611"/>
            <a:ext cx="786765" cy="596831"/>
          </a:xfrm>
          <a:prstGeom prst="rect">
            <a:avLst/>
          </a:prstGeom>
          <a:noFill/>
          <a:ln/>
        </p:spPr>
        <p:txBody>
          <a:bodyPr wrap="square" lIns="0" tIns="0" rIns="0" bIns="0" rtlCol="0" anchor="ctr"/>
          <a:lstStyle/>
          <a:p>
            <a:pPr algn="ctr" indent="0" marL="0">
              <a:buNone/>
            </a:pPr>
            <a:r>
              <a:rPr lang="en-US" sz="1100" b="1" dirty="0">
                <a:solidFill>
                  <a:srgbClr val="072E47"/>
                </a:solidFill>
              </a:rPr>
              <a:t>JSON</a:t>
            </a:r>
            <a:endParaRPr lang="en-US" sz="1100" dirty="0"/>
          </a:p>
        </p:txBody>
      </p:sp>
      <p:sp>
        <p:nvSpPr>
          <p:cNvPr id="25" name="arrow 1"/>
          <p:cNvSpPr/>
          <p:nvPr/>
        </p:nvSpPr>
        <p:spPr>
          <a:xfrm>
            <a:off x="6082030" y="3604713"/>
            <a:ext cx="213360" cy="204628"/>
          </a:xfrm>
          <a:prstGeom prst="rightArrow">
            <a:avLst/>
          </a:prstGeom>
          <a:solidFill>
            <a:srgbClr val="0F8D91"/>
          </a:solidFill>
          <a:ln w="12700">
            <a:solidFill>
              <a:srgbClr val="0F8D91"/>
            </a:solidFill>
            <a:prstDash val="solid"/>
          </a:ln>
        </p:spPr>
      </p:sp>
      <p:sp>
        <p:nvSpPr>
          <p:cNvPr id="26" name="flow validate"/>
          <p:cNvSpPr/>
          <p:nvPr/>
        </p:nvSpPr>
        <p:spPr>
          <a:xfrm>
            <a:off x="6330950" y="3408611"/>
            <a:ext cx="875665" cy="596831"/>
          </a:xfrm>
          <a:prstGeom prst="roundRect">
            <a:avLst>
              <a:gd name="adj" fmla="val 15321"/>
            </a:avLst>
          </a:prstGeom>
          <a:solidFill>
            <a:srgbClr val="F99508"/>
          </a:solidFill>
          <a:ln w="12700">
            <a:solidFill>
              <a:srgbClr val="F99508"/>
            </a:solidFill>
            <a:prstDash val="solid"/>
          </a:ln>
          <a:effectLst>
            <a:outerShdw sx="100000" sy="100000" kx="0" ky="0" algn="bl" rotWithShape="0" blurRad="76200" dist="25400" dir="5400000">
              <a:srgbClr val="000000">
                <a:alpha val="18000"/>
              </a:srgbClr>
            </a:outerShdw>
          </a:effectLst>
        </p:spPr>
      </p:sp>
      <p:sp>
        <p:nvSpPr>
          <p:cNvPr id="27" name="flow label validate"/>
          <p:cNvSpPr txBox="1"/>
          <p:nvPr/>
        </p:nvSpPr>
        <p:spPr>
          <a:xfrm>
            <a:off x="6375400" y="3408611"/>
            <a:ext cx="786765" cy="596831"/>
          </a:xfrm>
          <a:prstGeom prst="rect">
            <a:avLst/>
          </a:prstGeom>
          <a:noFill/>
          <a:ln/>
        </p:spPr>
        <p:txBody>
          <a:bodyPr wrap="square" lIns="0" tIns="0" rIns="0" bIns="0" rtlCol="0" anchor="ctr"/>
          <a:lstStyle/>
          <a:p>
            <a:pPr algn="ctr" indent="0" marL="0">
              <a:buNone/>
            </a:pPr>
            <a:r>
              <a:rPr lang="en-US" sz="1100" b="1" dirty="0">
                <a:solidFill>
                  <a:srgbClr val="072E47"/>
                </a:solidFill>
              </a:rPr>
              <a:t>validate</a:t>
            </a:r>
            <a:endParaRPr lang="en-US" sz="1100" dirty="0"/>
          </a:p>
        </p:txBody>
      </p:sp>
      <p:sp>
        <p:nvSpPr>
          <p:cNvPr id="28" name="arrow 2"/>
          <p:cNvSpPr/>
          <p:nvPr/>
        </p:nvSpPr>
        <p:spPr>
          <a:xfrm>
            <a:off x="7242175" y="3604713"/>
            <a:ext cx="213360" cy="204628"/>
          </a:xfrm>
          <a:prstGeom prst="rightArrow">
            <a:avLst/>
          </a:prstGeom>
          <a:solidFill>
            <a:srgbClr val="0F8D91"/>
          </a:solidFill>
          <a:ln w="12700">
            <a:solidFill>
              <a:srgbClr val="0F8D91"/>
            </a:solidFill>
            <a:prstDash val="solid"/>
          </a:ln>
        </p:spPr>
      </p:sp>
      <p:sp>
        <p:nvSpPr>
          <p:cNvPr id="29" name="flow database"/>
          <p:cNvSpPr/>
          <p:nvPr/>
        </p:nvSpPr>
        <p:spPr>
          <a:xfrm>
            <a:off x="7491095" y="3408611"/>
            <a:ext cx="875665" cy="596831"/>
          </a:xfrm>
          <a:prstGeom prst="roundRect">
            <a:avLst>
              <a:gd name="adj" fmla="val 15321"/>
            </a:avLst>
          </a:prstGeom>
          <a:solidFill>
            <a:srgbClr val="1B6F86"/>
          </a:solidFill>
          <a:ln w="12700">
            <a:solidFill>
              <a:srgbClr val="1B6F86"/>
            </a:solidFill>
            <a:prstDash val="solid"/>
          </a:ln>
          <a:effectLst>
            <a:outerShdw sx="100000" sy="100000" kx="0" ky="0" algn="bl" rotWithShape="0" blurRad="76200" dist="25400" dir="5400000">
              <a:srgbClr val="000000">
                <a:alpha val="18000"/>
              </a:srgbClr>
            </a:outerShdw>
          </a:effectLst>
        </p:spPr>
      </p:sp>
      <p:sp>
        <p:nvSpPr>
          <p:cNvPr id="30" name="flow label database"/>
          <p:cNvSpPr txBox="1"/>
          <p:nvPr/>
        </p:nvSpPr>
        <p:spPr>
          <a:xfrm>
            <a:off x="7535545" y="3408611"/>
            <a:ext cx="786765" cy="596831"/>
          </a:xfrm>
          <a:prstGeom prst="rect">
            <a:avLst/>
          </a:prstGeom>
          <a:noFill/>
          <a:ln/>
        </p:spPr>
        <p:txBody>
          <a:bodyPr wrap="square" lIns="0" tIns="0" rIns="0" bIns="0" rtlCol="0" anchor="ctr"/>
          <a:lstStyle/>
          <a:p>
            <a:pPr algn="ctr" indent="0" marL="0">
              <a:buNone/>
            </a:pPr>
            <a:r>
              <a:rPr lang="en-US" sz="1100" b="1" dirty="0">
                <a:solidFill>
                  <a:srgbClr val="072E47"/>
                </a:solidFill>
              </a:rPr>
              <a:t>database</a:t>
            </a:r>
            <a:endParaRPr lang="en-US" sz="1100" dirty="0"/>
          </a:p>
        </p:txBody>
      </p:sp>
      <p:sp>
        <p:nvSpPr>
          <p:cNvPr id="31" name="tip"/>
          <p:cNvSpPr/>
          <p:nvPr/>
        </p:nvSpPr>
        <p:spPr>
          <a:xfrm>
            <a:off x="365760" y="4133335"/>
            <a:ext cx="8001000" cy="358099"/>
          </a:xfrm>
          <a:prstGeom prst="roundRect">
            <a:avLst>
              <a:gd name="adj" fmla="val 25535"/>
            </a:avLst>
          </a:prstGeom>
          <a:solidFill>
            <a:srgbClr val="FFFFFF"/>
          </a:solidFill>
          <a:ln w="12700">
            <a:solidFill>
              <a:srgbClr val="FFFFFF"/>
            </a:solidFill>
            <a:prstDash val="solid"/>
          </a:ln>
        </p:spPr>
      </p:sp>
      <p:sp>
        <p:nvSpPr>
          <p:cNvPr id="32" name="tip dot"/>
          <p:cNvSpPr/>
          <p:nvPr/>
        </p:nvSpPr>
        <p:spPr>
          <a:xfrm>
            <a:off x="499110" y="4184492"/>
            <a:ext cx="266700" cy="255785"/>
          </a:xfrm>
          <a:prstGeom prst="ellipse">
            <a:avLst/>
          </a:prstGeom>
          <a:solidFill>
            <a:srgbClr val="04B1A4"/>
          </a:solidFill>
          <a:ln w="12700">
            <a:solidFill>
              <a:srgbClr val="04B1A4"/>
            </a:solidFill>
            <a:prstDash val="solid"/>
          </a:ln>
        </p:spPr>
      </p:sp>
      <p:sp>
        <p:nvSpPr>
          <p:cNvPr id="33" name="tip mark"/>
          <p:cNvSpPr txBox="1"/>
          <p:nvPr/>
        </p:nvSpPr>
        <p:spPr>
          <a:xfrm>
            <a:off x="499110" y="4184492"/>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34" name="tip text"/>
          <p:cNvSpPr txBox="1"/>
          <p:nvPr/>
        </p:nvSpPr>
        <p:spPr>
          <a:xfrm>
            <a:off x="899160" y="4133335"/>
            <a:ext cx="7334250" cy="358099"/>
          </a:xfrm>
          <a:prstGeom prst="rect">
            <a:avLst/>
          </a:prstGeom>
          <a:noFill/>
          <a:ln/>
        </p:spPr>
        <p:txBody>
          <a:bodyPr wrap="square" lIns="0" tIns="0" rIns="0" bIns="0" rtlCol="0" anchor="ctr"/>
          <a:lstStyle/>
          <a:p>
            <a:pPr indent="0" marL="0">
              <a:buNone/>
            </a:pPr>
            <a:r>
              <a:rPr lang="en-US" sz="1200" dirty="0">
                <a:solidFill>
                  <a:srgbClr val="072E47"/>
                </a:solidFill>
              </a:rPr>
              <a:t>JSON = JavaScript Object Notation. It is dictionaries and lists written as text. json.loads() turns it back into Python.</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14 · What the creator asks for</a:t>
            </a:r>
            <a:endParaRPr lang="en-US" sz="2400" dirty="0"/>
          </a:p>
        </p:txBody>
      </p:sp>
      <p:sp>
        <p:nvSpPr>
          <p:cNvPr id="4" name="code card"/>
          <p:cNvSpPr/>
          <p:nvPr/>
        </p:nvSpPr>
        <p:spPr>
          <a:xfrm>
            <a:off x="365760" y="1234440"/>
            <a:ext cx="5511800" cy="2728372"/>
          </a:xfrm>
          <a:prstGeom prst="roundRect">
            <a:avLst>
              <a:gd name="adj" fmla="val 4022"/>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67132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reviewers/forms.py</a:t>
            </a:r>
            <a:endParaRPr lang="en-US" sz="1000" dirty="0"/>
          </a:p>
        </p:txBody>
      </p:sp>
      <p:sp>
        <p:nvSpPr>
          <p:cNvPr id="7" name="code"/>
          <p:cNvSpPr txBox="1"/>
          <p:nvPr/>
        </p:nvSpPr>
        <p:spPr>
          <a:xfrm>
            <a:off x="588010" y="1660748"/>
            <a:ext cx="5067300" cy="2174171"/>
          </a:xfrm>
          <a:prstGeom prst="rect">
            <a:avLst/>
          </a:prstGeom>
          <a:noFill/>
          <a:ln/>
        </p:spPr>
        <p:txBody>
          <a:bodyPr wrap="square" lIns="0" tIns="0" rIns="0" bIns="0" rtlCol="0" anchor="t"/>
          <a:lstStyle/>
          <a:p>
            <a:pPr indent="0" marL="0">
              <a:buNone/>
            </a:pPr>
            <a:r>
              <a:rPr lang="en-US" sz="1200" dirty="0">
                <a:solidFill>
                  <a:srgbClr val="F92672"/>
                </a:solidFill>
                <a:latin typeface="Courier New" pitchFamily="34" charset="0"/>
                <a:ea typeface="Courier New" pitchFamily="34" charset="-122"/>
                <a:cs typeface="Courier New" pitchFamily="34" charset="-120"/>
              </a:rPr>
              <a:t>class</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A6E22E"/>
                </a:solidFill>
                <a:latin typeface="Courier New" pitchFamily="34" charset="0"/>
                <a:ea typeface="Courier New" pitchFamily="34" charset="-122"/>
                <a:cs typeface="Courier New" pitchFamily="34" charset="-120"/>
              </a:rPr>
              <a:t>GenerateForm</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forms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Form</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topic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forms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CharField</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max_length</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AE81FF"/>
                </a:solidFill>
                <a:latin typeface="Courier New" pitchFamily="34" charset="0"/>
                <a:ea typeface="Courier New" pitchFamily="34" charset="-122"/>
                <a:cs typeface="Courier New" pitchFamily="34" charset="-120"/>
              </a:rPr>
              <a:t>120</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count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forms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IntegerField</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min_value</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AE81FF"/>
                </a:solidFill>
                <a:latin typeface="Courier New" pitchFamily="34" charset="0"/>
                <a:ea typeface="Courier New" pitchFamily="34" charset="-122"/>
                <a:cs typeface="Courier New" pitchFamily="34" charset="-120"/>
              </a:rPr>
              <a:t>1</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max_value</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AE81FF"/>
                </a:solidFill>
                <a:latin typeface="Courier New" pitchFamily="34" charset="0"/>
                <a:ea typeface="Courier New" pitchFamily="34" charset="-122"/>
                <a:cs typeface="Courier New" pitchFamily="34" charset="-120"/>
              </a:rPr>
              <a:t>20</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initial</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AE81FF"/>
                </a:solidFill>
                <a:latin typeface="Courier New" pitchFamily="34" charset="0"/>
                <a:ea typeface="Courier New" pitchFamily="34" charset="-122"/>
                <a:cs typeface="Courier New" pitchFamily="34" charset="-120"/>
              </a:rPr>
              <a:t>5</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mc_percent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forms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IntegerField</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min_value</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AE81FF"/>
                </a:solidFill>
                <a:latin typeface="Courier New" pitchFamily="34" charset="0"/>
                <a:ea typeface="Courier New" pitchFamily="34" charset="-122"/>
                <a:cs typeface="Courier New" pitchFamily="34" charset="-120"/>
              </a:rPr>
              <a:t>0</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max_value</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AE81FF"/>
                </a:solidFill>
                <a:latin typeface="Courier New" pitchFamily="34" charset="0"/>
                <a:ea typeface="Courier New" pitchFamily="34" charset="-122"/>
                <a:cs typeface="Courier New" pitchFamily="34" charset="-120"/>
              </a:rPr>
              <a:t>100</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initial</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AE81FF"/>
                </a:solidFill>
                <a:latin typeface="Courier New" pitchFamily="34" charset="0"/>
                <a:ea typeface="Courier New" pitchFamily="34" charset="-122"/>
                <a:cs typeface="Courier New" pitchFamily="34" charset="-120"/>
              </a:rPr>
              <a:t>60</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difficulty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forms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ChoiceField</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choices</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"beginner"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"Beginner"</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"intermediate"</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"Intermediate"</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"advanced"</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"Advanced"</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p:txBody>
      </p:sp>
      <p:sp>
        <p:nvSpPr>
          <p:cNvPr id="8" name="code card"/>
          <p:cNvSpPr/>
          <p:nvPr/>
        </p:nvSpPr>
        <p:spPr>
          <a:xfrm>
            <a:off x="6055360" y="1234440"/>
            <a:ext cx="2311400" cy="1619971"/>
          </a:xfrm>
          <a:prstGeom prst="roundRect">
            <a:avLst>
              <a:gd name="adj" fmla="val 6773"/>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9" name="file label"/>
          <p:cNvSpPr/>
          <p:nvPr/>
        </p:nvSpPr>
        <p:spPr>
          <a:xfrm>
            <a:off x="6233160" y="1336754"/>
            <a:ext cx="840105" cy="238733"/>
          </a:xfrm>
          <a:prstGeom prst="roundRect">
            <a:avLst>
              <a:gd name="adj" fmla="val 30642"/>
            </a:avLst>
          </a:prstGeom>
          <a:solidFill>
            <a:srgbClr val="F99508"/>
          </a:solidFill>
          <a:ln w="12700">
            <a:solidFill>
              <a:srgbClr val="F99508"/>
            </a:solidFill>
            <a:prstDash val="solid"/>
          </a:ln>
        </p:spPr>
      </p:sp>
      <p:sp>
        <p:nvSpPr>
          <p:cNvPr id="10" name="file label text"/>
          <p:cNvSpPr txBox="1"/>
          <p:nvPr/>
        </p:nvSpPr>
        <p:spPr>
          <a:xfrm>
            <a:off x="6233160" y="1336754"/>
            <a:ext cx="84010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example</a:t>
            </a:r>
            <a:endParaRPr lang="en-US" sz="1000" dirty="0"/>
          </a:p>
        </p:txBody>
      </p:sp>
      <p:sp>
        <p:nvSpPr>
          <p:cNvPr id="11" name="code"/>
          <p:cNvSpPr txBox="1"/>
          <p:nvPr/>
        </p:nvSpPr>
        <p:spPr>
          <a:xfrm>
            <a:off x="6277610" y="1660748"/>
            <a:ext cx="1866900" cy="1065770"/>
          </a:xfrm>
          <a:prstGeom prst="rect">
            <a:avLst/>
          </a:prstGeom>
          <a:noFill/>
          <a:ln/>
        </p:spPr>
        <p:txBody>
          <a:bodyPr wrap="square" lIns="0" tIns="0" rIns="0" bIns="0" rtlCol="0" anchor="t"/>
          <a:lstStyle/>
          <a:p>
            <a:pPr indent="0" marL="0">
              <a:buNone/>
            </a:pPr>
            <a:r>
              <a:rPr lang="en-US" sz="1150" dirty="0">
                <a:solidFill>
                  <a:srgbClr val="F8F8F2"/>
                </a:solidFill>
                <a:latin typeface="Courier New" pitchFamily="34" charset="0"/>
                <a:ea typeface="Courier New" pitchFamily="34" charset="-122"/>
                <a:cs typeface="Courier New" pitchFamily="34" charset="-120"/>
              </a:rPr>
              <a:t>Topic: Django</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Questions: 10</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Multi-choice: 60%</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Direct answer: 40%</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Level: Beginner</a:t>
            </a:r>
            <a:endParaRPr lang="en-US" sz="1150" dirty="0"/>
          </a:p>
        </p:txBody>
      </p:sp>
      <p:sp>
        <p:nvSpPr>
          <p:cNvPr id="12" name="card Guardrail #1"/>
          <p:cNvSpPr/>
          <p:nvPr/>
        </p:nvSpPr>
        <p:spPr>
          <a:xfrm>
            <a:off x="6055360" y="2982303"/>
            <a:ext cx="2311400" cy="1278924"/>
          </a:xfrm>
          <a:prstGeom prst="roundRect">
            <a:avLst>
              <a:gd name="adj" fmla="val 8580"/>
            </a:avLst>
          </a:prstGeom>
          <a:solidFill>
            <a:srgbClr val="FFFFFF"/>
          </a:solidFill>
          <a:ln w="12700">
            <a:solidFill>
              <a:srgbClr val="FFFFFF"/>
            </a:solidFill>
            <a:prstDash val="solid"/>
          </a:ln>
        </p:spPr>
      </p:sp>
      <p:sp>
        <p:nvSpPr>
          <p:cNvPr id="13" name="card title Guardrail #1"/>
          <p:cNvSpPr txBox="1"/>
          <p:nvPr/>
        </p:nvSpPr>
        <p:spPr>
          <a:xfrm>
            <a:off x="6233160" y="3110196"/>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Guardrail #1</a:t>
            </a:r>
            <a:endParaRPr lang="en-US" sz="1200" dirty="0"/>
          </a:p>
        </p:txBody>
      </p:sp>
      <p:sp>
        <p:nvSpPr>
          <p:cNvPr id="14" name="card body Guardrail #1"/>
          <p:cNvSpPr txBox="1"/>
          <p:nvPr/>
        </p:nvSpPr>
        <p:spPr>
          <a:xfrm>
            <a:off x="6233160" y="3493873"/>
            <a:ext cx="1955800" cy="639462"/>
          </a:xfrm>
          <a:prstGeom prst="rect">
            <a:avLst/>
          </a:prstGeom>
          <a:noFill/>
          <a:ln/>
        </p:spPr>
        <p:txBody>
          <a:bodyPr wrap="square" lIns="0" tIns="0" rIns="0" bIns="0" rtlCol="0" anchor="t"/>
          <a:lstStyle/>
          <a:p>
            <a:pPr indent="0" marL="0">
              <a:spcAft>
                <a:spcPts val="400"/>
              </a:spcAft>
              <a:buNone/>
            </a:pPr>
            <a:r>
              <a:rPr lang="en-US" sz="1300" dirty="0">
                <a:solidFill>
                  <a:srgbClr val="0F8D91"/>
                </a:solidFill>
              </a:rPr>
              <a:t>Ranges are enforced BEFORE we call the AI. Cheap, instant, no surprises.</a:t>
            </a:r>
            <a:endParaRPr lang="en-US" sz="13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15 · Writing the instructions (the prompt)</a:t>
            </a:r>
            <a:endParaRPr lang="en-US" sz="2400" dirty="0"/>
          </a:p>
        </p:txBody>
      </p:sp>
      <p:sp>
        <p:nvSpPr>
          <p:cNvPr id="4" name="code card"/>
          <p:cNvSpPr/>
          <p:nvPr/>
        </p:nvSpPr>
        <p:spPr>
          <a:xfrm>
            <a:off x="365760" y="1234440"/>
            <a:ext cx="55118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44462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44462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reviewers/ai.py</a:t>
            </a:r>
            <a:endParaRPr lang="en-US" sz="1000" dirty="0"/>
          </a:p>
        </p:txBody>
      </p:sp>
      <p:sp>
        <p:nvSpPr>
          <p:cNvPr id="7" name="code"/>
          <p:cNvSpPr txBox="1"/>
          <p:nvPr/>
        </p:nvSpPr>
        <p:spPr>
          <a:xfrm>
            <a:off x="588010" y="1660748"/>
            <a:ext cx="5067300" cy="2600479"/>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build_prompt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topic</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count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mc_percent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difficulty</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mc_count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round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count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mc_percent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E81FF"/>
                </a:solidFill>
                <a:latin typeface="Courier New" pitchFamily="34" charset="0"/>
                <a:ea typeface="Courier New" pitchFamily="34" charset="-122"/>
                <a:cs typeface="Courier New" pitchFamily="34" charset="-120"/>
              </a:rPr>
              <a:t>100</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direct_count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count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mc_count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system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"You write quiz questions for students.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"Reply ONLY with JSON matching the schema.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"MC: 4 choices, exactly one correct=true.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"Direct: no choices, a short expected answer."</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user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f"Topic: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topic</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\nDifficulty: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difficulty</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\n"</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f"Create exactly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count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 questions: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mc_count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 multiple_choice and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f"</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direct_count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 direct."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"role"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"system"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"content"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system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"role"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"user"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"content"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user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8" name="badge 1"/>
          <p:cNvSpPr/>
          <p:nvPr/>
        </p:nvSpPr>
        <p:spPr>
          <a:xfrm>
            <a:off x="6055360" y="1277071"/>
            <a:ext cx="320040" cy="306942"/>
          </a:xfrm>
          <a:prstGeom prst="ellipse">
            <a:avLst/>
          </a:prstGeom>
          <a:solidFill>
            <a:srgbClr val="04B1A4"/>
          </a:solidFill>
          <a:ln w="12700">
            <a:solidFill>
              <a:srgbClr val="04B1A4"/>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852616"/>
          </a:xfrm>
          <a:prstGeom prst="rect">
            <a:avLst/>
          </a:prstGeom>
          <a:noFill/>
          <a:ln/>
        </p:spPr>
        <p:txBody>
          <a:bodyPr wrap="square" lIns="0" tIns="0" rIns="0" bIns="0" rtlCol="0" anchor="t"/>
          <a:lstStyle/>
          <a:p>
            <a:pPr indent="0" marL="0">
              <a:buNone/>
            </a:pPr>
            <a:r>
              <a:rPr lang="en-US" sz="1200" b="1" dirty="0">
                <a:solidFill>
                  <a:srgbClr val="000000"/>
                </a:solidFill>
              </a:rPr>
              <a:t>system</a:t>
            </a:r>
            <a:endParaRPr lang="en-US" sz="1200" dirty="0"/>
          </a:p>
          <a:p>
            <a:pPr indent="0" marL="0">
              <a:buNone/>
            </a:pPr>
            <a:r>
              <a:rPr lang="en-US" sz="1200" dirty="0">
                <a:solidFill>
                  <a:srgbClr val="0F8D91"/>
                </a:solidFill>
              </a:rPr>
              <a:t>The standing rules: who the model is and how to answer.</a:t>
            </a:r>
            <a:endParaRPr lang="en-US" sz="1200" dirty="0"/>
          </a:p>
        </p:txBody>
      </p:sp>
      <p:sp>
        <p:nvSpPr>
          <p:cNvPr id="11" name="badge 2"/>
          <p:cNvSpPr/>
          <p:nvPr/>
        </p:nvSpPr>
        <p:spPr>
          <a:xfrm>
            <a:off x="6055360" y="2214949"/>
            <a:ext cx="320040" cy="306942"/>
          </a:xfrm>
          <a:prstGeom prst="ellipse">
            <a:avLst/>
          </a:prstGeom>
          <a:solidFill>
            <a:srgbClr val="04B1A4"/>
          </a:solidFill>
          <a:ln w="12700">
            <a:solidFill>
              <a:srgbClr val="04B1A4"/>
            </a:solidFill>
            <a:prstDash val="solid"/>
          </a:ln>
        </p:spPr>
      </p:sp>
      <p:sp>
        <p:nvSpPr>
          <p:cNvPr id="12" name="badge 2 text"/>
          <p:cNvSpPr txBox="1"/>
          <p:nvPr/>
        </p:nvSpPr>
        <p:spPr>
          <a:xfrm>
            <a:off x="6055360" y="2214949"/>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172318"/>
            <a:ext cx="1884680" cy="852616"/>
          </a:xfrm>
          <a:prstGeom prst="rect">
            <a:avLst/>
          </a:prstGeom>
          <a:noFill/>
          <a:ln/>
        </p:spPr>
        <p:txBody>
          <a:bodyPr wrap="square" lIns="0" tIns="0" rIns="0" bIns="0" rtlCol="0" anchor="t"/>
          <a:lstStyle/>
          <a:p>
            <a:pPr indent="0" marL="0">
              <a:buNone/>
            </a:pPr>
            <a:r>
              <a:rPr lang="en-US" sz="1200" b="1" dirty="0">
                <a:solidFill>
                  <a:srgbClr val="000000"/>
                </a:solidFill>
              </a:rPr>
              <a:t>user</a:t>
            </a:r>
            <a:endParaRPr lang="en-US" sz="1200" dirty="0"/>
          </a:p>
          <a:p>
            <a:pPr indent="0" marL="0">
              <a:buNone/>
            </a:pPr>
            <a:r>
              <a:rPr lang="en-US" sz="1200" dirty="0">
                <a:solidFill>
                  <a:srgbClr val="0F8D91"/>
                </a:solidFill>
              </a:rPr>
              <a:t>This particular request, built with f-strings.</a:t>
            </a:r>
            <a:endParaRPr lang="en-US" sz="1200" dirty="0"/>
          </a:p>
        </p:txBody>
      </p:sp>
      <p:sp>
        <p:nvSpPr>
          <p:cNvPr id="14" name="badge 3"/>
          <p:cNvSpPr/>
          <p:nvPr/>
        </p:nvSpPr>
        <p:spPr>
          <a:xfrm>
            <a:off x="6055360" y="3152826"/>
            <a:ext cx="320040" cy="306942"/>
          </a:xfrm>
          <a:prstGeom prst="ellipse">
            <a:avLst/>
          </a:prstGeom>
          <a:solidFill>
            <a:srgbClr val="04B1A4"/>
          </a:solidFill>
          <a:ln w="12700">
            <a:solidFill>
              <a:srgbClr val="04B1A4"/>
            </a:solidFill>
            <a:prstDash val="solid"/>
          </a:ln>
        </p:spPr>
      </p:sp>
      <p:sp>
        <p:nvSpPr>
          <p:cNvPr id="15" name="badge 3 text"/>
          <p:cNvSpPr txBox="1"/>
          <p:nvPr/>
        </p:nvSpPr>
        <p:spPr>
          <a:xfrm>
            <a:off x="6055360" y="3152826"/>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3110196"/>
            <a:ext cx="1884680" cy="1023139"/>
          </a:xfrm>
          <a:prstGeom prst="rect">
            <a:avLst/>
          </a:prstGeom>
          <a:noFill/>
          <a:ln/>
        </p:spPr>
        <p:txBody>
          <a:bodyPr wrap="square" lIns="0" tIns="0" rIns="0" bIns="0" rtlCol="0" anchor="t"/>
          <a:lstStyle/>
          <a:p>
            <a:pPr indent="0" marL="0">
              <a:buNone/>
            </a:pPr>
            <a:r>
              <a:rPr lang="en-US" sz="1200" b="1" dirty="0">
                <a:solidFill>
                  <a:srgbClr val="000000"/>
                </a:solidFill>
              </a:rPr>
              <a:t>Be exact</a:t>
            </a:r>
            <a:endParaRPr lang="en-US" sz="1200" dirty="0"/>
          </a:p>
          <a:p>
            <a:pPr indent="0" marL="0">
              <a:buNone/>
            </a:pPr>
            <a:r>
              <a:rPr lang="en-US" sz="1200" dirty="0">
                <a:solidFill>
                  <a:srgbClr val="0F8D91"/>
                </a:solidFill>
              </a:rPr>
              <a:t>We do the math: '6 multiple_choice and 4 direct', not '60%'.</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16 · Calling OpenAI and forcing JSON</a:t>
            </a:r>
            <a:endParaRPr lang="en-US" sz="2400" dirty="0"/>
          </a:p>
        </p:txBody>
      </p:sp>
      <p:sp>
        <p:nvSpPr>
          <p:cNvPr id="4" name="code card"/>
          <p:cNvSpPr/>
          <p:nvPr/>
        </p:nvSpPr>
        <p:spPr>
          <a:xfrm>
            <a:off x="365760" y="1234440"/>
            <a:ext cx="55118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44462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44462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reviewers/ai.py</a:t>
            </a:r>
            <a:endParaRPr lang="en-US" sz="1000" dirty="0"/>
          </a:p>
        </p:txBody>
      </p:sp>
      <p:sp>
        <p:nvSpPr>
          <p:cNvPr id="7" name="code"/>
          <p:cNvSpPr txBox="1"/>
          <p:nvPr/>
        </p:nvSpPr>
        <p:spPr>
          <a:xfrm>
            <a:off x="588010" y="1660748"/>
            <a:ext cx="5067300" cy="2600479"/>
          </a:xfrm>
          <a:prstGeom prst="rect">
            <a:avLst/>
          </a:prstGeom>
          <a:noFill/>
          <a:ln/>
        </p:spPr>
        <p:txBody>
          <a:bodyPr wrap="square" lIns="0" tIns="0" rIns="0" bIns="0" rtlCol="0" anchor="t"/>
          <a:lstStyle/>
          <a:p>
            <a:pPr indent="0" marL="0">
              <a:buNone/>
            </a:pPr>
            <a:r>
              <a:rPr lang="en-US" sz="1100" dirty="0">
                <a:solidFill>
                  <a:srgbClr val="F8F8F2"/>
                </a:solidFill>
                <a:latin typeface="Courier New" pitchFamily="34" charset="0"/>
                <a:ea typeface="Courier New" pitchFamily="34" charset="-122"/>
                <a:cs typeface="Courier New" pitchFamily="34" charset="-120"/>
              </a:rPr>
              <a:t>SCHEMA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"name"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"quiz_questions"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"strict"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E81FF"/>
                </a:solidFill>
                <a:latin typeface="Courier New" pitchFamily="34" charset="0"/>
                <a:ea typeface="Courier New" pitchFamily="34" charset="-122"/>
                <a:cs typeface="Courier New" pitchFamily="34" charset="-120"/>
              </a:rPr>
              <a:t>True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"schema"</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9A9B8C"/>
                </a:solidFill>
                <a:latin typeface="Courier New" pitchFamily="34" charset="0"/>
                <a:ea typeface="Courier New" pitchFamily="34" charset="-122"/>
                <a:cs typeface="Courier New" pitchFamily="34" charset="-120"/>
              </a:rPr>
              <a:t># questions: [{type, ...}]</a:t>
            </a:r>
            <a:endParaRPr lang="en-US" sz="1100" dirty="0"/>
          </a:p>
          <a:p>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call_openai</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messages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client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OpenAI</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api_key</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settings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OPENAI_API_KEY</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try</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completion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client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completions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create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model</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settings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OPENAI_MODEL</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messages</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messages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response_format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"type"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"json_schema"</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"json_schema"</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SCHEMA</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except</a:t>
            </a:r>
            <a:pPr indent="0" marL="0">
              <a:buNone/>
            </a:pPr>
            <a:r>
              <a:rPr lang="en-US" sz="1100" dirty="0">
                <a:solidFill>
                  <a:srgbClr val="F8F8F2"/>
                </a:solidFill>
                <a:latin typeface="Courier New" pitchFamily="34" charset="0"/>
                <a:ea typeface="Courier New" pitchFamily="34" charset="-122"/>
                <a:cs typeface="Courier New" pitchFamily="34" charset="-120"/>
              </a:rPr>
              <a:t> OpenAIError </a:t>
            </a:r>
            <a:pPr indent="0" marL="0">
              <a:buNone/>
            </a:pPr>
            <a:r>
              <a:rPr lang="en-US" sz="1100" dirty="0">
                <a:solidFill>
                  <a:srgbClr val="F92672"/>
                </a:solidFill>
                <a:latin typeface="Courier New" pitchFamily="34" charset="0"/>
                <a:ea typeface="Courier New" pitchFamily="34" charset="-122"/>
                <a:cs typeface="Courier New" pitchFamily="34" charset="-120"/>
              </a:rPr>
              <a:t>as</a:t>
            </a:r>
            <a:pPr indent="0" marL="0">
              <a:buNone/>
            </a:pPr>
            <a:r>
              <a:rPr lang="en-US" sz="1100" dirty="0">
                <a:solidFill>
                  <a:srgbClr val="F8F8F2"/>
                </a:solidFill>
                <a:latin typeface="Courier New" pitchFamily="34" charset="0"/>
                <a:ea typeface="Courier New" pitchFamily="34" charset="-122"/>
                <a:cs typeface="Courier New" pitchFamily="34" charset="-120"/>
              </a:rPr>
              <a:t> exc</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raise</a:t>
            </a:r>
            <a:pPr indent="0" marL="0">
              <a:buNone/>
            </a:pPr>
            <a:r>
              <a:rPr lang="en-US" sz="1100" dirty="0">
                <a:solidFill>
                  <a:srgbClr val="F8F8F2"/>
                </a:solidFill>
                <a:latin typeface="Courier New" pitchFamily="34" charset="0"/>
                <a:ea typeface="Courier New" pitchFamily="34" charset="-122"/>
                <a:cs typeface="Courier New" pitchFamily="34" charset="-120"/>
              </a:rPr>
              <a:t> AIError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f"OpenAI request failed: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exc</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content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completion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choices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0</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message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content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json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loads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content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8" name="badge 1"/>
          <p:cNvSpPr/>
          <p:nvPr/>
        </p:nvSpPr>
        <p:spPr>
          <a:xfrm>
            <a:off x="6055360" y="1277071"/>
            <a:ext cx="320040" cy="306942"/>
          </a:xfrm>
          <a:prstGeom prst="ellipse">
            <a:avLst/>
          </a:prstGeom>
          <a:solidFill>
            <a:srgbClr val="04B1A4"/>
          </a:solidFill>
          <a:ln w="12700">
            <a:solidFill>
              <a:srgbClr val="04B1A4"/>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852616"/>
          </a:xfrm>
          <a:prstGeom prst="rect">
            <a:avLst/>
          </a:prstGeom>
          <a:noFill/>
          <a:ln/>
        </p:spPr>
        <p:txBody>
          <a:bodyPr wrap="square" lIns="0" tIns="0" rIns="0" bIns="0" rtlCol="0" anchor="t"/>
          <a:lstStyle/>
          <a:p>
            <a:pPr indent="0" marL="0">
              <a:buNone/>
            </a:pPr>
            <a:r>
              <a:rPr lang="en-US" sz="1200" b="1" dirty="0">
                <a:solidFill>
                  <a:srgbClr val="000000"/>
                </a:solidFill>
              </a:rPr>
              <a:t>response_format</a:t>
            </a:r>
            <a:endParaRPr lang="en-US" sz="1200" dirty="0"/>
          </a:p>
          <a:p>
            <a:pPr indent="0" marL="0">
              <a:buNone/>
            </a:pPr>
            <a:r>
              <a:rPr lang="en-US" sz="1200" dirty="0">
                <a:solidFill>
                  <a:srgbClr val="0F8D91"/>
                </a:solidFill>
              </a:rPr>
              <a:t>'Answer in exactly this JSON shape.'</a:t>
            </a:r>
            <a:endParaRPr lang="en-US" sz="1200" dirty="0"/>
          </a:p>
        </p:txBody>
      </p:sp>
      <p:sp>
        <p:nvSpPr>
          <p:cNvPr id="11" name="badge 2"/>
          <p:cNvSpPr/>
          <p:nvPr/>
        </p:nvSpPr>
        <p:spPr>
          <a:xfrm>
            <a:off x="6055360" y="2214949"/>
            <a:ext cx="320040" cy="306942"/>
          </a:xfrm>
          <a:prstGeom prst="ellipse">
            <a:avLst/>
          </a:prstGeom>
          <a:solidFill>
            <a:srgbClr val="D9534F"/>
          </a:solidFill>
          <a:ln w="12700">
            <a:solidFill>
              <a:srgbClr val="D9534F"/>
            </a:solidFill>
            <a:prstDash val="solid"/>
          </a:ln>
        </p:spPr>
      </p:sp>
      <p:sp>
        <p:nvSpPr>
          <p:cNvPr id="12" name="badge 2 text"/>
          <p:cNvSpPr txBox="1"/>
          <p:nvPr/>
        </p:nvSpPr>
        <p:spPr>
          <a:xfrm>
            <a:off x="6055360" y="2214949"/>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172318"/>
            <a:ext cx="1884680" cy="852616"/>
          </a:xfrm>
          <a:prstGeom prst="rect">
            <a:avLst/>
          </a:prstGeom>
          <a:noFill/>
          <a:ln/>
        </p:spPr>
        <p:txBody>
          <a:bodyPr wrap="square" lIns="0" tIns="0" rIns="0" bIns="0" rtlCol="0" anchor="t"/>
          <a:lstStyle/>
          <a:p>
            <a:pPr indent="0" marL="0">
              <a:buNone/>
            </a:pPr>
            <a:r>
              <a:rPr lang="en-US" sz="1200" b="1" dirty="0">
                <a:solidFill>
                  <a:srgbClr val="000000"/>
                </a:solidFill>
              </a:rPr>
              <a:t>try / except</a:t>
            </a:r>
            <a:endParaRPr lang="en-US" sz="1200" dirty="0"/>
          </a:p>
          <a:p>
            <a:pPr indent="0" marL="0">
              <a:buNone/>
            </a:pPr>
            <a:r>
              <a:rPr lang="en-US" sz="1200" dirty="0">
                <a:solidFill>
                  <a:srgbClr val="0F8D91"/>
                </a:solidFill>
              </a:rPr>
              <a:t>Networks fail. Catch it, explain it, don't crash.</a:t>
            </a:r>
            <a:endParaRPr lang="en-US" sz="1200" dirty="0"/>
          </a:p>
        </p:txBody>
      </p:sp>
      <p:sp>
        <p:nvSpPr>
          <p:cNvPr id="14" name="badge 3"/>
          <p:cNvSpPr/>
          <p:nvPr/>
        </p:nvSpPr>
        <p:spPr>
          <a:xfrm>
            <a:off x="6055360" y="3152826"/>
            <a:ext cx="320040" cy="306942"/>
          </a:xfrm>
          <a:prstGeom prst="ellipse">
            <a:avLst/>
          </a:prstGeom>
          <a:solidFill>
            <a:srgbClr val="F99508"/>
          </a:solidFill>
          <a:ln w="12700">
            <a:solidFill>
              <a:srgbClr val="F99508"/>
            </a:solidFill>
            <a:prstDash val="solid"/>
          </a:ln>
        </p:spPr>
      </p:sp>
      <p:sp>
        <p:nvSpPr>
          <p:cNvPr id="15" name="badge 3 text"/>
          <p:cNvSpPr txBox="1"/>
          <p:nvPr/>
        </p:nvSpPr>
        <p:spPr>
          <a:xfrm>
            <a:off x="6055360" y="3152826"/>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3110196"/>
            <a:ext cx="1884680" cy="1023139"/>
          </a:xfrm>
          <a:prstGeom prst="rect">
            <a:avLst/>
          </a:prstGeom>
          <a:noFill/>
          <a:ln/>
        </p:spPr>
        <p:txBody>
          <a:bodyPr wrap="square" lIns="0" tIns="0" rIns="0" bIns="0" rtlCol="0" anchor="t"/>
          <a:lstStyle/>
          <a:p>
            <a:pPr indent="0" marL="0">
              <a:buNone/>
            </a:pPr>
            <a:r>
              <a:rPr lang="en-US" sz="1200" b="1" dirty="0">
                <a:solidFill>
                  <a:srgbClr val="000000"/>
                </a:solidFill>
              </a:rPr>
              <a:t>json.loads</a:t>
            </a:r>
            <a:endParaRPr lang="en-US" sz="1200" dirty="0"/>
          </a:p>
          <a:p>
            <a:pPr indent="0" marL="0">
              <a:buNone/>
            </a:pPr>
            <a:r>
              <a:rPr lang="en-US" sz="1200" dirty="0">
                <a:solidFill>
                  <a:srgbClr val="0F8D91"/>
                </a:solidFill>
              </a:rPr>
              <a:t>Text becomes dictionaries and lists (05_json_and_apis.py).</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Keep the key secret</a:t>
            </a:r>
            <a:endParaRPr lang="en-US" sz="2400" dirty="0"/>
          </a:p>
        </p:txBody>
      </p:sp>
      <p:sp>
        <p:nvSpPr>
          <p:cNvPr id="4" name="code card"/>
          <p:cNvSpPr/>
          <p:nvPr/>
        </p:nvSpPr>
        <p:spPr>
          <a:xfrm>
            <a:off x="365760" y="1234440"/>
            <a:ext cx="4711700" cy="1108401"/>
          </a:xfrm>
          <a:prstGeom prst="roundRect">
            <a:avLst>
              <a:gd name="adj" fmla="val 990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204914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204914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.env  (never committed)</a:t>
            </a:r>
            <a:endParaRPr lang="en-US" sz="1000" dirty="0"/>
          </a:p>
        </p:txBody>
      </p:sp>
      <p:sp>
        <p:nvSpPr>
          <p:cNvPr id="7" name="code"/>
          <p:cNvSpPr txBox="1"/>
          <p:nvPr/>
        </p:nvSpPr>
        <p:spPr>
          <a:xfrm>
            <a:off x="588010" y="1660748"/>
            <a:ext cx="4267200" cy="554201"/>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OPENAI_API_KEY</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sk-</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.your-key</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FAKE_AI</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AE81FF"/>
                </a:solidFill>
                <a:latin typeface="Courier New" pitchFamily="34" charset="0"/>
                <a:ea typeface="Courier New" pitchFamily="34" charset="-122"/>
                <a:cs typeface="Courier New" pitchFamily="34" charset="-120"/>
              </a:rPr>
              <a:t>0</a:t>
            </a:r>
            <a:endParaRPr lang="en-US" sz="1200" dirty="0"/>
          </a:p>
        </p:txBody>
      </p:sp>
      <p:sp>
        <p:nvSpPr>
          <p:cNvPr id="8" name="code card"/>
          <p:cNvSpPr/>
          <p:nvPr/>
        </p:nvSpPr>
        <p:spPr>
          <a:xfrm>
            <a:off x="365760" y="2470734"/>
            <a:ext cx="4711700" cy="1918386"/>
          </a:xfrm>
          <a:prstGeom prst="roundRect">
            <a:avLst>
              <a:gd name="adj" fmla="val 572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9" name="file label"/>
          <p:cNvSpPr/>
          <p:nvPr/>
        </p:nvSpPr>
        <p:spPr>
          <a:xfrm>
            <a:off x="543560" y="2573047"/>
            <a:ext cx="1671320" cy="238733"/>
          </a:xfrm>
          <a:prstGeom prst="roundRect">
            <a:avLst>
              <a:gd name="adj" fmla="val 30642"/>
            </a:avLst>
          </a:prstGeom>
          <a:solidFill>
            <a:srgbClr val="F99508"/>
          </a:solidFill>
          <a:ln w="12700">
            <a:solidFill>
              <a:srgbClr val="F99508"/>
            </a:solidFill>
            <a:prstDash val="solid"/>
          </a:ln>
        </p:spPr>
      </p:sp>
      <p:sp>
        <p:nvSpPr>
          <p:cNvPr id="10" name="file label text"/>
          <p:cNvSpPr txBox="1"/>
          <p:nvPr/>
        </p:nvSpPr>
        <p:spPr>
          <a:xfrm>
            <a:off x="543560" y="2573047"/>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config/settings.py</a:t>
            </a:r>
            <a:endParaRPr lang="en-US" sz="1000" dirty="0"/>
          </a:p>
        </p:txBody>
      </p:sp>
      <p:sp>
        <p:nvSpPr>
          <p:cNvPr id="11" name="code"/>
          <p:cNvSpPr txBox="1"/>
          <p:nvPr/>
        </p:nvSpPr>
        <p:spPr>
          <a:xfrm>
            <a:off x="588010" y="2897042"/>
            <a:ext cx="4267200" cy="1364186"/>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load_dotenv</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BASE_DIR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".env"</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env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os</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environ</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get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OPENAI_API_KEY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env</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"OPENAI_API_KEY"</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OPENAI_MODEL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env</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"OPENAI_MODEL"</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"gpt-4o-mini"</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FAKE_AI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env</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E6DB74"/>
                </a:solidFill>
                <a:latin typeface="Courier New" pitchFamily="34" charset="0"/>
                <a:ea typeface="Courier New" pitchFamily="34" charset="-122"/>
                <a:cs typeface="Courier New" pitchFamily="34" charset="-120"/>
              </a:rPr>
              <a:t>"FAKE_AI"</a:t>
            </a:r>
            <a:pPr indent="0" marL="0">
              <a:buNone/>
            </a:pPr>
            <a:r>
              <a:rPr lang="en-US" sz="1200" dirty="0">
                <a:solidFill>
                  <a:srgbClr val="F8F8F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92672"/>
                </a:solidFill>
                <a:latin typeface="Courier New" pitchFamily="34" charset="0"/>
                <a:ea typeface="Courier New" pitchFamily="34" charset="-122"/>
                <a:cs typeface="Courier New" pitchFamily="34" charset="-120"/>
              </a:rPr>
              <a:t>==</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E6DB74"/>
                </a:solidFill>
                <a:latin typeface="Courier New" pitchFamily="34" charset="0"/>
                <a:ea typeface="Courier New" pitchFamily="34" charset="-122"/>
                <a:cs typeface="Courier New" pitchFamily="34" charset="-120"/>
              </a:rPr>
              <a:t>"1"</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92672"/>
                </a:solidFill>
                <a:latin typeface="Courier New" pitchFamily="34" charset="0"/>
                <a:ea typeface="Courier New" pitchFamily="34" charset="-122"/>
                <a:cs typeface="Courier New" pitchFamily="34" charset="-120"/>
              </a:rPr>
              <a:t>or</a:t>
            </a:r>
            <a:pPr indent="0" marL="0">
              <a:buNone/>
            </a:pPr>
            <a:r>
              <a:rPr lang="en-US" sz="1200" dirty="0">
                <a:solidFill>
                  <a:srgbClr val="F8F8F2"/>
                </a:solidFill>
                <a:latin typeface="Courier New" pitchFamily="34" charset="0"/>
                <a:ea typeface="Courier New" pitchFamily="34" charset="-122"/>
                <a:cs typeface="Courier New" pitchFamily="34" charset="-120"/>
              </a:rPr>
              <a:t> </a:t>
            </a:r>
            <a:pPr indent="0" marL="0">
              <a:buNone/>
            </a:pPr>
            <a:r>
              <a:rPr lang="en-US" sz="1200" dirty="0">
                <a:solidFill>
                  <a:srgbClr val="F92672"/>
                </a:solidFill>
                <a:latin typeface="Courier New" pitchFamily="34" charset="0"/>
                <a:ea typeface="Courier New" pitchFamily="34" charset="-122"/>
                <a:cs typeface="Courier New" pitchFamily="34" charset="-120"/>
              </a:rPr>
              <a:t>not</a:t>
            </a:r>
            <a:pPr indent="0" marL="0">
              <a:buNone/>
            </a:pPr>
            <a:r>
              <a:rPr lang="en-US" sz="1200" dirty="0">
                <a:solidFill>
                  <a:srgbClr val="F8F8F2"/>
                </a:solidFill>
                <a:latin typeface="Courier New" pitchFamily="34" charset="0"/>
                <a:ea typeface="Courier New" pitchFamily="34" charset="-122"/>
                <a:cs typeface="Courier New" pitchFamily="34" charset="-120"/>
              </a:rPr>
              <a:t> OPENAI_API_KEY</a:t>
            </a:r>
            <a:pPr indent="0" marL="0">
              <a:buNone/>
            </a:pPr>
            <a:r>
              <a:rPr lang="en-US" sz="1200" dirty="0">
                <a:solidFill>
                  <a:srgbClr val="F8F8F2"/>
                </a:solidFill>
                <a:latin typeface="Courier New" pitchFamily="34" charset="0"/>
                <a:ea typeface="Courier New" pitchFamily="34" charset="-122"/>
                <a:cs typeface="Courier New" pitchFamily="34" charset="-120"/>
              </a:rPr>
              <a:t>)</a:t>
            </a:r>
            <a:endParaRPr lang="en-US" sz="1200" dirty="0"/>
          </a:p>
        </p:txBody>
      </p:sp>
      <p:sp>
        <p:nvSpPr>
          <p:cNvPr id="12" name="card Never in code, never in git"/>
          <p:cNvSpPr/>
          <p:nvPr/>
        </p:nvSpPr>
        <p:spPr>
          <a:xfrm>
            <a:off x="5344160" y="1234440"/>
            <a:ext cx="3022600" cy="1449448"/>
          </a:xfrm>
          <a:prstGeom prst="roundRect">
            <a:avLst>
              <a:gd name="adj" fmla="val 7570"/>
            </a:avLst>
          </a:prstGeom>
          <a:solidFill>
            <a:srgbClr val="FFFFFF"/>
          </a:solidFill>
          <a:ln w="12700">
            <a:solidFill>
              <a:srgbClr val="FFFFFF"/>
            </a:solidFill>
            <a:prstDash val="solid"/>
          </a:ln>
        </p:spPr>
      </p:sp>
      <p:sp>
        <p:nvSpPr>
          <p:cNvPr id="13" name="icon bg Never in code, never in git"/>
          <p:cNvSpPr/>
          <p:nvPr/>
        </p:nvSpPr>
        <p:spPr>
          <a:xfrm>
            <a:off x="5521960" y="1387911"/>
            <a:ext cx="444500" cy="426308"/>
          </a:xfrm>
          <a:prstGeom prst="ellipse">
            <a:avLst/>
          </a:prstGeom>
          <a:solidFill>
            <a:srgbClr val="D9534F"/>
          </a:solidFill>
          <a:ln w="12700">
            <a:solidFill>
              <a:srgbClr val="D9534F"/>
            </a:solidFill>
            <a:prstDash val="solid"/>
          </a:ln>
        </p:spPr>
      </p:sp>
      <p:pic>
        <p:nvPicPr>
          <p:cNvPr id="14" name="icon Never in code, never in git" descr="preencoded.png">    </p:cNvPr>
          <p:cNvPicPr>
            <a:picLocks noChangeAspect="1"/>
          </p:cNvPicPr>
          <p:nvPr/>
        </p:nvPicPr>
        <p:blipFill>
          <a:blip r:embed="rId1"/>
          <a:stretch>
            <a:fillRect/>
          </a:stretch>
        </p:blipFill>
        <p:spPr>
          <a:xfrm>
            <a:off x="5619750" y="1481699"/>
            <a:ext cx="248920" cy="238733"/>
          </a:xfrm>
          <a:prstGeom prst="rect">
            <a:avLst/>
          </a:prstGeom>
        </p:spPr>
      </p:pic>
      <p:sp>
        <p:nvSpPr>
          <p:cNvPr id="15" name="card title Never in code, never in git"/>
          <p:cNvSpPr txBox="1"/>
          <p:nvPr/>
        </p:nvSpPr>
        <p:spPr>
          <a:xfrm>
            <a:off x="6099810" y="1387911"/>
            <a:ext cx="2133600" cy="426308"/>
          </a:xfrm>
          <a:prstGeom prst="rect">
            <a:avLst/>
          </a:prstGeom>
          <a:noFill/>
          <a:ln/>
        </p:spPr>
        <p:txBody>
          <a:bodyPr wrap="square" lIns="0" tIns="0" rIns="0" bIns="0" rtlCol="0" anchor="ctr"/>
          <a:lstStyle/>
          <a:p>
            <a:pPr indent="0" marL="0">
              <a:buNone/>
            </a:pPr>
            <a:r>
              <a:rPr lang="en-US" sz="1400" b="1" dirty="0">
                <a:solidFill>
                  <a:srgbClr val="072E47"/>
                </a:solidFill>
              </a:rPr>
              <a:t>Never in code, never in git</a:t>
            </a:r>
            <a:endParaRPr lang="en-US" sz="1400" dirty="0"/>
          </a:p>
        </p:txBody>
      </p:sp>
      <p:sp>
        <p:nvSpPr>
          <p:cNvPr id="16" name="card body Never in code, never in git"/>
          <p:cNvSpPr txBox="1"/>
          <p:nvPr/>
        </p:nvSpPr>
        <p:spPr>
          <a:xfrm>
            <a:off x="5521960" y="1916533"/>
            <a:ext cx="2667000" cy="63946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0F8D91"/>
                </a:solidFill>
              </a:rPr>
              <a:t>.gitignore keeps .env out</a:t>
            </a:r>
            <a:endParaRPr lang="en-US" sz="1200" dirty="0"/>
          </a:p>
          <a:p>
            <a:pPr marL="342900" indent="-342900">
              <a:spcAft>
                <a:spcPts val="400"/>
              </a:spcAft>
              <a:buSzPct val="100000"/>
              <a:buChar char="•"/>
            </a:pPr>
            <a:r>
              <a:rPr lang="en-US" sz="1200" dirty="0">
                <a:solidFill>
                  <a:srgbClr val="0F8D91"/>
                </a:solidFill>
              </a:rPr>
              <a:t>.env.example: shape, no values</a:t>
            </a:r>
            <a:endParaRPr lang="en-US" sz="1200" dirty="0"/>
          </a:p>
          <a:p>
            <a:pPr marL="342900" indent="-342900">
              <a:spcAft>
                <a:spcPts val="400"/>
              </a:spcAft>
              <a:buSzPct val="100000"/>
              <a:buChar char="•"/>
            </a:pPr>
            <a:r>
              <a:rPr lang="en-US" sz="1200" dirty="0">
                <a:solidFill>
                  <a:srgbClr val="0F8D91"/>
                </a:solidFill>
              </a:rPr>
              <a:t>A leaked key costs money</a:t>
            </a:r>
            <a:endParaRPr lang="en-US" sz="1200" dirty="0"/>
          </a:p>
        </p:txBody>
      </p:sp>
      <p:sp>
        <p:nvSpPr>
          <p:cNvPr id="17" name="card FAKE_AI mode"/>
          <p:cNvSpPr/>
          <p:nvPr/>
        </p:nvSpPr>
        <p:spPr>
          <a:xfrm>
            <a:off x="5344160" y="2811780"/>
            <a:ext cx="3022600" cy="1577340"/>
          </a:xfrm>
          <a:prstGeom prst="roundRect">
            <a:avLst>
              <a:gd name="adj" fmla="val 6957"/>
            </a:avLst>
          </a:prstGeom>
          <a:solidFill>
            <a:srgbClr val="FFFFFF"/>
          </a:solidFill>
          <a:ln w="12700">
            <a:solidFill>
              <a:srgbClr val="FFFFFF"/>
            </a:solidFill>
            <a:prstDash val="solid"/>
          </a:ln>
        </p:spPr>
      </p:sp>
      <p:sp>
        <p:nvSpPr>
          <p:cNvPr id="18" name="icon bg FAKE_AI mode"/>
          <p:cNvSpPr/>
          <p:nvPr/>
        </p:nvSpPr>
        <p:spPr>
          <a:xfrm>
            <a:off x="5521960" y="2965251"/>
            <a:ext cx="444500" cy="426308"/>
          </a:xfrm>
          <a:prstGeom prst="ellipse">
            <a:avLst/>
          </a:prstGeom>
          <a:solidFill>
            <a:srgbClr val="04B1A4"/>
          </a:solidFill>
          <a:ln w="12700">
            <a:solidFill>
              <a:srgbClr val="04B1A4"/>
            </a:solidFill>
            <a:prstDash val="solid"/>
          </a:ln>
        </p:spPr>
      </p:sp>
      <p:pic>
        <p:nvPicPr>
          <p:cNvPr id="19" name="icon FAKE_AI mode" descr="preencoded.png">    </p:cNvPr>
          <p:cNvPicPr>
            <a:picLocks noChangeAspect="1"/>
          </p:cNvPicPr>
          <p:nvPr/>
        </p:nvPicPr>
        <p:blipFill>
          <a:blip r:embed="rId2"/>
          <a:stretch>
            <a:fillRect/>
          </a:stretch>
        </p:blipFill>
        <p:spPr>
          <a:xfrm>
            <a:off x="5619750" y="3059039"/>
            <a:ext cx="248920" cy="238733"/>
          </a:xfrm>
          <a:prstGeom prst="rect">
            <a:avLst/>
          </a:prstGeom>
        </p:spPr>
      </p:pic>
      <p:sp>
        <p:nvSpPr>
          <p:cNvPr id="20" name="card title FAKE_AI mode"/>
          <p:cNvSpPr txBox="1"/>
          <p:nvPr/>
        </p:nvSpPr>
        <p:spPr>
          <a:xfrm>
            <a:off x="6099810" y="2965251"/>
            <a:ext cx="2133600" cy="426308"/>
          </a:xfrm>
          <a:prstGeom prst="rect">
            <a:avLst/>
          </a:prstGeom>
          <a:noFill/>
          <a:ln/>
        </p:spPr>
        <p:txBody>
          <a:bodyPr wrap="square" lIns="0" tIns="0" rIns="0" bIns="0" rtlCol="0" anchor="ctr"/>
          <a:lstStyle/>
          <a:p>
            <a:pPr indent="0" marL="0">
              <a:buNone/>
            </a:pPr>
            <a:r>
              <a:rPr lang="en-US" sz="1400" b="1" dirty="0">
                <a:solidFill>
                  <a:srgbClr val="072E47"/>
                </a:solidFill>
              </a:rPr>
              <a:t>FAKE_AI mode</a:t>
            </a:r>
            <a:endParaRPr lang="en-US" sz="1400" dirty="0"/>
          </a:p>
        </p:txBody>
      </p:sp>
      <p:sp>
        <p:nvSpPr>
          <p:cNvPr id="21" name="card body FAKE_AI mode"/>
          <p:cNvSpPr txBox="1"/>
          <p:nvPr/>
        </p:nvSpPr>
        <p:spPr>
          <a:xfrm>
            <a:off x="5521960" y="3493873"/>
            <a:ext cx="2667000" cy="767355"/>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0F8D91"/>
                </a:solidFill>
              </a:rPr>
              <a:t>Same JSON shape as the real API</a:t>
            </a:r>
            <a:endParaRPr lang="en-US" sz="1200" dirty="0"/>
          </a:p>
          <a:p>
            <a:pPr marL="342900" indent="-342900">
              <a:spcAft>
                <a:spcPts val="400"/>
              </a:spcAft>
              <a:buSzPct val="100000"/>
              <a:buChar char="•"/>
            </a:pPr>
            <a:r>
              <a:rPr lang="en-US" sz="1200" dirty="0">
                <a:solidFill>
                  <a:srgbClr val="0F8D91"/>
                </a:solidFill>
              </a:rPr>
              <a:t>Downstream code can't tell</a:t>
            </a:r>
            <a:endParaRPr lang="en-US" sz="1200" dirty="0"/>
          </a:p>
          <a:p>
            <a:pPr marL="342900" indent="-342900">
              <a:spcAft>
                <a:spcPts val="400"/>
              </a:spcAft>
              <a:buSzPct val="100000"/>
              <a:buChar char="•"/>
            </a:pPr>
            <a:r>
              <a:rPr lang="en-US" sz="1200" dirty="0">
                <a:solidFill>
                  <a:srgbClr val="0F8D91"/>
                </a:solidFill>
              </a:rPr>
              <a:t>Workshops, tests, dead Wi-Fi</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17 · Validate the AI's answer like any form</a:t>
            </a:r>
            <a:endParaRPr lang="en-US" sz="2400" dirty="0"/>
          </a:p>
        </p:txBody>
      </p:sp>
      <p:sp>
        <p:nvSpPr>
          <p:cNvPr id="4" name="code card"/>
          <p:cNvSpPr/>
          <p:nvPr/>
        </p:nvSpPr>
        <p:spPr>
          <a:xfrm>
            <a:off x="365760" y="1234440"/>
            <a:ext cx="55118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242697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242697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reviewers/ai.py  (shortened)</a:t>
            </a:r>
            <a:endParaRPr lang="en-US" sz="1000" dirty="0"/>
          </a:p>
        </p:txBody>
      </p:sp>
      <p:sp>
        <p:nvSpPr>
          <p:cNvPr id="7" name="code"/>
          <p:cNvSpPr txBox="1"/>
          <p:nvPr/>
        </p:nvSpPr>
        <p:spPr>
          <a:xfrm>
            <a:off x="588010" y="1660748"/>
            <a:ext cx="5067300" cy="2600479"/>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validate_questions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data</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requested_count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questions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data</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"questions"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9A9B8C"/>
                </a:solidFill>
                <a:latin typeface="Courier New" pitchFamily="34" charset="0"/>
                <a:ea typeface="Courier New" pitchFamily="34" charset="-122"/>
                <a:cs typeface="Courier New" pitchFamily="34" charset="-120"/>
              </a:rPr>
              <a:t># count checked above</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for</a:t>
            </a:r>
            <a:pPr indent="0" marL="0">
              <a:buNone/>
            </a:pPr>
            <a:r>
              <a:rPr lang="en-US" sz="1100" dirty="0">
                <a:solidFill>
                  <a:srgbClr val="F8F8F2"/>
                </a:solidFill>
                <a:latin typeface="Courier New" pitchFamily="34" charset="0"/>
                <a:ea typeface="Courier New" pitchFamily="34" charset="-122"/>
                <a:cs typeface="Courier New" pitchFamily="34" charset="-120"/>
              </a:rPr>
              <a:t> i</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item </a:t>
            </a:r>
            <a:pPr indent="0" marL="0">
              <a:buNone/>
            </a:pPr>
            <a:r>
              <a:rPr lang="en-US" sz="1100" dirty="0">
                <a:solidFill>
                  <a:srgbClr val="F92672"/>
                </a:solidFill>
                <a:latin typeface="Courier New" pitchFamily="34" charset="0"/>
                <a:ea typeface="Courier New" pitchFamily="34" charset="-122"/>
                <a:cs typeface="Courier New" pitchFamily="34" charset="-120"/>
              </a:rPr>
              <a:t>in</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enumerate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questions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start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AE81FF"/>
                </a:solidFill>
                <a:latin typeface="Courier New" pitchFamily="34" charset="0"/>
                <a:ea typeface="Courier New" pitchFamily="34" charset="-122"/>
                <a:cs typeface="Courier New" pitchFamily="34" charset="-120"/>
              </a:rPr>
              <a:t>1</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item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"type"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not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in</a:t>
            </a:r>
            <a:pPr indent="0" marL="0">
              <a:buNone/>
            </a:pPr>
            <a:r>
              <a:rPr lang="en-US" sz="1100" dirty="0">
                <a:solidFill>
                  <a:srgbClr val="F8F8F2"/>
                </a:solidFill>
                <a:latin typeface="Courier New" pitchFamily="34" charset="0"/>
                <a:ea typeface="Courier New" pitchFamily="34" charset="-122"/>
                <a:cs typeface="Courier New" pitchFamily="34" charset="-120"/>
              </a:rPr>
              <a:t> ALLOWED_TYPES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raise</a:t>
            </a:r>
            <a:pPr indent="0" marL="0">
              <a:buNone/>
            </a:pPr>
            <a:r>
              <a:rPr lang="en-US" sz="1100" dirty="0">
                <a:solidFill>
                  <a:srgbClr val="F8F8F2"/>
                </a:solidFill>
                <a:latin typeface="Courier New" pitchFamily="34" charset="0"/>
                <a:ea typeface="Courier New" pitchFamily="34" charset="-122"/>
                <a:cs typeface="Courier New" pitchFamily="34" charset="-120"/>
              </a:rPr>
              <a:t> AIError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f"Q</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i</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 unknown type"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not</a:t>
            </a:r>
            <a:pPr indent="0" marL="0">
              <a:buNone/>
            </a:pPr>
            <a:r>
              <a:rPr lang="en-US" sz="1100" dirty="0">
                <a:solidFill>
                  <a:srgbClr val="F8F8F2"/>
                </a:solidFill>
                <a:latin typeface="Courier New" pitchFamily="34" charset="0"/>
                <a:ea typeface="Courier New" pitchFamily="34" charset="-122"/>
                <a:cs typeface="Courier New" pitchFamily="34" charset="-120"/>
              </a:rPr>
              <a:t> item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strip</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raise</a:t>
            </a:r>
            <a:pPr indent="0" marL="0">
              <a:buNone/>
            </a:pPr>
            <a:r>
              <a:rPr lang="en-US" sz="1100" dirty="0">
                <a:solidFill>
                  <a:srgbClr val="F8F8F2"/>
                </a:solidFill>
                <a:latin typeface="Courier New" pitchFamily="34" charset="0"/>
                <a:ea typeface="Courier New" pitchFamily="34" charset="-122"/>
                <a:cs typeface="Courier New" pitchFamily="34" charset="-120"/>
              </a:rPr>
              <a:t> AIError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f"Q</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i</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 empty text"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item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"type"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"multiple_choice"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correct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 </a:t>
            </a:r>
            <a:pPr indent="0" marL="0">
              <a:buNone/>
            </a:pPr>
            <a:r>
              <a:rPr lang="en-US" sz="1100" dirty="0">
                <a:solidFill>
                  <a:srgbClr val="F92672"/>
                </a:solidFill>
                <a:latin typeface="Courier New" pitchFamily="34" charset="0"/>
                <a:ea typeface="Courier New" pitchFamily="34" charset="-122"/>
                <a:cs typeface="Courier New" pitchFamily="34" charset="-120"/>
              </a:rPr>
              <a:t>for</a:t>
            </a:r>
            <a:pPr indent="0" marL="0">
              <a:buNone/>
            </a:pPr>
            <a:r>
              <a:rPr lang="en-US" sz="1100" dirty="0">
                <a:solidFill>
                  <a:srgbClr val="F8F8F2"/>
                </a:solidFill>
                <a:latin typeface="Courier New" pitchFamily="34" charset="0"/>
                <a:ea typeface="Courier New" pitchFamily="34" charset="-122"/>
                <a:cs typeface="Courier New" pitchFamily="34" charset="-120"/>
              </a:rPr>
              <a:t> c </a:t>
            </a:r>
            <a:pPr indent="0" marL="0">
              <a:buNone/>
            </a:pPr>
            <a:r>
              <a:rPr lang="en-US" sz="1100" dirty="0">
                <a:solidFill>
                  <a:srgbClr val="F92672"/>
                </a:solidFill>
                <a:latin typeface="Courier New" pitchFamily="34" charset="0"/>
                <a:ea typeface="Courier New" pitchFamily="34" charset="-122"/>
                <a:cs typeface="Courier New" pitchFamily="34" charset="-120"/>
              </a:rPr>
              <a:t>in</a:t>
            </a:r>
            <a:pPr indent="0" marL="0">
              <a:buNone/>
            </a:pPr>
            <a:r>
              <a:rPr lang="en-US" sz="1100" dirty="0">
                <a:solidFill>
                  <a:srgbClr val="F8F8F2"/>
                </a:solidFill>
                <a:latin typeface="Courier New" pitchFamily="34" charset="0"/>
                <a:ea typeface="Courier New" pitchFamily="34" charset="-122"/>
                <a:cs typeface="Courier New" pitchFamily="34" charset="-120"/>
              </a:rPr>
              <a:t> item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"choices"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c</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"correct"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66D9EF"/>
                </a:solidFill>
                <a:latin typeface="Courier New" pitchFamily="34" charset="0"/>
                <a:ea typeface="Courier New" pitchFamily="34" charset="-122"/>
                <a:cs typeface="Courier New" pitchFamily="34" charset="-120"/>
              </a:rPr>
              <a:t>len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correct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E81FF"/>
                </a:solidFill>
                <a:latin typeface="Courier New" pitchFamily="34" charset="0"/>
                <a:ea typeface="Courier New" pitchFamily="34" charset="-122"/>
                <a:cs typeface="Courier New" pitchFamily="34" charset="-120"/>
              </a:rPr>
              <a:t>1</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raise</a:t>
            </a:r>
            <a:pPr indent="0" marL="0">
              <a:buNone/>
            </a:pPr>
            <a:r>
              <a:rPr lang="en-US" sz="1100" dirty="0">
                <a:solidFill>
                  <a:srgbClr val="F8F8F2"/>
                </a:solidFill>
                <a:latin typeface="Courier New" pitchFamily="34" charset="0"/>
                <a:ea typeface="Courier New" pitchFamily="34" charset="-122"/>
                <a:cs typeface="Courier New" pitchFamily="34" charset="-120"/>
              </a:rPr>
              <a:t> AIError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f"Q</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i</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 need 1 correct"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elif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not</a:t>
            </a:r>
            <a:pPr indent="0" marL="0">
              <a:buNone/>
            </a:pPr>
            <a:r>
              <a:rPr lang="en-US" sz="1100" dirty="0">
                <a:solidFill>
                  <a:srgbClr val="F8F8F2"/>
                </a:solidFill>
                <a:latin typeface="Courier New" pitchFamily="34" charset="0"/>
                <a:ea typeface="Courier New" pitchFamily="34" charset="-122"/>
                <a:cs typeface="Courier New" pitchFamily="34" charset="-120"/>
              </a:rPr>
              <a:t> item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"answer"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strip</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raise</a:t>
            </a:r>
            <a:pPr indent="0" marL="0">
              <a:buNone/>
            </a:pPr>
            <a:r>
              <a:rPr lang="en-US" sz="1100" dirty="0">
                <a:solidFill>
                  <a:srgbClr val="F8F8F2"/>
                </a:solidFill>
                <a:latin typeface="Courier New" pitchFamily="34" charset="0"/>
                <a:ea typeface="Courier New" pitchFamily="34" charset="-122"/>
                <a:cs typeface="Courier New" pitchFamily="34" charset="-120"/>
              </a:rPr>
              <a:t> AIError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f"Q</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i</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 missing answer"</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clean_list</a:t>
            </a:r>
            <a:endParaRPr lang="en-US" sz="1100" dirty="0"/>
          </a:p>
        </p:txBody>
      </p:sp>
      <p:sp>
        <p:nvSpPr>
          <p:cNvPr id="8" name="bullets"/>
          <p:cNvSpPr txBox="1"/>
          <p:nvPr/>
        </p:nvSpPr>
        <p:spPr>
          <a:xfrm>
            <a:off x="6055360" y="1234440"/>
            <a:ext cx="2311400" cy="2557849"/>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72E47"/>
                </a:solidFill>
              </a:rPr>
              <a:t>Count ≤ what was requested</a:t>
            </a:r>
            <a:endParaRPr lang="en-US" sz="1300" dirty="0"/>
          </a:p>
          <a:p>
            <a:pPr marL="342900" indent="-342900">
              <a:spcAft>
                <a:spcPts val="600"/>
              </a:spcAft>
              <a:buSzPct val="100000"/>
              <a:buChar char="•"/>
            </a:pPr>
            <a:r>
              <a:rPr lang="en-US" sz="1300" dirty="0">
                <a:solidFill>
                  <a:srgbClr val="072E47"/>
                </a:solidFill>
              </a:rPr>
              <a:t>Type is one we know</a:t>
            </a:r>
            <a:endParaRPr lang="en-US" sz="1300" dirty="0"/>
          </a:p>
          <a:p>
            <a:pPr marL="342900" indent="-342900">
              <a:spcAft>
                <a:spcPts val="600"/>
              </a:spcAft>
              <a:buSzPct val="100000"/>
              <a:buChar char="•"/>
            </a:pPr>
            <a:r>
              <a:rPr lang="en-US" sz="1300" dirty="0">
                <a:solidFill>
                  <a:srgbClr val="072E47"/>
                </a:solidFill>
              </a:rPr>
              <a:t>Question text not empty, not huge</a:t>
            </a:r>
            <a:endParaRPr lang="en-US" sz="1300" dirty="0"/>
          </a:p>
          <a:p>
            <a:pPr marL="342900" indent="-342900">
              <a:spcAft>
                <a:spcPts val="600"/>
              </a:spcAft>
              <a:buSzPct val="100000"/>
              <a:buChar char="•"/>
            </a:pPr>
            <a:r>
              <a:rPr lang="en-US" sz="1300" dirty="0">
                <a:solidFill>
                  <a:srgbClr val="072E47"/>
                </a:solidFill>
              </a:rPr>
              <a:t>MC: 2 to 6 choices, exactly one correct</a:t>
            </a:r>
            <a:endParaRPr lang="en-US" sz="1300" dirty="0"/>
          </a:p>
          <a:p>
            <a:pPr marL="342900" indent="-342900">
              <a:spcAft>
                <a:spcPts val="600"/>
              </a:spcAft>
              <a:buSzPct val="100000"/>
              <a:buChar char="•"/>
            </a:pPr>
            <a:r>
              <a:rPr lang="en-US" sz="1300" dirty="0">
                <a:solidFill>
                  <a:srgbClr val="072E47"/>
                </a:solidFill>
              </a:rPr>
              <a:t>Direct: has an answer</a:t>
            </a:r>
            <a:endParaRPr lang="en-US" sz="1300" dirty="0"/>
          </a:p>
          <a:p>
            <a:pPr marL="342900" indent="-342900">
              <a:spcAft>
                <a:spcPts val="600"/>
              </a:spcAft>
              <a:buSzPct val="100000"/>
              <a:buChar char="•"/>
            </a:pPr>
            <a:r>
              <a:rPr lang="en-US" sz="1300" b="1" dirty="0">
                <a:solidFill>
                  <a:srgbClr val="D9534F"/>
                </a:solidFill>
              </a:rPr>
              <a:t>Any failure = reject ALL, save nothing</a:t>
            </a:r>
            <a:endParaRPr lang="en-US" sz="1300" dirty="0"/>
          </a:p>
        </p:txBody>
      </p:sp>
      <p:sp>
        <p:nvSpPr>
          <p:cNvPr id="9" name="tip"/>
          <p:cNvSpPr/>
          <p:nvPr/>
        </p:nvSpPr>
        <p:spPr>
          <a:xfrm>
            <a:off x="6055360" y="3877550"/>
            <a:ext cx="2311400" cy="511570"/>
          </a:xfrm>
          <a:prstGeom prst="roundRect">
            <a:avLst>
              <a:gd name="adj" fmla="val 17874"/>
            </a:avLst>
          </a:prstGeom>
          <a:solidFill>
            <a:srgbClr val="FFFFFF"/>
          </a:solidFill>
          <a:ln w="12700">
            <a:solidFill>
              <a:srgbClr val="FFFFFF"/>
            </a:solidFill>
            <a:prstDash val="solid"/>
          </a:ln>
        </p:spPr>
      </p:sp>
      <p:sp>
        <p:nvSpPr>
          <p:cNvPr id="10" name="tip dot"/>
          <p:cNvSpPr/>
          <p:nvPr/>
        </p:nvSpPr>
        <p:spPr>
          <a:xfrm>
            <a:off x="6188710" y="4005443"/>
            <a:ext cx="266700" cy="255785"/>
          </a:xfrm>
          <a:prstGeom prst="ellipse">
            <a:avLst/>
          </a:prstGeom>
          <a:solidFill>
            <a:srgbClr val="D9534F"/>
          </a:solidFill>
          <a:ln w="12700">
            <a:solidFill>
              <a:srgbClr val="D9534F"/>
            </a:solidFill>
            <a:prstDash val="solid"/>
          </a:ln>
        </p:spPr>
      </p:sp>
      <p:sp>
        <p:nvSpPr>
          <p:cNvPr id="11" name="tip mark"/>
          <p:cNvSpPr txBox="1"/>
          <p:nvPr/>
        </p:nvSpPr>
        <p:spPr>
          <a:xfrm>
            <a:off x="6188710" y="4005443"/>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12" name="tip text"/>
          <p:cNvSpPr txBox="1"/>
          <p:nvPr/>
        </p:nvSpPr>
        <p:spPr>
          <a:xfrm>
            <a:off x="6588760" y="3877550"/>
            <a:ext cx="1644650" cy="511570"/>
          </a:xfrm>
          <a:prstGeom prst="rect">
            <a:avLst/>
          </a:prstGeom>
          <a:noFill/>
          <a:ln/>
        </p:spPr>
        <p:txBody>
          <a:bodyPr wrap="square" lIns="0" tIns="0" rIns="0" bIns="0" rtlCol="0" anchor="ctr"/>
          <a:lstStyle/>
          <a:p>
            <a:pPr indent="0" marL="0">
              <a:buNone/>
            </a:pPr>
            <a:r>
              <a:rPr lang="en-US" sz="1200" dirty="0">
                <a:solidFill>
                  <a:srgbClr val="072E47"/>
                </a:solidFill>
              </a:rPr>
              <a:t>Never assume AI output is valid application data.</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18 · Drafts: the AI proposes, a human decides</a:t>
            </a:r>
            <a:endParaRPr lang="en-US" sz="2400" dirty="0"/>
          </a:p>
        </p:txBody>
      </p:sp>
      <p:sp>
        <p:nvSpPr>
          <p:cNvPr id="4" name="flow AI JSON"/>
          <p:cNvSpPr/>
          <p:nvPr/>
        </p:nvSpPr>
        <p:spPr>
          <a:xfrm>
            <a:off x="365760" y="1234440"/>
            <a:ext cx="1372616" cy="682093"/>
          </a:xfrm>
          <a:prstGeom prst="roundRect">
            <a:avLst>
              <a:gd name="adj" fmla="val 13406"/>
            </a:avLst>
          </a:prstGeom>
          <a:solidFill>
            <a:srgbClr val="04B1A4"/>
          </a:solidFill>
          <a:ln w="12700">
            <a:solidFill>
              <a:srgbClr val="04B1A4"/>
            </a:solidFill>
            <a:prstDash val="solid"/>
          </a:ln>
          <a:effectLst>
            <a:outerShdw sx="100000" sy="100000" kx="0" ky="0" algn="bl" rotWithShape="0" blurRad="76200" dist="25400" dir="5400000">
              <a:srgbClr val="000000">
                <a:alpha val="18000"/>
              </a:srgbClr>
            </a:outerShdw>
          </a:effectLst>
        </p:spPr>
      </p:sp>
      <p:sp>
        <p:nvSpPr>
          <p:cNvPr id="5" name="flow label AI JSON"/>
          <p:cNvSpPr txBox="1"/>
          <p:nvPr/>
        </p:nvSpPr>
        <p:spPr>
          <a:xfrm>
            <a:off x="410210" y="1234440"/>
            <a:ext cx="1283716" cy="682093"/>
          </a:xfrm>
          <a:prstGeom prst="rect">
            <a:avLst/>
          </a:prstGeom>
          <a:noFill/>
          <a:ln/>
        </p:spPr>
        <p:txBody>
          <a:bodyPr wrap="square" lIns="0" tIns="0" rIns="0" bIns="0" rtlCol="0" anchor="ctr"/>
          <a:lstStyle/>
          <a:p>
            <a:pPr algn="ctr" indent="0" marL="0">
              <a:buNone/>
            </a:pPr>
            <a:r>
              <a:rPr lang="en-US" sz="1100" b="1" dirty="0">
                <a:solidFill>
                  <a:srgbClr val="072E47"/>
                </a:solidFill>
              </a:rPr>
              <a:t>AI JSON</a:t>
            </a:r>
            <a:endParaRPr lang="en-US" sz="1100" dirty="0"/>
          </a:p>
        </p:txBody>
      </p:sp>
      <p:sp>
        <p:nvSpPr>
          <p:cNvPr id="6" name="arrow 0"/>
          <p:cNvSpPr/>
          <p:nvPr/>
        </p:nvSpPr>
        <p:spPr>
          <a:xfrm>
            <a:off x="1773936" y="1473173"/>
            <a:ext cx="213360" cy="204628"/>
          </a:xfrm>
          <a:prstGeom prst="rightArrow">
            <a:avLst/>
          </a:prstGeom>
          <a:solidFill>
            <a:srgbClr val="0F8D91"/>
          </a:solidFill>
          <a:ln w="12700">
            <a:solidFill>
              <a:srgbClr val="0F8D91"/>
            </a:solidFill>
            <a:prstDash val="solid"/>
          </a:ln>
        </p:spPr>
      </p:sp>
      <p:sp>
        <p:nvSpPr>
          <p:cNvPr id="7" name="flow validate"/>
          <p:cNvSpPr/>
          <p:nvPr/>
        </p:nvSpPr>
        <p:spPr>
          <a:xfrm>
            <a:off x="2022856" y="1234440"/>
            <a:ext cx="1372616" cy="682093"/>
          </a:xfrm>
          <a:prstGeom prst="roundRect">
            <a:avLst>
              <a:gd name="adj" fmla="val 13406"/>
            </a:avLst>
          </a:prstGeom>
          <a:solidFill>
            <a:srgbClr val="F99508"/>
          </a:solidFill>
          <a:ln w="12700">
            <a:solidFill>
              <a:srgbClr val="F99508"/>
            </a:solidFill>
            <a:prstDash val="solid"/>
          </a:ln>
          <a:effectLst>
            <a:outerShdw sx="100000" sy="100000" kx="0" ky="0" algn="bl" rotWithShape="0" blurRad="76200" dist="25400" dir="5400000">
              <a:srgbClr val="000000">
                <a:alpha val="18000"/>
              </a:srgbClr>
            </a:outerShdw>
          </a:effectLst>
        </p:spPr>
      </p:sp>
      <p:sp>
        <p:nvSpPr>
          <p:cNvPr id="8" name="flow label validate"/>
          <p:cNvSpPr txBox="1"/>
          <p:nvPr/>
        </p:nvSpPr>
        <p:spPr>
          <a:xfrm>
            <a:off x="2067306" y="1234440"/>
            <a:ext cx="1283716" cy="682093"/>
          </a:xfrm>
          <a:prstGeom prst="rect">
            <a:avLst/>
          </a:prstGeom>
          <a:noFill/>
          <a:ln/>
        </p:spPr>
        <p:txBody>
          <a:bodyPr wrap="square" lIns="0" tIns="0" rIns="0" bIns="0" rtlCol="0" anchor="ctr"/>
          <a:lstStyle/>
          <a:p>
            <a:pPr algn="ctr" indent="0" marL="0">
              <a:buNone/>
            </a:pPr>
            <a:r>
              <a:rPr lang="en-US" sz="1100" b="1" dirty="0">
                <a:solidFill>
                  <a:srgbClr val="072E47"/>
                </a:solidFill>
              </a:rPr>
              <a:t>validate</a:t>
            </a:r>
            <a:endParaRPr lang="en-US" sz="1100" dirty="0"/>
          </a:p>
        </p:txBody>
      </p:sp>
      <p:sp>
        <p:nvSpPr>
          <p:cNvPr id="9" name="arrow 1"/>
          <p:cNvSpPr/>
          <p:nvPr/>
        </p:nvSpPr>
        <p:spPr>
          <a:xfrm>
            <a:off x="3431032" y="1473173"/>
            <a:ext cx="213360" cy="204628"/>
          </a:xfrm>
          <a:prstGeom prst="rightArrow">
            <a:avLst/>
          </a:prstGeom>
          <a:solidFill>
            <a:srgbClr val="0F8D91"/>
          </a:solidFill>
          <a:ln w="12700">
            <a:solidFill>
              <a:srgbClr val="0F8D91"/>
            </a:solidFill>
            <a:prstDash val="solid"/>
          </a:ln>
        </p:spPr>
      </p:sp>
      <p:sp>
        <p:nvSpPr>
          <p:cNvPr id="10" name="flow save as DRAFT"/>
          <p:cNvSpPr/>
          <p:nvPr/>
        </p:nvSpPr>
        <p:spPr>
          <a:xfrm>
            <a:off x="3679952" y="1234440"/>
            <a:ext cx="1372616" cy="682093"/>
          </a:xfrm>
          <a:prstGeom prst="roundRect">
            <a:avLst>
              <a:gd name="adj" fmla="val 13406"/>
            </a:avLst>
          </a:prstGeom>
          <a:solidFill>
            <a:srgbClr val="1B6F86"/>
          </a:solidFill>
          <a:ln w="12700">
            <a:solidFill>
              <a:srgbClr val="1B6F86"/>
            </a:solidFill>
            <a:prstDash val="solid"/>
          </a:ln>
          <a:effectLst>
            <a:outerShdw sx="100000" sy="100000" kx="0" ky="0" algn="bl" rotWithShape="0" blurRad="76200" dist="25400" dir="5400000">
              <a:srgbClr val="000000">
                <a:alpha val="18000"/>
              </a:srgbClr>
            </a:outerShdw>
          </a:effectLst>
        </p:spPr>
      </p:sp>
      <p:sp>
        <p:nvSpPr>
          <p:cNvPr id="11" name="flow label save as DRAFT"/>
          <p:cNvSpPr txBox="1"/>
          <p:nvPr/>
        </p:nvSpPr>
        <p:spPr>
          <a:xfrm>
            <a:off x="3724402" y="1234440"/>
            <a:ext cx="1283716" cy="682093"/>
          </a:xfrm>
          <a:prstGeom prst="rect">
            <a:avLst/>
          </a:prstGeom>
          <a:noFill/>
          <a:ln/>
        </p:spPr>
        <p:txBody>
          <a:bodyPr wrap="square" lIns="0" tIns="0" rIns="0" bIns="0" rtlCol="0" anchor="ctr"/>
          <a:lstStyle/>
          <a:p>
            <a:pPr algn="ctr" indent="0" marL="0">
              <a:buNone/>
            </a:pPr>
            <a:r>
              <a:rPr lang="en-US" sz="1100" b="1" dirty="0">
                <a:solidFill>
                  <a:srgbClr val="072E47"/>
                </a:solidFill>
              </a:rPr>
              <a:t>save as DRAFT</a:t>
            </a:r>
            <a:endParaRPr lang="en-US" sz="1100" dirty="0"/>
          </a:p>
        </p:txBody>
      </p:sp>
      <p:sp>
        <p:nvSpPr>
          <p:cNvPr id="12" name="arrow 2"/>
          <p:cNvSpPr/>
          <p:nvPr/>
        </p:nvSpPr>
        <p:spPr>
          <a:xfrm>
            <a:off x="5088128" y="1473173"/>
            <a:ext cx="213360" cy="204628"/>
          </a:xfrm>
          <a:prstGeom prst="rightArrow">
            <a:avLst/>
          </a:prstGeom>
          <a:solidFill>
            <a:srgbClr val="0F8D91"/>
          </a:solidFill>
          <a:ln w="12700">
            <a:solidFill>
              <a:srgbClr val="0F8D91"/>
            </a:solidFill>
            <a:prstDash val="solid"/>
          </a:ln>
        </p:spPr>
      </p:sp>
      <p:sp>
        <p:nvSpPr>
          <p:cNvPr id="13" name="flow human reviews"/>
          <p:cNvSpPr/>
          <p:nvPr/>
        </p:nvSpPr>
        <p:spPr>
          <a:xfrm>
            <a:off x="5337048" y="1234440"/>
            <a:ext cx="1372616" cy="682093"/>
          </a:xfrm>
          <a:prstGeom prst="roundRect">
            <a:avLst>
              <a:gd name="adj" fmla="val 13406"/>
            </a:avLst>
          </a:prstGeom>
          <a:solidFill>
            <a:srgbClr val="5DA144"/>
          </a:solidFill>
          <a:ln w="12700">
            <a:solidFill>
              <a:srgbClr val="5DA144"/>
            </a:solidFill>
            <a:prstDash val="solid"/>
          </a:ln>
          <a:effectLst>
            <a:outerShdw sx="100000" sy="100000" kx="0" ky="0" algn="bl" rotWithShape="0" blurRad="76200" dist="25400" dir="5400000">
              <a:srgbClr val="000000">
                <a:alpha val="18000"/>
              </a:srgbClr>
            </a:outerShdw>
          </a:effectLst>
        </p:spPr>
      </p:sp>
      <p:pic>
        <p:nvPicPr>
          <p:cNvPr id="14" name="flow icon human reviews" descr="preencoded.png">    </p:cNvPr>
          <p:cNvPicPr>
            <a:picLocks noChangeAspect="1"/>
          </p:cNvPicPr>
          <p:nvPr/>
        </p:nvPicPr>
        <p:blipFill>
          <a:blip r:embed="rId1"/>
          <a:stretch>
            <a:fillRect/>
          </a:stretch>
        </p:blipFill>
        <p:spPr>
          <a:xfrm>
            <a:off x="5845556" y="1362332"/>
            <a:ext cx="355600" cy="341046"/>
          </a:xfrm>
          <a:prstGeom prst="rect">
            <a:avLst/>
          </a:prstGeom>
        </p:spPr>
      </p:pic>
      <p:sp>
        <p:nvSpPr>
          <p:cNvPr id="15" name="flow label human reviews"/>
          <p:cNvSpPr txBox="1"/>
          <p:nvPr/>
        </p:nvSpPr>
        <p:spPr>
          <a:xfrm>
            <a:off x="5381498" y="1703379"/>
            <a:ext cx="1283716" cy="170523"/>
          </a:xfrm>
          <a:prstGeom prst="rect">
            <a:avLst/>
          </a:prstGeom>
          <a:noFill/>
          <a:ln/>
        </p:spPr>
        <p:txBody>
          <a:bodyPr wrap="square" lIns="0" tIns="0" rIns="0" bIns="0" rtlCol="0" anchor="t"/>
          <a:lstStyle/>
          <a:p>
            <a:pPr algn="ctr" indent="0" marL="0">
              <a:buNone/>
            </a:pPr>
            <a:r>
              <a:rPr lang="en-US" sz="1100" b="1" dirty="0">
                <a:solidFill>
                  <a:srgbClr val="072E47"/>
                </a:solidFill>
              </a:rPr>
              <a:t>human reviews</a:t>
            </a:r>
            <a:endParaRPr lang="en-US" sz="1100" dirty="0"/>
          </a:p>
        </p:txBody>
      </p:sp>
      <p:sp>
        <p:nvSpPr>
          <p:cNvPr id="16" name="arrow 3"/>
          <p:cNvSpPr/>
          <p:nvPr/>
        </p:nvSpPr>
        <p:spPr>
          <a:xfrm>
            <a:off x="6745224" y="1473173"/>
            <a:ext cx="213360" cy="204628"/>
          </a:xfrm>
          <a:prstGeom prst="rightArrow">
            <a:avLst/>
          </a:prstGeom>
          <a:solidFill>
            <a:srgbClr val="0F8D91"/>
          </a:solidFill>
          <a:ln w="12700">
            <a:solidFill>
              <a:srgbClr val="0F8D91"/>
            </a:solidFill>
            <a:prstDash val="solid"/>
          </a:ln>
        </p:spPr>
      </p:sp>
      <p:sp>
        <p:nvSpPr>
          <p:cNvPr id="17" name="flow PUBLISHED"/>
          <p:cNvSpPr/>
          <p:nvPr/>
        </p:nvSpPr>
        <p:spPr>
          <a:xfrm>
            <a:off x="6994144" y="1234440"/>
            <a:ext cx="1372616" cy="682093"/>
          </a:xfrm>
          <a:prstGeom prst="roundRect">
            <a:avLst>
              <a:gd name="adj" fmla="val 13406"/>
            </a:avLst>
          </a:prstGeom>
          <a:solidFill>
            <a:srgbClr val="04B1A4"/>
          </a:solidFill>
          <a:ln w="12700">
            <a:solidFill>
              <a:srgbClr val="04B1A4"/>
            </a:solidFill>
            <a:prstDash val="solid"/>
          </a:ln>
          <a:effectLst>
            <a:outerShdw sx="100000" sy="100000" kx="0" ky="0" algn="bl" rotWithShape="0" blurRad="76200" dist="25400" dir="5400000">
              <a:srgbClr val="000000">
                <a:alpha val="18000"/>
              </a:srgbClr>
            </a:outerShdw>
          </a:effectLst>
        </p:spPr>
      </p:sp>
      <p:pic>
        <p:nvPicPr>
          <p:cNvPr id="18" name="flow icon PUBLISHED" descr="preencoded.png">    </p:cNvPr>
          <p:cNvPicPr>
            <a:picLocks noChangeAspect="1"/>
          </p:cNvPicPr>
          <p:nvPr/>
        </p:nvPicPr>
        <p:blipFill>
          <a:blip r:embed="rId2"/>
          <a:stretch>
            <a:fillRect/>
          </a:stretch>
        </p:blipFill>
        <p:spPr>
          <a:xfrm>
            <a:off x="7502652" y="1362332"/>
            <a:ext cx="355600" cy="341046"/>
          </a:xfrm>
          <a:prstGeom prst="rect">
            <a:avLst/>
          </a:prstGeom>
        </p:spPr>
      </p:pic>
      <p:sp>
        <p:nvSpPr>
          <p:cNvPr id="19" name="flow label PUBLISHED"/>
          <p:cNvSpPr txBox="1"/>
          <p:nvPr/>
        </p:nvSpPr>
        <p:spPr>
          <a:xfrm>
            <a:off x="7038594" y="1703379"/>
            <a:ext cx="1283716" cy="170523"/>
          </a:xfrm>
          <a:prstGeom prst="rect">
            <a:avLst/>
          </a:prstGeom>
          <a:noFill/>
          <a:ln/>
        </p:spPr>
        <p:txBody>
          <a:bodyPr wrap="square" lIns="0" tIns="0" rIns="0" bIns="0" rtlCol="0" anchor="t"/>
          <a:lstStyle/>
          <a:p>
            <a:pPr algn="ctr" indent="0" marL="0">
              <a:buNone/>
            </a:pPr>
            <a:r>
              <a:rPr lang="en-US" sz="1100" b="1" dirty="0">
                <a:solidFill>
                  <a:srgbClr val="072E47"/>
                </a:solidFill>
              </a:rPr>
              <a:t>PUBLISHED</a:t>
            </a:r>
            <a:endParaRPr lang="en-US" sz="1100" dirty="0"/>
          </a:p>
        </p:txBody>
      </p:sp>
      <p:sp>
        <p:nvSpPr>
          <p:cNvPr id="20" name="code card"/>
          <p:cNvSpPr/>
          <p:nvPr/>
        </p:nvSpPr>
        <p:spPr>
          <a:xfrm>
            <a:off x="365760" y="2087056"/>
            <a:ext cx="5511800" cy="2344695"/>
          </a:xfrm>
          <a:prstGeom prst="roundRect">
            <a:avLst>
              <a:gd name="adj" fmla="val 4680"/>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21" name="file label"/>
          <p:cNvSpPr/>
          <p:nvPr/>
        </p:nvSpPr>
        <p:spPr>
          <a:xfrm>
            <a:off x="543560" y="2189370"/>
            <a:ext cx="1444625" cy="238733"/>
          </a:xfrm>
          <a:prstGeom prst="roundRect">
            <a:avLst>
              <a:gd name="adj" fmla="val 30642"/>
            </a:avLst>
          </a:prstGeom>
          <a:solidFill>
            <a:srgbClr val="F99508"/>
          </a:solidFill>
          <a:ln w="12700">
            <a:solidFill>
              <a:srgbClr val="F99508"/>
            </a:solidFill>
            <a:prstDash val="solid"/>
          </a:ln>
        </p:spPr>
      </p:sp>
      <p:sp>
        <p:nvSpPr>
          <p:cNvPr id="22" name="file label text"/>
          <p:cNvSpPr txBox="1"/>
          <p:nvPr/>
        </p:nvSpPr>
        <p:spPr>
          <a:xfrm>
            <a:off x="543560" y="2189370"/>
            <a:ext cx="144462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reviewers/ai.py</a:t>
            </a:r>
            <a:endParaRPr lang="en-US" sz="1000" dirty="0"/>
          </a:p>
        </p:txBody>
      </p:sp>
      <p:sp>
        <p:nvSpPr>
          <p:cNvPr id="23" name="code"/>
          <p:cNvSpPr txBox="1"/>
          <p:nvPr/>
        </p:nvSpPr>
        <p:spPr>
          <a:xfrm>
            <a:off x="588010" y="2513364"/>
            <a:ext cx="5067300" cy="1790494"/>
          </a:xfrm>
          <a:prstGeom prst="rect">
            <a:avLst/>
          </a:prstGeom>
          <a:noFill/>
          <a:ln/>
        </p:spPr>
        <p:txBody>
          <a:bodyPr wrap="square" lIns="0" tIns="0" rIns="0" bIns="0" rtlCol="0" anchor="t"/>
          <a:lstStyle/>
          <a:p>
            <a:pPr indent="0" marL="0">
              <a:buNone/>
            </a:pPr>
            <a:r>
              <a:rPr lang="en-US" sz="1100" dirty="0">
                <a:solidFill>
                  <a:srgbClr val="A6E22E"/>
                </a:solidFill>
                <a:latin typeface="Courier New" pitchFamily="34" charset="0"/>
                <a:ea typeface="Courier New" pitchFamily="34" charset="-122"/>
                <a:cs typeface="Courier New" pitchFamily="34" charset="-120"/>
              </a:rPr>
              <a:t>@transaction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A6E22E"/>
                </a:solidFill>
                <a:latin typeface="Courier New" pitchFamily="34" charset="0"/>
                <a:ea typeface="Courier New" pitchFamily="34" charset="-122"/>
                <a:cs typeface="Courier New" pitchFamily="34" charset="-120"/>
              </a:rPr>
              <a:t>atomic</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9A9B8C"/>
                </a:solidFill>
                <a:latin typeface="Courier New" pitchFamily="34" charset="0"/>
                <a:ea typeface="Courier New" pitchFamily="34" charset="-122"/>
                <a:cs typeface="Courier New" pitchFamily="34" charset="-120"/>
              </a:rPr>
              <a:t># all or nothing</a:t>
            </a:r>
            <a:endParaRPr lang="en-US" sz="1100" dirty="0"/>
          </a:p>
          <a:p>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save_as_drafts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questions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for</a:t>
            </a:r>
            <a:pPr indent="0" marL="0">
              <a:buNone/>
            </a:pPr>
            <a:r>
              <a:rPr lang="en-US" sz="1100" dirty="0">
                <a:solidFill>
                  <a:srgbClr val="F8F8F2"/>
                </a:solidFill>
                <a:latin typeface="Courier New" pitchFamily="34" charset="0"/>
                <a:ea typeface="Courier New" pitchFamily="34" charset="-122"/>
                <a:cs typeface="Courier New" pitchFamily="34" charset="-120"/>
              </a:rPr>
              <a:t> item </a:t>
            </a:r>
            <a:pPr indent="0" marL="0">
              <a:buNone/>
            </a:pPr>
            <a:r>
              <a:rPr lang="en-US" sz="1100" dirty="0">
                <a:solidFill>
                  <a:srgbClr val="F92672"/>
                </a:solidFill>
                <a:latin typeface="Courier New" pitchFamily="34" charset="0"/>
                <a:ea typeface="Courier New" pitchFamily="34" charset="-122"/>
                <a:cs typeface="Courier New" pitchFamily="34" charset="-120"/>
              </a:rPr>
              <a:t>in</a:t>
            </a:r>
            <a:pPr indent="0" marL="0">
              <a:buNone/>
            </a:pPr>
            <a:r>
              <a:rPr lang="en-US" sz="1100" dirty="0">
                <a:solidFill>
                  <a:srgbClr val="F8F8F2"/>
                </a:solidFill>
                <a:latin typeface="Courier New" pitchFamily="34" charset="0"/>
                <a:ea typeface="Courier New" pitchFamily="34" charset="-122"/>
                <a:cs typeface="Courier New" pitchFamily="34" charset="-120"/>
              </a:rPr>
              <a:t> questions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q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objects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create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reviewer</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text</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item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question_type</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item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"type"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status</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Status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DRAFT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9A9B8C"/>
                </a:solidFill>
                <a:latin typeface="Courier New" pitchFamily="34" charset="0"/>
                <a:ea typeface="Courier New" pitchFamily="34" charset="-122"/>
                <a:cs typeface="Courier New" pitchFamily="34" charset="-120"/>
              </a:rPr>
              <a:t># hidden!</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for</a:t>
            </a:r>
            <a:pPr indent="0" marL="0">
              <a:buNone/>
            </a:pPr>
            <a:r>
              <a:rPr lang="en-US" sz="1100" dirty="0">
                <a:solidFill>
                  <a:srgbClr val="F8F8F2"/>
                </a:solidFill>
                <a:latin typeface="Courier New" pitchFamily="34" charset="0"/>
                <a:ea typeface="Courier New" pitchFamily="34" charset="-122"/>
                <a:cs typeface="Courier New" pitchFamily="34" charset="-120"/>
              </a:rPr>
              <a:t> c </a:t>
            </a:r>
            <a:pPr indent="0" marL="0">
              <a:buNone/>
            </a:pPr>
            <a:r>
              <a:rPr lang="en-US" sz="1100" dirty="0">
                <a:solidFill>
                  <a:srgbClr val="F92672"/>
                </a:solidFill>
                <a:latin typeface="Courier New" pitchFamily="34" charset="0"/>
                <a:ea typeface="Courier New" pitchFamily="34" charset="-122"/>
                <a:cs typeface="Courier New" pitchFamily="34" charset="-120"/>
              </a:rPr>
              <a:t>in</a:t>
            </a:r>
            <a:pPr indent="0" marL="0">
              <a:buNone/>
            </a:pPr>
            <a:r>
              <a:rPr lang="en-US" sz="1100" dirty="0">
                <a:solidFill>
                  <a:srgbClr val="F8F8F2"/>
                </a:solidFill>
                <a:latin typeface="Courier New" pitchFamily="34" charset="0"/>
                <a:ea typeface="Courier New" pitchFamily="34" charset="-122"/>
                <a:cs typeface="Courier New" pitchFamily="34" charset="-120"/>
              </a:rPr>
              <a:t> item</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get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"choices"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Choice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objects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create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question</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q</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c</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24" name="card Why drafts?"/>
          <p:cNvSpPr/>
          <p:nvPr/>
        </p:nvSpPr>
        <p:spPr>
          <a:xfrm>
            <a:off x="6055360" y="2087056"/>
            <a:ext cx="2311400" cy="2344695"/>
          </a:xfrm>
          <a:prstGeom prst="roundRect">
            <a:avLst>
              <a:gd name="adj" fmla="val 4747"/>
            </a:avLst>
          </a:prstGeom>
          <a:solidFill>
            <a:srgbClr val="FFFFFF"/>
          </a:solidFill>
          <a:ln w="12700">
            <a:solidFill>
              <a:srgbClr val="FFFFFF"/>
            </a:solidFill>
            <a:prstDash val="solid"/>
          </a:ln>
        </p:spPr>
      </p:sp>
      <p:sp>
        <p:nvSpPr>
          <p:cNvPr id="25" name="card title Why drafts?"/>
          <p:cNvSpPr txBox="1"/>
          <p:nvPr/>
        </p:nvSpPr>
        <p:spPr>
          <a:xfrm>
            <a:off x="6233160" y="2214949"/>
            <a:ext cx="1955800" cy="341046"/>
          </a:xfrm>
          <a:prstGeom prst="rect">
            <a:avLst/>
          </a:prstGeom>
          <a:noFill/>
          <a:ln/>
        </p:spPr>
        <p:txBody>
          <a:bodyPr wrap="square" lIns="0" tIns="0" rIns="0" bIns="0" rtlCol="0" anchor="ctr"/>
          <a:lstStyle/>
          <a:p>
            <a:pPr indent="0" marL="0">
              <a:buNone/>
            </a:pPr>
            <a:r>
              <a:rPr lang="en-US" sz="1200" b="1" dirty="0">
                <a:solidFill>
                  <a:srgbClr val="072E47"/>
                </a:solidFill>
              </a:rPr>
              <a:t>Why drafts?</a:t>
            </a:r>
            <a:endParaRPr lang="en-US" sz="1200" dirty="0"/>
          </a:p>
        </p:txBody>
      </p:sp>
      <p:sp>
        <p:nvSpPr>
          <p:cNvPr id="26" name="card body Why drafts?"/>
          <p:cNvSpPr txBox="1"/>
          <p:nvPr/>
        </p:nvSpPr>
        <p:spPr>
          <a:xfrm>
            <a:off x="6233160" y="2598626"/>
            <a:ext cx="1955800" cy="17052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0F8D91"/>
                </a:solidFill>
              </a:rPr>
              <a:t>Valid JSON can still be a bad question</a:t>
            </a:r>
            <a:endParaRPr lang="en-US" sz="1200" dirty="0"/>
          </a:p>
          <a:p>
            <a:pPr marL="342900" indent="-342900">
              <a:spcAft>
                <a:spcPts val="400"/>
              </a:spcAft>
              <a:buSzPct val="100000"/>
              <a:buChar char="•"/>
            </a:pPr>
            <a:r>
              <a:rPr lang="en-US" sz="1200" dirty="0">
                <a:solidFill>
                  <a:srgbClr val="0F8D91"/>
                </a:solidFill>
              </a:rPr>
              <a:t>The creator knows the students</a:t>
            </a:r>
            <a:endParaRPr lang="en-US" sz="1200" dirty="0"/>
          </a:p>
          <a:p>
            <a:pPr marL="342900" indent="-342900">
              <a:spcAft>
                <a:spcPts val="400"/>
              </a:spcAft>
              <a:buSzPct val="100000"/>
              <a:buChar char="•"/>
            </a:pPr>
            <a:r>
              <a:rPr lang="en-US" sz="1200" dirty="0">
                <a:solidFill>
                  <a:srgbClr val="0F8D91"/>
                </a:solidFill>
              </a:rPr>
              <a:t>A wrong key teaches the wrong thing</a:t>
            </a:r>
            <a:endParaRPr lang="en-US" sz="1200" dirty="0"/>
          </a:p>
          <a:p>
            <a:pPr marL="342900" indent="-342900">
              <a:spcAft>
                <a:spcPts val="400"/>
              </a:spcAft>
              <a:buSzPct val="100000"/>
              <a:buChar char="•"/>
            </a:pPr>
            <a:r>
              <a:rPr lang="en-US" sz="1200" dirty="0">
                <a:solidFill>
                  <a:srgbClr val="0F8D91"/>
                </a:solidFill>
              </a:rPr>
              <a:t>Accept the good, reject the rest</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19 · The generate view</a:t>
            </a:r>
            <a:endParaRPr lang="en-US" sz="2400" dirty="0"/>
          </a:p>
        </p:txBody>
      </p:sp>
      <p:sp>
        <p:nvSpPr>
          <p:cNvPr id="4" name="code card"/>
          <p:cNvSpPr/>
          <p:nvPr/>
        </p:nvSpPr>
        <p:spPr>
          <a:xfrm>
            <a:off x="365760" y="1234440"/>
            <a:ext cx="55118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3107055"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310705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reviewers/views.py  (compact version)</a:t>
            </a:r>
            <a:endParaRPr lang="en-US" sz="1000" dirty="0"/>
          </a:p>
        </p:txBody>
      </p:sp>
      <p:sp>
        <p:nvSpPr>
          <p:cNvPr id="7" name="code"/>
          <p:cNvSpPr txBox="1"/>
          <p:nvPr/>
        </p:nvSpPr>
        <p:spPr>
          <a:xfrm>
            <a:off x="588010" y="1660748"/>
            <a:ext cx="5067300" cy="2600479"/>
          </a:xfrm>
          <a:prstGeom prst="rect">
            <a:avLst/>
          </a:prstGeom>
          <a:noFill/>
          <a:ln/>
        </p:spPr>
        <p:txBody>
          <a:bodyPr wrap="square" lIns="0" tIns="0" rIns="0" bIns="0" rtlCol="0" anchor="t"/>
          <a:lstStyle/>
          <a:p>
            <a:pPr indent="0" marL="0">
              <a:buNone/>
            </a:pPr>
            <a:r>
              <a:rPr lang="en-US" sz="1150" dirty="0">
                <a:solidFill>
                  <a:srgbClr val="F92672"/>
                </a:solidFill>
                <a:latin typeface="Courier New" pitchFamily="34" charset="0"/>
                <a:ea typeface="Courier New" pitchFamily="34" charset="-122"/>
                <a:cs typeface="Courier New" pitchFamily="34" charset="-120"/>
              </a:rPr>
              <a:t>def</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6E22E"/>
                </a:solidFill>
                <a:latin typeface="Courier New" pitchFamily="34" charset="0"/>
                <a:ea typeface="Courier New" pitchFamily="34" charset="-122"/>
                <a:cs typeface="Courier New" pitchFamily="34" charset="-120"/>
              </a:rPr>
              <a:t>generate</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request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slug</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reviewer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get_object_or_404</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Reviewer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slug</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slug</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form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GenerateForm</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request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POST </a:t>
            </a:r>
            <a:pPr indent="0" marL="0">
              <a:buNone/>
            </a:pPr>
            <a:r>
              <a:rPr lang="en-US" sz="1150" dirty="0">
                <a:solidFill>
                  <a:srgbClr val="F92672"/>
                </a:solidFill>
                <a:latin typeface="Courier New" pitchFamily="34" charset="0"/>
                <a:ea typeface="Courier New" pitchFamily="34" charset="-122"/>
                <a:cs typeface="Courier New" pitchFamily="34" charset="-120"/>
              </a:rPr>
              <a:t>or</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AE81FF"/>
                </a:solidFill>
                <a:latin typeface="Courier New" pitchFamily="34" charset="0"/>
                <a:ea typeface="Courier New" pitchFamily="34" charset="-122"/>
                <a:cs typeface="Courier New" pitchFamily="34" charset="-120"/>
              </a:rPr>
              <a:t>None</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if</a:t>
            </a:r>
            <a:pPr indent="0" marL="0">
              <a:buNone/>
            </a:pPr>
            <a:r>
              <a:rPr lang="en-US" sz="1150" dirty="0">
                <a:solidFill>
                  <a:srgbClr val="F8F8F2"/>
                </a:solidFill>
                <a:latin typeface="Courier New" pitchFamily="34" charset="0"/>
                <a:ea typeface="Courier New" pitchFamily="34" charset="-122"/>
                <a:cs typeface="Courier New" pitchFamily="34" charset="-120"/>
              </a:rPr>
              <a:t> request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method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"POST"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and</a:t>
            </a:r>
            <a:pPr indent="0" marL="0">
              <a:buNone/>
            </a:pPr>
            <a:r>
              <a:rPr lang="en-US" sz="1150" dirty="0">
                <a:solidFill>
                  <a:srgbClr val="F8F8F2"/>
                </a:solidFill>
                <a:latin typeface="Courier New" pitchFamily="34" charset="0"/>
                <a:ea typeface="Courier New" pitchFamily="34" charset="-122"/>
                <a:cs typeface="Courier New" pitchFamily="34" charset="-120"/>
              </a:rPr>
              <a:t> form</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is_valid</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d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form</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cleaned_data</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try</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n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generate_questions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reviewer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d</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except</a:t>
            </a:r>
            <a:pPr indent="0" marL="0">
              <a:buNone/>
            </a:pPr>
            <a:r>
              <a:rPr lang="en-US" sz="1150" dirty="0">
                <a:solidFill>
                  <a:srgbClr val="F8F8F2"/>
                </a:solidFill>
                <a:latin typeface="Courier New" pitchFamily="34" charset="0"/>
                <a:ea typeface="Courier New" pitchFamily="34" charset="-122"/>
                <a:cs typeface="Courier New" pitchFamily="34" charset="-120"/>
              </a:rPr>
              <a:t> AIError </a:t>
            </a:r>
            <a:pPr indent="0" marL="0">
              <a:buNone/>
            </a:pPr>
            <a:r>
              <a:rPr lang="en-US" sz="1150" dirty="0">
                <a:solidFill>
                  <a:srgbClr val="F92672"/>
                </a:solidFill>
                <a:latin typeface="Courier New" pitchFamily="34" charset="0"/>
                <a:ea typeface="Courier New" pitchFamily="34" charset="-122"/>
                <a:cs typeface="Courier New" pitchFamily="34" charset="-120"/>
              </a:rPr>
              <a:t>as</a:t>
            </a:r>
            <a:pPr indent="0" marL="0">
              <a:buNone/>
            </a:pPr>
            <a:r>
              <a:rPr lang="en-US" sz="1150" dirty="0">
                <a:solidFill>
                  <a:srgbClr val="F8F8F2"/>
                </a:solidFill>
                <a:latin typeface="Courier New" pitchFamily="34" charset="0"/>
                <a:ea typeface="Courier New" pitchFamily="34" charset="-122"/>
                <a:cs typeface="Courier New" pitchFamily="34" charset="-120"/>
              </a:rPr>
              <a:t> exc</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messages</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error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request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f"AI error: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exc</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else</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return</a:t>
            </a:r>
            <a:pPr indent="0" marL="0">
              <a:buNone/>
            </a:pPr>
            <a:r>
              <a:rPr lang="en-US" sz="1150" dirty="0">
                <a:solidFill>
                  <a:srgbClr val="F8F8F2"/>
                </a:solidFill>
                <a:latin typeface="Courier New" pitchFamily="34" charset="0"/>
                <a:ea typeface="Courier New" pitchFamily="34" charset="-122"/>
                <a:cs typeface="Courier New" pitchFamily="34" charset="-120"/>
              </a:rPr>
              <a:t> redirect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"reviewers:review_drafts"</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slug</a:t>
            </a:r>
            <a:pPr indent="0" marL="0">
              <a:buNone/>
            </a:pPr>
            <a:r>
              <a:rPr lang="en-US" sz="1150" dirty="0">
                <a:solidFill>
                  <a:srgbClr val="F9267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slug</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92672"/>
                </a:solidFill>
                <a:latin typeface="Courier New" pitchFamily="34" charset="0"/>
                <a:ea typeface="Courier New" pitchFamily="34" charset="-122"/>
                <a:cs typeface="Courier New" pitchFamily="34" charset="-120"/>
              </a:rPr>
              <a:t>return</a:t>
            </a:r>
            <a:pPr indent="0" marL="0">
              <a:buNone/>
            </a:pPr>
            <a:r>
              <a:rPr lang="en-US" sz="1150" dirty="0">
                <a:solidFill>
                  <a:srgbClr val="F8F8F2"/>
                </a:solidFill>
                <a:latin typeface="Courier New" pitchFamily="34" charset="0"/>
                <a:ea typeface="Courier New" pitchFamily="34" charset="-122"/>
                <a:cs typeface="Courier New" pitchFamily="34" charset="-120"/>
              </a:rPr>
              <a:t> render</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request</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E6DB74"/>
                </a:solidFill>
                <a:latin typeface="Courier New" pitchFamily="34" charset="0"/>
                <a:ea typeface="Courier New" pitchFamily="34" charset="-122"/>
                <a:cs typeface="Courier New" pitchFamily="34" charset="-120"/>
              </a:rPr>
              <a:t>"reviewers/generate.html"</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8F8F2"/>
                </a:solidFill>
                <a:latin typeface="Courier New" pitchFamily="34" charset="0"/>
                <a:ea typeface="Courier New" pitchFamily="34" charset="-122"/>
                <a:cs typeface="Courier New" pitchFamily="34" charset="-120"/>
              </a:rPr>
              <a:t>                  </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E6DB74"/>
                </a:solidFill>
                <a:latin typeface="Courier New" pitchFamily="34" charset="0"/>
                <a:ea typeface="Courier New" pitchFamily="34" charset="-122"/>
                <a:cs typeface="Courier New" pitchFamily="34" charset="-120"/>
              </a:rPr>
              <a:t>"form"</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 form</a:t>
            </a:r>
            <a:pPr indent="0" marL="0">
              <a:buNone/>
            </a:pPr>
            <a:r>
              <a:rPr lang="en-US" sz="1150" dirty="0">
                <a:solidFill>
                  <a:srgbClr val="F8F8F2"/>
                </a:solidFill>
                <a:latin typeface="Courier New" pitchFamily="34" charset="0"/>
                <a:ea typeface="Courier New" pitchFamily="34" charset="-122"/>
                <a:cs typeface="Courier New" pitchFamily="34" charset="-120"/>
              </a:rPr>
              <a:t>}</a:t>
            </a:r>
            <a:pPr indent="0" marL="0">
              <a:buNone/>
            </a:pPr>
            <a:r>
              <a:rPr lang="en-US" sz="1150" dirty="0">
                <a:solidFill>
                  <a:srgbClr val="F8F8F2"/>
                </a:solidFill>
                <a:latin typeface="Courier New" pitchFamily="34" charset="0"/>
                <a:ea typeface="Courier New" pitchFamily="34" charset="-122"/>
                <a:cs typeface="Courier New" pitchFamily="34" charset="-120"/>
              </a:rPr>
              <a:t>)</a:t>
            </a:r>
            <a:endParaRPr lang="en-US" sz="1150" dirty="0"/>
          </a:p>
        </p:txBody>
      </p:sp>
      <p:sp>
        <p:nvSpPr>
          <p:cNvPr id="8" name="badge 1"/>
          <p:cNvSpPr/>
          <p:nvPr/>
        </p:nvSpPr>
        <p:spPr>
          <a:xfrm>
            <a:off x="6055360" y="1277071"/>
            <a:ext cx="320040" cy="306942"/>
          </a:xfrm>
          <a:prstGeom prst="ellipse">
            <a:avLst/>
          </a:prstGeom>
          <a:solidFill>
            <a:srgbClr val="F99508"/>
          </a:solidFill>
          <a:ln w="12700">
            <a:solidFill>
              <a:srgbClr val="F99508"/>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724724"/>
          </a:xfrm>
          <a:prstGeom prst="rect">
            <a:avLst/>
          </a:prstGeom>
          <a:noFill/>
          <a:ln/>
        </p:spPr>
        <p:txBody>
          <a:bodyPr wrap="square" lIns="0" tIns="0" rIns="0" bIns="0" rtlCol="0" anchor="t"/>
          <a:lstStyle/>
          <a:p>
            <a:pPr indent="0" marL="0">
              <a:buNone/>
            </a:pPr>
            <a:r>
              <a:rPr lang="en-US" sz="1200" b="1" dirty="0">
                <a:solidFill>
                  <a:srgbClr val="000000"/>
                </a:solidFill>
              </a:rPr>
              <a:t>form.is_valid()</a:t>
            </a:r>
            <a:endParaRPr lang="en-US" sz="1200" dirty="0"/>
          </a:p>
          <a:p>
            <a:pPr indent="0" marL="0">
              <a:buNone/>
            </a:pPr>
            <a:r>
              <a:rPr lang="en-US" sz="1200" dirty="0">
                <a:solidFill>
                  <a:srgbClr val="0F8D91"/>
                </a:solidFill>
              </a:rPr>
              <a:t>Guardrail #1, before any API call.</a:t>
            </a:r>
            <a:endParaRPr lang="en-US" sz="1200" dirty="0"/>
          </a:p>
        </p:txBody>
      </p:sp>
      <p:sp>
        <p:nvSpPr>
          <p:cNvPr id="11" name="badge 2"/>
          <p:cNvSpPr/>
          <p:nvPr/>
        </p:nvSpPr>
        <p:spPr>
          <a:xfrm>
            <a:off x="6055360" y="2044425"/>
            <a:ext cx="320040" cy="306942"/>
          </a:xfrm>
          <a:prstGeom prst="ellipse">
            <a:avLst/>
          </a:prstGeom>
          <a:solidFill>
            <a:srgbClr val="04B1A4"/>
          </a:solidFill>
          <a:ln w="12700">
            <a:solidFill>
              <a:srgbClr val="04B1A4"/>
            </a:solidFill>
            <a:prstDash val="solid"/>
          </a:ln>
        </p:spPr>
      </p:sp>
      <p:sp>
        <p:nvSpPr>
          <p:cNvPr id="12" name="badge 2 text"/>
          <p:cNvSpPr txBox="1"/>
          <p:nvPr/>
        </p:nvSpPr>
        <p:spPr>
          <a:xfrm>
            <a:off x="6055360" y="2044425"/>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001795"/>
            <a:ext cx="1884680" cy="724724"/>
          </a:xfrm>
          <a:prstGeom prst="rect">
            <a:avLst/>
          </a:prstGeom>
          <a:noFill/>
          <a:ln/>
        </p:spPr>
        <p:txBody>
          <a:bodyPr wrap="square" lIns="0" tIns="0" rIns="0" bIns="0" rtlCol="0" anchor="t"/>
          <a:lstStyle/>
          <a:p>
            <a:pPr indent="0" marL="0">
              <a:buNone/>
            </a:pPr>
            <a:r>
              <a:rPr lang="en-US" sz="1200" b="1" dirty="0">
                <a:solidFill>
                  <a:srgbClr val="000000"/>
                </a:solidFill>
              </a:rPr>
              <a:t>generate_questions()</a:t>
            </a:r>
            <a:endParaRPr lang="en-US" sz="1200" dirty="0"/>
          </a:p>
          <a:p>
            <a:pPr indent="0" marL="0">
              <a:buNone/>
            </a:pPr>
            <a:r>
              <a:rPr lang="en-US" sz="1200" dirty="0">
                <a:solidFill>
                  <a:srgbClr val="0F8D91"/>
                </a:solidFill>
              </a:rPr>
              <a:t>prompt → AI → validate → drafts, all in ai.py.</a:t>
            </a:r>
            <a:endParaRPr lang="en-US" sz="1200" dirty="0"/>
          </a:p>
        </p:txBody>
      </p:sp>
      <p:sp>
        <p:nvSpPr>
          <p:cNvPr id="14" name="badge 3"/>
          <p:cNvSpPr/>
          <p:nvPr/>
        </p:nvSpPr>
        <p:spPr>
          <a:xfrm>
            <a:off x="6055360" y="2811780"/>
            <a:ext cx="320040" cy="306942"/>
          </a:xfrm>
          <a:prstGeom prst="ellipse">
            <a:avLst/>
          </a:prstGeom>
          <a:solidFill>
            <a:srgbClr val="D9534F"/>
          </a:solidFill>
          <a:ln w="12700">
            <a:solidFill>
              <a:srgbClr val="D9534F"/>
            </a:solidFill>
            <a:prstDash val="solid"/>
          </a:ln>
        </p:spPr>
      </p:sp>
      <p:sp>
        <p:nvSpPr>
          <p:cNvPr id="15" name="badge 3 text"/>
          <p:cNvSpPr txBox="1"/>
          <p:nvPr/>
        </p:nvSpPr>
        <p:spPr>
          <a:xfrm>
            <a:off x="6055360" y="2811780"/>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2769149"/>
            <a:ext cx="1884680" cy="724724"/>
          </a:xfrm>
          <a:prstGeom prst="rect">
            <a:avLst/>
          </a:prstGeom>
          <a:noFill/>
          <a:ln/>
        </p:spPr>
        <p:txBody>
          <a:bodyPr wrap="square" lIns="0" tIns="0" rIns="0" bIns="0" rtlCol="0" anchor="t"/>
          <a:lstStyle/>
          <a:p>
            <a:pPr indent="0" marL="0">
              <a:buNone/>
            </a:pPr>
            <a:r>
              <a:rPr lang="en-US" sz="1200" b="1" dirty="0">
                <a:solidFill>
                  <a:srgbClr val="000000"/>
                </a:solidFill>
              </a:rPr>
              <a:t>except AIError</a:t>
            </a:r>
            <a:endParaRPr lang="en-US" sz="1200" dirty="0"/>
          </a:p>
          <a:p>
            <a:pPr indent="0" marL="0">
              <a:buNone/>
            </a:pPr>
            <a:r>
              <a:rPr lang="en-US" sz="1200" dirty="0">
                <a:solidFill>
                  <a:srgbClr val="0F8D91"/>
                </a:solidFill>
              </a:rPr>
              <a:t>Bad reply? Red message, nothing saved.</a:t>
            </a:r>
            <a:endParaRPr lang="en-US" sz="1200" dirty="0"/>
          </a:p>
        </p:txBody>
      </p:sp>
      <p:sp>
        <p:nvSpPr>
          <p:cNvPr id="17" name="card Try it"/>
          <p:cNvSpPr/>
          <p:nvPr/>
        </p:nvSpPr>
        <p:spPr>
          <a:xfrm>
            <a:off x="6055360" y="3536504"/>
            <a:ext cx="2311400" cy="852616"/>
          </a:xfrm>
          <a:prstGeom prst="roundRect">
            <a:avLst>
              <a:gd name="adj" fmla="val 12870"/>
            </a:avLst>
          </a:prstGeom>
          <a:solidFill>
            <a:srgbClr val="FFFFFF"/>
          </a:solidFill>
          <a:ln w="12700">
            <a:solidFill>
              <a:srgbClr val="FFFFFF"/>
            </a:solidFill>
            <a:prstDash val="solid"/>
          </a:ln>
        </p:spPr>
      </p:sp>
      <p:sp>
        <p:nvSpPr>
          <p:cNvPr id="18" name="card title Try it"/>
          <p:cNvSpPr txBox="1"/>
          <p:nvPr/>
        </p:nvSpPr>
        <p:spPr>
          <a:xfrm>
            <a:off x="6233160" y="3664396"/>
            <a:ext cx="1955800" cy="341046"/>
          </a:xfrm>
          <a:prstGeom prst="rect">
            <a:avLst/>
          </a:prstGeom>
          <a:noFill/>
          <a:ln/>
        </p:spPr>
        <p:txBody>
          <a:bodyPr wrap="square" lIns="0" tIns="0" rIns="0" bIns="0" rtlCol="0" anchor="ctr"/>
          <a:lstStyle/>
          <a:p>
            <a:pPr indent="0" marL="0">
              <a:buNone/>
            </a:pPr>
            <a:r>
              <a:rPr lang="en-US" sz="1300" b="1" dirty="0">
                <a:solidFill>
                  <a:srgbClr val="072E47"/>
                </a:solidFill>
              </a:rPr>
              <a:t>Try it</a:t>
            </a:r>
            <a:endParaRPr lang="en-US" sz="1300" dirty="0"/>
          </a:p>
        </p:txBody>
      </p:sp>
      <p:sp>
        <p:nvSpPr>
          <p:cNvPr id="19" name="card body Try it"/>
          <p:cNvSpPr txBox="1"/>
          <p:nvPr/>
        </p:nvSpPr>
        <p:spPr>
          <a:xfrm>
            <a:off x="6233160" y="4048074"/>
            <a:ext cx="1955800" cy="213154"/>
          </a:xfrm>
          <a:prstGeom prst="rect">
            <a:avLst/>
          </a:prstGeom>
          <a:noFill/>
          <a:ln/>
        </p:spPr>
        <p:txBody>
          <a:bodyPr wrap="square" lIns="0" tIns="0" rIns="0" bIns="0" rtlCol="0" anchor="t"/>
          <a:lstStyle/>
          <a:p>
            <a:pPr indent="0" marL="0">
              <a:spcAft>
                <a:spcPts val="400"/>
              </a:spcAft>
              <a:buNone/>
            </a:pPr>
            <a:r>
              <a:rPr lang="en-US" sz="1200" dirty="0">
                <a:solidFill>
                  <a:srgbClr val="0F8D91"/>
                </a:solidFill>
              </a:rPr>
              <a:t>5 questions, 60% multiple choice, beginner.</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20 · The review page: accept or reject</a:t>
            </a:r>
            <a:endParaRPr lang="en-US" sz="2400" dirty="0"/>
          </a:p>
        </p:txBody>
      </p:sp>
      <p:sp>
        <p:nvSpPr>
          <p:cNvPr id="4" name="code card"/>
          <p:cNvSpPr/>
          <p:nvPr/>
        </p:nvSpPr>
        <p:spPr>
          <a:xfrm>
            <a:off x="365760" y="1234440"/>
            <a:ext cx="34671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67132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review_drafts.html</a:t>
            </a:r>
            <a:endParaRPr lang="en-US" sz="1000" dirty="0"/>
          </a:p>
        </p:txBody>
      </p:sp>
      <p:sp>
        <p:nvSpPr>
          <p:cNvPr id="7" name="code"/>
          <p:cNvSpPr txBox="1"/>
          <p:nvPr/>
        </p:nvSpPr>
        <p:spPr>
          <a:xfrm>
            <a:off x="588010" y="1660748"/>
            <a:ext cx="3022600" cy="2600479"/>
          </a:xfrm>
          <a:prstGeom prst="rect">
            <a:avLst/>
          </a:prstGeom>
          <a:noFill/>
          <a:ln/>
        </p:spPr>
        <p:txBody>
          <a:bodyPr wrap="square" lIns="0" tIns="0" rIns="0" bIns="0" rtlCol="0" anchor="t"/>
          <a:lstStyle/>
          <a:p>
            <a:pPr indent="0" marL="0">
              <a:buNone/>
            </a:pPr>
            <a:r>
              <a:rPr lang="en-US" sz="1100" dirty="0">
                <a:solidFill>
                  <a:srgbClr val="F8F8F2"/>
                </a:solidFill>
                <a:latin typeface="Courier New" pitchFamily="34" charset="0"/>
                <a:ea typeface="Courier New" pitchFamily="34" charset="-122"/>
                <a:cs typeface="Courier New" pitchFamily="34" charset="-120"/>
              </a:rPr>
              <a:t>AI drafts · Python Fundamentals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What is a Django model?</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 class that becomes a table</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Which command runs the server?</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 python manage.py runserver</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What does the interpreter do?</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(too vague — reject)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What is a Django view?</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expected: a function that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returns a response</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Accept selected ]</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Reject selected ]</a:t>
            </a:r>
            <a:endParaRPr lang="en-US" sz="1100" dirty="0"/>
          </a:p>
        </p:txBody>
      </p:sp>
      <p:sp>
        <p:nvSpPr>
          <p:cNvPr id="8" name="badge 1"/>
          <p:cNvSpPr/>
          <p:nvPr/>
        </p:nvSpPr>
        <p:spPr>
          <a:xfrm>
            <a:off x="4099560" y="1277071"/>
            <a:ext cx="400050" cy="383677"/>
          </a:xfrm>
          <a:prstGeom prst="ellipse">
            <a:avLst/>
          </a:prstGeom>
          <a:solidFill>
            <a:srgbClr val="04B1A4"/>
          </a:solidFill>
          <a:ln w="12700">
            <a:solidFill>
              <a:srgbClr val="04B1A4"/>
            </a:solidFill>
            <a:prstDash val="solid"/>
          </a:ln>
        </p:spPr>
      </p:sp>
      <p:sp>
        <p:nvSpPr>
          <p:cNvPr id="9" name="badge 1 text"/>
          <p:cNvSpPr txBox="1"/>
          <p:nvPr/>
        </p:nvSpPr>
        <p:spPr>
          <a:xfrm>
            <a:off x="4099560" y="1277071"/>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0" name="step 1"/>
          <p:cNvSpPr txBox="1"/>
          <p:nvPr/>
        </p:nvSpPr>
        <p:spPr>
          <a:xfrm>
            <a:off x="4632960" y="1234440"/>
            <a:ext cx="3733800" cy="852616"/>
          </a:xfrm>
          <a:prstGeom prst="rect">
            <a:avLst/>
          </a:prstGeom>
          <a:noFill/>
          <a:ln/>
        </p:spPr>
        <p:txBody>
          <a:bodyPr wrap="square" lIns="0" tIns="0" rIns="0" bIns="0" rtlCol="0" anchor="t"/>
          <a:lstStyle/>
          <a:p>
            <a:pPr indent="0" marL="0">
              <a:buNone/>
            </a:pPr>
            <a:r>
              <a:rPr lang="en-US" sz="1500" b="1" dirty="0">
                <a:solidFill>
                  <a:srgbClr val="000000"/>
                </a:solidFill>
              </a:rPr>
              <a:t>Tick what you like</a:t>
            </a:r>
            <a:endParaRPr lang="en-US" sz="1500" dirty="0"/>
          </a:p>
          <a:p>
            <a:pPr indent="0" marL="0">
              <a:buNone/>
            </a:pPr>
            <a:r>
              <a:rPr lang="en-US" sz="1300" dirty="0">
                <a:solidFill>
                  <a:srgbClr val="0F8D91"/>
                </a:solidFill>
              </a:rPr>
              <a:t>Each draft is a checkbox named question_ids, pre-ticked.</a:t>
            </a:r>
            <a:endParaRPr lang="en-US" sz="1500" dirty="0"/>
          </a:p>
        </p:txBody>
      </p:sp>
      <p:sp>
        <p:nvSpPr>
          <p:cNvPr id="11" name="badge 2"/>
          <p:cNvSpPr/>
          <p:nvPr/>
        </p:nvSpPr>
        <p:spPr>
          <a:xfrm>
            <a:off x="4099560" y="2257579"/>
            <a:ext cx="400050" cy="383677"/>
          </a:xfrm>
          <a:prstGeom prst="ellipse">
            <a:avLst/>
          </a:prstGeom>
          <a:solidFill>
            <a:srgbClr val="04B1A4"/>
          </a:solidFill>
          <a:ln w="12700">
            <a:solidFill>
              <a:srgbClr val="04B1A4"/>
            </a:solidFill>
            <a:prstDash val="solid"/>
          </a:ln>
        </p:spPr>
      </p:sp>
      <p:sp>
        <p:nvSpPr>
          <p:cNvPr id="12" name="badge 2 text"/>
          <p:cNvSpPr txBox="1"/>
          <p:nvPr/>
        </p:nvSpPr>
        <p:spPr>
          <a:xfrm>
            <a:off x="4099560" y="2257579"/>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3" name="step 2"/>
          <p:cNvSpPr txBox="1"/>
          <p:nvPr/>
        </p:nvSpPr>
        <p:spPr>
          <a:xfrm>
            <a:off x="4632960" y="2214949"/>
            <a:ext cx="3733800" cy="852616"/>
          </a:xfrm>
          <a:prstGeom prst="rect">
            <a:avLst/>
          </a:prstGeom>
          <a:noFill/>
          <a:ln/>
        </p:spPr>
        <p:txBody>
          <a:bodyPr wrap="square" lIns="0" tIns="0" rIns="0" bIns="0" rtlCol="0" anchor="t"/>
          <a:lstStyle/>
          <a:p>
            <a:pPr indent="0" marL="0">
              <a:buNone/>
            </a:pPr>
            <a:r>
              <a:rPr lang="en-US" sz="1500" b="1" dirty="0">
                <a:solidFill>
                  <a:srgbClr val="000000"/>
                </a:solidFill>
              </a:rPr>
              <a:t>Two buttons, one form</a:t>
            </a:r>
            <a:endParaRPr lang="en-US" sz="1500" dirty="0"/>
          </a:p>
          <a:p>
            <a:pPr indent="0" marL="0">
              <a:buNone/>
            </a:pPr>
            <a:r>
              <a:rPr lang="en-US" sz="1300" dirty="0">
                <a:solidFill>
                  <a:srgbClr val="0F8D91"/>
                </a:solidFill>
              </a:rPr>
              <a:t>Both submit; name="action" carries accept or reject.</a:t>
            </a:r>
            <a:endParaRPr lang="en-US" sz="1500" dirty="0"/>
          </a:p>
        </p:txBody>
      </p:sp>
      <p:sp>
        <p:nvSpPr>
          <p:cNvPr id="14" name="badge 3"/>
          <p:cNvSpPr/>
          <p:nvPr/>
        </p:nvSpPr>
        <p:spPr>
          <a:xfrm>
            <a:off x="4099560" y="3238088"/>
            <a:ext cx="400050" cy="383677"/>
          </a:xfrm>
          <a:prstGeom prst="ellipse">
            <a:avLst/>
          </a:prstGeom>
          <a:solidFill>
            <a:srgbClr val="04B1A4"/>
          </a:solidFill>
          <a:ln w="12700">
            <a:solidFill>
              <a:srgbClr val="04B1A4"/>
            </a:solidFill>
            <a:prstDash val="solid"/>
          </a:ln>
        </p:spPr>
      </p:sp>
      <p:sp>
        <p:nvSpPr>
          <p:cNvPr id="15" name="badge 3 text"/>
          <p:cNvSpPr txBox="1"/>
          <p:nvPr/>
        </p:nvSpPr>
        <p:spPr>
          <a:xfrm>
            <a:off x="4099560" y="3238088"/>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6" name="step 3"/>
          <p:cNvSpPr txBox="1"/>
          <p:nvPr/>
        </p:nvSpPr>
        <p:spPr>
          <a:xfrm>
            <a:off x="4632960" y="3195457"/>
            <a:ext cx="3733800" cy="852616"/>
          </a:xfrm>
          <a:prstGeom prst="rect">
            <a:avLst/>
          </a:prstGeom>
          <a:noFill/>
          <a:ln/>
        </p:spPr>
        <p:txBody>
          <a:bodyPr wrap="square" lIns="0" tIns="0" rIns="0" bIns="0" rtlCol="0" anchor="t"/>
          <a:lstStyle/>
          <a:p>
            <a:pPr indent="0" marL="0">
              <a:buNone/>
            </a:pPr>
            <a:r>
              <a:rPr lang="en-US" sz="1500" b="1" dirty="0">
                <a:solidFill>
                  <a:srgbClr val="000000"/>
                </a:solidFill>
              </a:rPr>
              <a:t>Publish or delete</a:t>
            </a:r>
            <a:endParaRPr lang="en-US" sz="1500" dirty="0"/>
          </a:p>
          <a:p>
            <a:pPr indent="0" marL="0">
              <a:buNone/>
            </a:pPr>
            <a:r>
              <a:rPr lang="en-US" sz="1300" dirty="0">
                <a:solidFill>
                  <a:srgbClr val="0F8D91"/>
                </a:solidFill>
              </a:rPr>
              <a:t>Accepted drafts become published; rejected ones are gone.</a:t>
            </a:r>
            <a:endParaRPr lang="en-US" sz="15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Step 20 · The review view</a:t>
            </a:r>
            <a:endParaRPr lang="en-US" sz="2400" dirty="0"/>
          </a:p>
        </p:txBody>
      </p:sp>
      <p:sp>
        <p:nvSpPr>
          <p:cNvPr id="4" name="code card"/>
          <p:cNvSpPr/>
          <p:nvPr/>
        </p:nvSpPr>
        <p:spPr>
          <a:xfrm>
            <a:off x="365760" y="1234440"/>
            <a:ext cx="5511800" cy="3154680"/>
          </a:xfrm>
          <a:prstGeom prst="roundRect">
            <a:avLst>
              <a:gd name="adj" fmla="val 3478"/>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5" name="file label"/>
          <p:cNvSpPr/>
          <p:nvPr/>
        </p:nvSpPr>
        <p:spPr>
          <a:xfrm>
            <a:off x="543560" y="1336754"/>
            <a:ext cx="1671320" cy="238733"/>
          </a:xfrm>
          <a:prstGeom prst="roundRect">
            <a:avLst>
              <a:gd name="adj" fmla="val 30642"/>
            </a:avLst>
          </a:prstGeom>
          <a:solidFill>
            <a:srgbClr val="F99508"/>
          </a:solidFill>
          <a:ln w="12700">
            <a:solidFill>
              <a:srgbClr val="F99508"/>
            </a:solidFill>
            <a:prstDash val="solid"/>
          </a:ln>
        </p:spPr>
      </p:sp>
      <p:sp>
        <p:nvSpPr>
          <p:cNvPr id="6" name="file label text"/>
          <p:cNvSpPr txBox="1"/>
          <p:nvPr/>
        </p:nvSpPr>
        <p:spPr>
          <a:xfrm>
            <a:off x="543560" y="1336754"/>
            <a:ext cx="1671320"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reviewers/views.py</a:t>
            </a:r>
            <a:endParaRPr lang="en-US" sz="1000" dirty="0"/>
          </a:p>
        </p:txBody>
      </p:sp>
      <p:sp>
        <p:nvSpPr>
          <p:cNvPr id="7" name="code"/>
          <p:cNvSpPr txBox="1"/>
          <p:nvPr/>
        </p:nvSpPr>
        <p:spPr>
          <a:xfrm>
            <a:off x="588010" y="1660748"/>
            <a:ext cx="5067300" cy="2600479"/>
          </a:xfrm>
          <a:prstGeom prst="rect">
            <a:avLst/>
          </a:prstGeom>
          <a:noFill/>
          <a:ln/>
        </p:spPr>
        <p:txBody>
          <a:bodyPr wrap="square" lIns="0" tIns="0" rIns="0" bIns="0" rtlCol="0" anchor="t"/>
          <a:lstStyle/>
          <a:p>
            <a:pPr indent="0" marL="0">
              <a:buNone/>
            </a:pPr>
            <a:r>
              <a:rPr lang="en-US" sz="1100" dirty="0">
                <a:solidFill>
                  <a:srgbClr val="F92672"/>
                </a:solidFill>
                <a:latin typeface="Courier New" pitchFamily="34" charset="0"/>
                <a:ea typeface="Courier New" pitchFamily="34" charset="-122"/>
                <a:cs typeface="Courier New" pitchFamily="34" charset="-120"/>
              </a:rPr>
              <a:t>def</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A6E22E"/>
                </a:solidFill>
                <a:latin typeface="Courier New" pitchFamily="34" charset="0"/>
                <a:ea typeface="Courier New" pitchFamily="34" charset="-122"/>
                <a:cs typeface="Courier New" pitchFamily="34" charset="-120"/>
              </a:rPr>
              <a:t>review_drafts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slug</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reviewer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get_object_or_404</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slug</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slug</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drafts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draft_questions</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method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"POST"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ids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POST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getlist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"question_ids"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selected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drafts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66D9EF"/>
                </a:solidFill>
                <a:latin typeface="Courier New" pitchFamily="34" charset="0"/>
                <a:ea typeface="Courier New" pitchFamily="34" charset="-122"/>
                <a:cs typeface="Courier New" pitchFamily="34" charset="-120"/>
              </a:rPr>
              <a:t>filter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pk__in</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ids</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if</a:t>
            </a:r>
            <a:pPr indent="0" marL="0">
              <a:buNone/>
            </a:pPr>
            <a:r>
              <a:rPr lang="en-US" sz="1100" dirty="0">
                <a:solidFill>
                  <a:srgbClr val="F8F8F2"/>
                </a:solidFill>
                <a:latin typeface="Courier New" pitchFamily="34" charset="0"/>
                <a:ea typeface="Courier New" pitchFamily="34" charset="-122"/>
                <a:cs typeface="Courier New" pitchFamily="34" charset="-120"/>
              </a:rPr>
              <a:t> 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POST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get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"action"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"accept"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selected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update</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status</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Question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Status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PUBLISHED</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elif</a:t>
            </a:r>
            <a:pPr indent="0" marL="0">
              <a:buNone/>
            </a:pPr>
            <a:r>
              <a:rPr lang="en-US" sz="1100" dirty="0">
                <a:solidFill>
                  <a:srgbClr val="F8F8F2"/>
                </a:solidFill>
                <a:latin typeface="Courier New" pitchFamily="34" charset="0"/>
                <a:ea typeface="Courier New" pitchFamily="34" charset="-122"/>
                <a:cs typeface="Courier New" pitchFamily="34" charset="-120"/>
              </a:rPr>
              <a:t> 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POST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get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"action"</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"reject"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selected</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delete</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redirect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request</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path</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9A9B8C"/>
                </a:solidFill>
                <a:latin typeface="Courier New" pitchFamily="34" charset="0"/>
                <a:ea typeface="Courier New" pitchFamily="34" charset="-122"/>
                <a:cs typeface="Courier New" pitchFamily="34" charset="-120"/>
              </a:rPr>
              <a:t># reload</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92672"/>
                </a:solidFill>
                <a:latin typeface="Courier New" pitchFamily="34" charset="0"/>
                <a:ea typeface="Courier New" pitchFamily="34" charset="-122"/>
                <a:cs typeface="Courier New" pitchFamily="34" charset="-120"/>
              </a:rPr>
              <a:t>return</a:t>
            </a:r>
            <a:pPr indent="0" marL="0">
              <a:buNone/>
            </a:pPr>
            <a:r>
              <a:rPr lang="en-US" sz="1100" dirty="0">
                <a:solidFill>
                  <a:srgbClr val="F8F8F2"/>
                </a:solidFill>
                <a:latin typeface="Courier New" pitchFamily="34" charset="0"/>
                <a:ea typeface="Courier New" pitchFamily="34" charset="-122"/>
                <a:cs typeface="Courier New" pitchFamily="34" charset="-120"/>
              </a:rPr>
              <a:t> render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request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"reviewers/review_drafts.html"</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E6DB74"/>
                </a:solidFill>
                <a:latin typeface="Courier New" pitchFamily="34" charset="0"/>
                <a:ea typeface="Courier New" pitchFamily="34" charset="-122"/>
                <a:cs typeface="Courier New" pitchFamily="34" charset="-120"/>
              </a:rPr>
              <a:t>"reviewer"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reviewer</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a:t>
            </a:r>
            <a:pPr indent="0" marL="0">
              <a:buNone/>
            </a:pPr>
            <a:r>
              <a:rPr lang="en-US" sz="1100" dirty="0">
                <a:solidFill>
                  <a:srgbClr val="E6DB74"/>
                </a:solidFill>
                <a:latin typeface="Courier New" pitchFamily="34" charset="0"/>
                <a:ea typeface="Courier New" pitchFamily="34" charset="-122"/>
                <a:cs typeface="Courier New" pitchFamily="34" charset="-120"/>
              </a:rPr>
              <a:t>"drafts"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 drafts</a:t>
            </a:r>
            <a:pPr indent="0" marL="0">
              <a:buNone/>
            </a:pPr>
            <a:r>
              <a:rPr lang="en-US" sz="1100" dirty="0">
                <a:solidFill>
                  <a:srgbClr val="F8F8F2"/>
                </a:solidFill>
                <a:latin typeface="Courier New" pitchFamily="34" charset="0"/>
                <a:ea typeface="Courier New" pitchFamily="34" charset="-122"/>
                <a:cs typeface="Courier New" pitchFamily="34" charset="-120"/>
              </a:rPr>
              <a:t>}</a:t>
            </a:r>
            <a:pPr indent="0" marL="0">
              <a:buNone/>
            </a:pPr>
            <a:r>
              <a:rPr lang="en-US" sz="1100" dirty="0">
                <a:solidFill>
                  <a:srgbClr val="F8F8F2"/>
                </a:solidFill>
                <a:latin typeface="Courier New" pitchFamily="34" charset="0"/>
                <a:ea typeface="Courier New" pitchFamily="34" charset="-122"/>
                <a:cs typeface="Courier New" pitchFamily="34" charset="-120"/>
              </a:rPr>
              <a:t>)</a:t>
            </a:r>
            <a:endParaRPr lang="en-US" sz="1100" dirty="0"/>
          </a:p>
        </p:txBody>
      </p:sp>
      <p:sp>
        <p:nvSpPr>
          <p:cNvPr id="8" name="badge 1"/>
          <p:cNvSpPr/>
          <p:nvPr/>
        </p:nvSpPr>
        <p:spPr>
          <a:xfrm>
            <a:off x="6055360" y="1277071"/>
            <a:ext cx="320040" cy="306942"/>
          </a:xfrm>
          <a:prstGeom prst="ellipse">
            <a:avLst/>
          </a:prstGeom>
          <a:solidFill>
            <a:srgbClr val="04B1A4"/>
          </a:solidFill>
          <a:ln w="12700">
            <a:solidFill>
              <a:srgbClr val="04B1A4"/>
            </a:solidFill>
            <a:prstDash val="solid"/>
          </a:ln>
        </p:spPr>
      </p:sp>
      <p:sp>
        <p:nvSpPr>
          <p:cNvPr id="9" name="badge 1 text"/>
          <p:cNvSpPr txBox="1"/>
          <p:nvPr/>
        </p:nvSpPr>
        <p:spPr>
          <a:xfrm>
            <a:off x="6055360" y="1277071"/>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step 1"/>
          <p:cNvSpPr txBox="1"/>
          <p:nvPr/>
        </p:nvSpPr>
        <p:spPr>
          <a:xfrm>
            <a:off x="6482080" y="1234440"/>
            <a:ext cx="1884680" cy="852616"/>
          </a:xfrm>
          <a:prstGeom prst="rect">
            <a:avLst/>
          </a:prstGeom>
          <a:noFill/>
          <a:ln/>
        </p:spPr>
        <p:txBody>
          <a:bodyPr wrap="square" lIns="0" tIns="0" rIns="0" bIns="0" rtlCol="0" anchor="t"/>
          <a:lstStyle/>
          <a:p>
            <a:pPr indent="0" marL="0">
              <a:buNone/>
            </a:pPr>
            <a:r>
              <a:rPr lang="en-US" sz="1200" b="1" dirty="0">
                <a:solidFill>
                  <a:srgbClr val="000000"/>
                </a:solidFill>
              </a:rPr>
              <a:t>getlist()</a:t>
            </a:r>
            <a:endParaRPr lang="en-US" sz="1200" dirty="0"/>
          </a:p>
          <a:p>
            <a:pPr indent="0" marL="0">
              <a:buNone/>
            </a:pPr>
            <a:r>
              <a:rPr lang="en-US" sz="1100" dirty="0">
                <a:solidFill>
                  <a:srgbClr val="0F8D91"/>
                </a:solidFill>
              </a:rPr>
              <a:t>Every ticked checkbox, as a list of ids.</a:t>
            </a:r>
            <a:endParaRPr lang="en-US" sz="1200" dirty="0"/>
          </a:p>
        </p:txBody>
      </p:sp>
      <p:sp>
        <p:nvSpPr>
          <p:cNvPr id="11" name="badge 2"/>
          <p:cNvSpPr/>
          <p:nvPr/>
        </p:nvSpPr>
        <p:spPr>
          <a:xfrm>
            <a:off x="6055360" y="2214949"/>
            <a:ext cx="320040" cy="306942"/>
          </a:xfrm>
          <a:prstGeom prst="ellipse">
            <a:avLst/>
          </a:prstGeom>
          <a:solidFill>
            <a:srgbClr val="04B1A4"/>
          </a:solidFill>
          <a:ln w="12700">
            <a:solidFill>
              <a:srgbClr val="04B1A4"/>
            </a:solidFill>
            <a:prstDash val="solid"/>
          </a:ln>
        </p:spPr>
      </p:sp>
      <p:sp>
        <p:nvSpPr>
          <p:cNvPr id="12" name="badge 2 text"/>
          <p:cNvSpPr txBox="1"/>
          <p:nvPr/>
        </p:nvSpPr>
        <p:spPr>
          <a:xfrm>
            <a:off x="6055360" y="2214949"/>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step 2"/>
          <p:cNvSpPr txBox="1"/>
          <p:nvPr/>
        </p:nvSpPr>
        <p:spPr>
          <a:xfrm>
            <a:off x="6482080" y="2172318"/>
            <a:ext cx="1884680" cy="852616"/>
          </a:xfrm>
          <a:prstGeom prst="rect">
            <a:avLst/>
          </a:prstGeom>
          <a:noFill/>
          <a:ln/>
        </p:spPr>
        <p:txBody>
          <a:bodyPr wrap="square" lIns="0" tIns="0" rIns="0" bIns="0" rtlCol="0" anchor="t"/>
          <a:lstStyle/>
          <a:p>
            <a:pPr indent="0" marL="0">
              <a:buNone/>
            </a:pPr>
            <a:r>
              <a:rPr lang="en-US" sz="1200" b="1" dirty="0">
                <a:solidFill>
                  <a:srgbClr val="000000"/>
                </a:solidFill>
              </a:rPr>
              <a:t>update() vs delete()</a:t>
            </a:r>
            <a:endParaRPr lang="en-US" sz="1200" dirty="0"/>
          </a:p>
          <a:p>
            <a:pPr indent="0" marL="0">
              <a:buNone/>
            </a:pPr>
            <a:r>
              <a:rPr lang="en-US" sz="1100" dirty="0">
                <a:solidFill>
                  <a:srgbClr val="0F8D91"/>
                </a:solidFill>
              </a:rPr>
              <a:t>One query each; published rows are never touched.</a:t>
            </a:r>
            <a:endParaRPr lang="en-US" sz="1200" dirty="0"/>
          </a:p>
        </p:txBody>
      </p:sp>
      <p:sp>
        <p:nvSpPr>
          <p:cNvPr id="14" name="badge 3"/>
          <p:cNvSpPr/>
          <p:nvPr/>
        </p:nvSpPr>
        <p:spPr>
          <a:xfrm>
            <a:off x="6055360" y="3152826"/>
            <a:ext cx="320040" cy="306942"/>
          </a:xfrm>
          <a:prstGeom prst="ellipse">
            <a:avLst/>
          </a:prstGeom>
          <a:solidFill>
            <a:srgbClr val="04B1A4"/>
          </a:solidFill>
          <a:ln w="12700">
            <a:solidFill>
              <a:srgbClr val="04B1A4"/>
            </a:solidFill>
            <a:prstDash val="solid"/>
          </a:ln>
        </p:spPr>
      </p:sp>
      <p:sp>
        <p:nvSpPr>
          <p:cNvPr id="15" name="badge 3 text"/>
          <p:cNvSpPr txBox="1"/>
          <p:nvPr/>
        </p:nvSpPr>
        <p:spPr>
          <a:xfrm>
            <a:off x="6055360" y="3152826"/>
            <a:ext cx="320040" cy="30694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step 3"/>
          <p:cNvSpPr txBox="1"/>
          <p:nvPr/>
        </p:nvSpPr>
        <p:spPr>
          <a:xfrm>
            <a:off x="6482080" y="3110196"/>
            <a:ext cx="1884680" cy="937878"/>
          </a:xfrm>
          <a:prstGeom prst="rect">
            <a:avLst/>
          </a:prstGeom>
          <a:noFill/>
          <a:ln/>
        </p:spPr>
        <p:txBody>
          <a:bodyPr wrap="square" lIns="0" tIns="0" rIns="0" bIns="0" rtlCol="0" anchor="t"/>
          <a:lstStyle/>
          <a:p>
            <a:pPr indent="0" marL="0">
              <a:buNone/>
            </a:pPr>
            <a:r>
              <a:rPr lang="en-US" sz="1200" b="1" dirty="0">
                <a:solidFill>
                  <a:srgbClr val="000000"/>
                </a:solidFill>
              </a:rPr>
              <a:t>Redirect after POST</a:t>
            </a:r>
            <a:endParaRPr lang="en-US" sz="1200" dirty="0"/>
          </a:p>
          <a:p>
            <a:pPr indent="0" marL="0">
              <a:buNone/>
            </a:pPr>
            <a:r>
              <a:rPr lang="en-US" sz="1100" dirty="0">
                <a:solidFill>
                  <a:srgbClr val="0F8D91"/>
                </a:solidFill>
              </a:rPr>
              <a:t>A refresh never repeats the action.</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Guardrails checklist: what protects this app</a:t>
            </a:r>
            <a:endParaRPr lang="en-US" sz="2400" dirty="0"/>
          </a:p>
        </p:txBody>
      </p:sp>
      <p:sp>
        <p:nvSpPr>
          <p:cNvPr id="4" name="card Form ranges"/>
          <p:cNvSpPr/>
          <p:nvPr/>
        </p:nvSpPr>
        <p:spPr>
          <a:xfrm>
            <a:off x="365760" y="1234440"/>
            <a:ext cx="3911600" cy="954930"/>
          </a:xfrm>
          <a:prstGeom prst="roundRect">
            <a:avLst>
              <a:gd name="adj" fmla="val 11491"/>
            </a:avLst>
          </a:prstGeom>
          <a:solidFill>
            <a:srgbClr val="FFFFFF"/>
          </a:solidFill>
          <a:ln w="12700">
            <a:solidFill>
              <a:srgbClr val="FFFFFF"/>
            </a:solidFill>
            <a:prstDash val="solid"/>
          </a:ln>
        </p:spPr>
      </p:sp>
      <p:sp>
        <p:nvSpPr>
          <p:cNvPr id="5" name="icon bg Form ranges"/>
          <p:cNvSpPr/>
          <p:nvPr/>
        </p:nvSpPr>
        <p:spPr>
          <a:xfrm>
            <a:off x="543560" y="1387911"/>
            <a:ext cx="444500" cy="426308"/>
          </a:xfrm>
          <a:prstGeom prst="ellipse">
            <a:avLst/>
          </a:prstGeom>
          <a:solidFill>
            <a:srgbClr val="F99508"/>
          </a:solidFill>
          <a:ln w="12700">
            <a:solidFill>
              <a:srgbClr val="F99508"/>
            </a:solidFill>
            <a:prstDash val="solid"/>
          </a:ln>
        </p:spPr>
      </p:sp>
      <p:pic>
        <p:nvPicPr>
          <p:cNvPr id="6" name="icon Form ranges" descr="preencoded.png">    </p:cNvPr>
          <p:cNvPicPr>
            <a:picLocks noChangeAspect="1"/>
          </p:cNvPicPr>
          <p:nvPr/>
        </p:nvPicPr>
        <p:blipFill>
          <a:blip r:embed="rId1"/>
          <a:stretch>
            <a:fillRect/>
          </a:stretch>
        </p:blipFill>
        <p:spPr>
          <a:xfrm>
            <a:off x="641350" y="1481699"/>
            <a:ext cx="248920" cy="238733"/>
          </a:xfrm>
          <a:prstGeom prst="rect">
            <a:avLst/>
          </a:prstGeom>
        </p:spPr>
      </p:pic>
      <p:sp>
        <p:nvSpPr>
          <p:cNvPr id="7" name="card title Form ranges"/>
          <p:cNvSpPr txBox="1"/>
          <p:nvPr/>
        </p:nvSpPr>
        <p:spPr>
          <a:xfrm>
            <a:off x="1121410" y="1387911"/>
            <a:ext cx="3022600" cy="426308"/>
          </a:xfrm>
          <a:prstGeom prst="rect">
            <a:avLst/>
          </a:prstGeom>
          <a:noFill/>
          <a:ln/>
        </p:spPr>
        <p:txBody>
          <a:bodyPr wrap="square" lIns="0" tIns="0" rIns="0" bIns="0" rtlCol="0" anchor="ctr"/>
          <a:lstStyle/>
          <a:p>
            <a:pPr indent="0" marL="0">
              <a:buNone/>
            </a:pPr>
            <a:r>
              <a:rPr lang="en-US" sz="1300" b="1" dirty="0">
                <a:solidFill>
                  <a:srgbClr val="072E47"/>
                </a:solidFill>
              </a:rPr>
              <a:t>Form ranges</a:t>
            </a:r>
            <a:endParaRPr lang="en-US" sz="1300" dirty="0"/>
          </a:p>
        </p:txBody>
      </p:sp>
      <p:sp>
        <p:nvSpPr>
          <p:cNvPr id="8" name="card body Form ranges"/>
          <p:cNvSpPr txBox="1"/>
          <p:nvPr/>
        </p:nvSpPr>
        <p:spPr>
          <a:xfrm>
            <a:off x="543560" y="1916533"/>
            <a:ext cx="3556000" cy="144945"/>
          </a:xfrm>
          <a:prstGeom prst="rect">
            <a:avLst/>
          </a:prstGeom>
          <a:noFill/>
          <a:ln/>
        </p:spPr>
        <p:txBody>
          <a:bodyPr wrap="square" lIns="0" tIns="0" rIns="0" bIns="0" rtlCol="0" anchor="t"/>
          <a:lstStyle/>
          <a:p>
            <a:pPr indent="0" marL="0">
              <a:spcAft>
                <a:spcPts val="400"/>
              </a:spcAft>
              <a:buNone/>
            </a:pPr>
            <a:r>
              <a:rPr lang="en-US" sz="1200" dirty="0">
                <a:solidFill>
                  <a:srgbClr val="0F8D91"/>
                </a:solidFill>
              </a:rPr>
              <a:t>1 to 20 questions, 0 to 100 percent</a:t>
            </a:r>
            <a:endParaRPr lang="en-US" sz="1200" dirty="0"/>
          </a:p>
        </p:txBody>
      </p:sp>
      <p:sp>
        <p:nvSpPr>
          <p:cNvPr id="9" name="card Structured output"/>
          <p:cNvSpPr/>
          <p:nvPr/>
        </p:nvSpPr>
        <p:spPr>
          <a:xfrm>
            <a:off x="4455160" y="1234440"/>
            <a:ext cx="3911600" cy="954930"/>
          </a:xfrm>
          <a:prstGeom prst="roundRect">
            <a:avLst>
              <a:gd name="adj" fmla="val 11491"/>
            </a:avLst>
          </a:prstGeom>
          <a:solidFill>
            <a:srgbClr val="FFFFFF"/>
          </a:solidFill>
          <a:ln w="12700">
            <a:solidFill>
              <a:srgbClr val="FFFFFF"/>
            </a:solidFill>
            <a:prstDash val="solid"/>
          </a:ln>
        </p:spPr>
      </p:sp>
      <p:sp>
        <p:nvSpPr>
          <p:cNvPr id="10" name="icon bg Structured output"/>
          <p:cNvSpPr/>
          <p:nvPr/>
        </p:nvSpPr>
        <p:spPr>
          <a:xfrm>
            <a:off x="4632960" y="1387911"/>
            <a:ext cx="444500" cy="426308"/>
          </a:xfrm>
          <a:prstGeom prst="ellipse">
            <a:avLst/>
          </a:prstGeom>
          <a:solidFill>
            <a:srgbClr val="04B1A4"/>
          </a:solidFill>
          <a:ln w="12700">
            <a:solidFill>
              <a:srgbClr val="04B1A4"/>
            </a:solidFill>
            <a:prstDash val="solid"/>
          </a:ln>
        </p:spPr>
      </p:sp>
      <p:pic>
        <p:nvPicPr>
          <p:cNvPr id="11" name="icon Structured output" descr="preencoded.png">    </p:cNvPr>
          <p:cNvPicPr>
            <a:picLocks noChangeAspect="1"/>
          </p:cNvPicPr>
          <p:nvPr/>
        </p:nvPicPr>
        <p:blipFill>
          <a:blip r:embed="rId2"/>
          <a:stretch>
            <a:fillRect/>
          </a:stretch>
        </p:blipFill>
        <p:spPr>
          <a:xfrm>
            <a:off x="4730750" y="1481699"/>
            <a:ext cx="248920" cy="238733"/>
          </a:xfrm>
          <a:prstGeom prst="rect">
            <a:avLst/>
          </a:prstGeom>
        </p:spPr>
      </p:pic>
      <p:sp>
        <p:nvSpPr>
          <p:cNvPr id="12" name="card title Structured output"/>
          <p:cNvSpPr txBox="1"/>
          <p:nvPr/>
        </p:nvSpPr>
        <p:spPr>
          <a:xfrm>
            <a:off x="5210810" y="1387911"/>
            <a:ext cx="3022600" cy="426308"/>
          </a:xfrm>
          <a:prstGeom prst="rect">
            <a:avLst/>
          </a:prstGeom>
          <a:noFill/>
          <a:ln/>
        </p:spPr>
        <p:txBody>
          <a:bodyPr wrap="square" lIns="0" tIns="0" rIns="0" bIns="0" rtlCol="0" anchor="ctr"/>
          <a:lstStyle/>
          <a:p>
            <a:pPr indent="0" marL="0">
              <a:buNone/>
            </a:pPr>
            <a:r>
              <a:rPr lang="en-US" sz="1300" b="1" dirty="0">
                <a:solidFill>
                  <a:srgbClr val="072E47"/>
                </a:solidFill>
              </a:rPr>
              <a:t>Structured output</a:t>
            </a:r>
            <a:endParaRPr lang="en-US" sz="1300" dirty="0"/>
          </a:p>
        </p:txBody>
      </p:sp>
      <p:sp>
        <p:nvSpPr>
          <p:cNvPr id="13" name="card body Structured output"/>
          <p:cNvSpPr txBox="1"/>
          <p:nvPr/>
        </p:nvSpPr>
        <p:spPr>
          <a:xfrm>
            <a:off x="4632960" y="1916533"/>
            <a:ext cx="3556000" cy="144945"/>
          </a:xfrm>
          <a:prstGeom prst="rect">
            <a:avLst/>
          </a:prstGeom>
          <a:noFill/>
          <a:ln/>
        </p:spPr>
        <p:txBody>
          <a:bodyPr wrap="square" lIns="0" tIns="0" rIns="0" bIns="0" rtlCol="0" anchor="t"/>
          <a:lstStyle/>
          <a:p>
            <a:pPr indent="0" marL="0">
              <a:spcAft>
                <a:spcPts val="400"/>
              </a:spcAft>
              <a:buNone/>
            </a:pPr>
            <a:r>
              <a:rPr lang="en-US" sz="1200" dirty="0">
                <a:solidFill>
                  <a:srgbClr val="0F8D91"/>
                </a:solidFill>
              </a:rPr>
              <a:t>JSON Schema fixes the reply's shape</a:t>
            </a:r>
            <a:endParaRPr lang="en-US" sz="1200" dirty="0"/>
          </a:p>
        </p:txBody>
      </p:sp>
      <p:sp>
        <p:nvSpPr>
          <p:cNvPr id="14" name="card Content validation"/>
          <p:cNvSpPr/>
          <p:nvPr/>
        </p:nvSpPr>
        <p:spPr>
          <a:xfrm>
            <a:off x="365760" y="2300210"/>
            <a:ext cx="3911600" cy="954930"/>
          </a:xfrm>
          <a:prstGeom prst="roundRect">
            <a:avLst>
              <a:gd name="adj" fmla="val 11491"/>
            </a:avLst>
          </a:prstGeom>
          <a:solidFill>
            <a:srgbClr val="FFFFFF"/>
          </a:solidFill>
          <a:ln w="12700">
            <a:solidFill>
              <a:srgbClr val="FFFFFF"/>
            </a:solidFill>
            <a:prstDash val="solid"/>
          </a:ln>
        </p:spPr>
      </p:sp>
      <p:sp>
        <p:nvSpPr>
          <p:cNvPr id="15" name="icon bg Content validation"/>
          <p:cNvSpPr/>
          <p:nvPr/>
        </p:nvSpPr>
        <p:spPr>
          <a:xfrm>
            <a:off x="543560" y="2453681"/>
            <a:ext cx="444500" cy="426308"/>
          </a:xfrm>
          <a:prstGeom prst="ellipse">
            <a:avLst/>
          </a:prstGeom>
          <a:solidFill>
            <a:srgbClr val="D9534F"/>
          </a:solidFill>
          <a:ln w="12700">
            <a:solidFill>
              <a:srgbClr val="D9534F"/>
            </a:solidFill>
            <a:prstDash val="solid"/>
          </a:ln>
        </p:spPr>
      </p:sp>
      <p:pic>
        <p:nvPicPr>
          <p:cNvPr id="16" name="icon Content validation" descr="preencoded.png">    </p:cNvPr>
          <p:cNvPicPr>
            <a:picLocks noChangeAspect="1"/>
          </p:cNvPicPr>
          <p:nvPr/>
        </p:nvPicPr>
        <p:blipFill>
          <a:blip r:embed="rId3"/>
          <a:stretch>
            <a:fillRect/>
          </a:stretch>
        </p:blipFill>
        <p:spPr>
          <a:xfrm>
            <a:off x="641350" y="2547469"/>
            <a:ext cx="248920" cy="238733"/>
          </a:xfrm>
          <a:prstGeom prst="rect">
            <a:avLst/>
          </a:prstGeom>
        </p:spPr>
      </p:pic>
      <p:sp>
        <p:nvSpPr>
          <p:cNvPr id="17" name="card title Content validation"/>
          <p:cNvSpPr txBox="1"/>
          <p:nvPr/>
        </p:nvSpPr>
        <p:spPr>
          <a:xfrm>
            <a:off x="1121410" y="2453681"/>
            <a:ext cx="3022600" cy="426308"/>
          </a:xfrm>
          <a:prstGeom prst="rect">
            <a:avLst/>
          </a:prstGeom>
          <a:noFill/>
          <a:ln/>
        </p:spPr>
        <p:txBody>
          <a:bodyPr wrap="square" lIns="0" tIns="0" rIns="0" bIns="0" rtlCol="0" anchor="ctr"/>
          <a:lstStyle/>
          <a:p>
            <a:pPr indent="0" marL="0">
              <a:buNone/>
            </a:pPr>
            <a:r>
              <a:rPr lang="en-US" sz="1300" b="1" dirty="0">
                <a:solidFill>
                  <a:srgbClr val="072E47"/>
                </a:solidFill>
              </a:rPr>
              <a:t>Content validation</a:t>
            </a:r>
            <a:endParaRPr lang="en-US" sz="1300" dirty="0"/>
          </a:p>
        </p:txBody>
      </p:sp>
      <p:sp>
        <p:nvSpPr>
          <p:cNvPr id="18" name="card body Content validation"/>
          <p:cNvSpPr txBox="1"/>
          <p:nvPr/>
        </p:nvSpPr>
        <p:spPr>
          <a:xfrm>
            <a:off x="543560" y="2982303"/>
            <a:ext cx="3556000" cy="144945"/>
          </a:xfrm>
          <a:prstGeom prst="rect">
            <a:avLst/>
          </a:prstGeom>
          <a:noFill/>
          <a:ln/>
        </p:spPr>
        <p:txBody>
          <a:bodyPr wrap="square" lIns="0" tIns="0" rIns="0" bIns="0" rtlCol="0" anchor="t"/>
          <a:lstStyle/>
          <a:p>
            <a:pPr indent="0" marL="0">
              <a:spcAft>
                <a:spcPts val="400"/>
              </a:spcAft>
              <a:buNone/>
            </a:pPr>
            <a:r>
              <a:rPr lang="en-US" sz="1200" dirty="0">
                <a:solidFill>
                  <a:srgbClr val="0F8D91"/>
                </a:solidFill>
              </a:rPr>
              <a:t>One correct choice, non-empty answers</a:t>
            </a:r>
            <a:endParaRPr lang="en-US" sz="1200" dirty="0"/>
          </a:p>
        </p:txBody>
      </p:sp>
      <p:sp>
        <p:nvSpPr>
          <p:cNvPr id="19" name="card Reject, don't repair"/>
          <p:cNvSpPr/>
          <p:nvPr/>
        </p:nvSpPr>
        <p:spPr>
          <a:xfrm>
            <a:off x="4455160" y="2300210"/>
            <a:ext cx="3911600" cy="954930"/>
          </a:xfrm>
          <a:prstGeom prst="roundRect">
            <a:avLst>
              <a:gd name="adj" fmla="val 11491"/>
            </a:avLst>
          </a:prstGeom>
          <a:solidFill>
            <a:srgbClr val="FFFFFF"/>
          </a:solidFill>
          <a:ln w="12700">
            <a:solidFill>
              <a:srgbClr val="FFFFFF"/>
            </a:solidFill>
            <a:prstDash val="solid"/>
          </a:ln>
        </p:spPr>
      </p:sp>
      <p:sp>
        <p:nvSpPr>
          <p:cNvPr id="20" name="icon bg Reject, don't repair"/>
          <p:cNvSpPr/>
          <p:nvPr/>
        </p:nvSpPr>
        <p:spPr>
          <a:xfrm>
            <a:off x="4632960" y="2453681"/>
            <a:ext cx="444500" cy="426308"/>
          </a:xfrm>
          <a:prstGeom prst="ellipse">
            <a:avLst/>
          </a:prstGeom>
          <a:solidFill>
            <a:srgbClr val="D9534F"/>
          </a:solidFill>
          <a:ln w="12700">
            <a:solidFill>
              <a:srgbClr val="D9534F"/>
            </a:solidFill>
            <a:prstDash val="solid"/>
          </a:ln>
        </p:spPr>
      </p:sp>
      <p:pic>
        <p:nvPicPr>
          <p:cNvPr id="21" name="icon Reject, don't repair" descr="preencoded.png">    </p:cNvPr>
          <p:cNvPicPr>
            <a:picLocks noChangeAspect="1"/>
          </p:cNvPicPr>
          <p:nvPr/>
        </p:nvPicPr>
        <p:blipFill>
          <a:blip r:embed="rId4"/>
          <a:stretch>
            <a:fillRect/>
          </a:stretch>
        </p:blipFill>
        <p:spPr>
          <a:xfrm>
            <a:off x="4730750" y="2547469"/>
            <a:ext cx="248920" cy="238733"/>
          </a:xfrm>
          <a:prstGeom prst="rect">
            <a:avLst/>
          </a:prstGeom>
        </p:spPr>
      </p:pic>
      <p:sp>
        <p:nvSpPr>
          <p:cNvPr id="22" name="card title Reject, don&amp;apos;t repair"/>
          <p:cNvSpPr txBox="1"/>
          <p:nvPr/>
        </p:nvSpPr>
        <p:spPr>
          <a:xfrm>
            <a:off x="5210810" y="2453681"/>
            <a:ext cx="3022600" cy="426308"/>
          </a:xfrm>
          <a:prstGeom prst="rect">
            <a:avLst/>
          </a:prstGeom>
          <a:noFill/>
          <a:ln/>
        </p:spPr>
        <p:txBody>
          <a:bodyPr wrap="square" lIns="0" tIns="0" rIns="0" bIns="0" rtlCol="0" anchor="ctr"/>
          <a:lstStyle/>
          <a:p>
            <a:pPr indent="0" marL="0">
              <a:buNone/>
            </a:pPr>
            <a:r>
              <a:rPr lang="en-US" sz="1300" b="1" dirty="0">
                <a:solidFill>
                  <a:srgbClr val="072E47"/>
                </a:solidFill>
              </a:rPr>
              <a:t>Reject, don't repair</a:t>
            </a:r>
            <a:endParaRPr lang="en-US" sz="1300" dirty="0"/>
          </a:p>
        </p:txBody>
      </p:sp>
      <p:sp>
        <p:nvSpPr>
          <p:cNvPr id="23" name="card body Reject, don't repair"/>
          <p:cNvSpPr txBox="1"/>
          <p:nvPr/>
        </p:nvSpPr>
        <p:spPr>
          <a:xfrm>
            <a:off x="4632960" y="2982303"/>
            <a:ext cx="3556000" cy="144945"/>
          </a:xfrm>
          <a:prstGeom prst="rect">
            <a:avLst/>
          </a:prstGeom>
          <a:noFill/>
          <a:ln/>
        </p:spPr>
        <p:txBody>
          <a:bodyPr wrap="square" lIns="0" tIns="0" rIns="0" bIns="0" rtlCol="0" anchor="t"/>
          <a:lstStyle/>
          <a:p>
            <a:pPr indent="0" marL="0">
              <a:spcAft>
                <a:spcPts val="400"/>
              </a:spcAft>
              <a:buNone/>
            </a:pPr>
            <a:r>
              <a:rPr lang="en-US" sz="1200" dirty="0">
                <a:solidFill>
                  <a:srgbClr val="0F8D91"/>
                </a:solidFill>
              </a:rPr>
              <a:t>Invalid reply dropped whole; nothing saved</a:t>
            </a:r>
            <a:endParaRPr lang="en-US" sz="1200" dirty="0"/>
          </a:p>
        </p:txBody>
      </p:sp>
      <p:sp>
        <p:nvSpPr>
          <p:cNvPr id="24" name="card Drafts by default"/>
          <p:cNvSpPr/>
          <p:nvPr/>
        </p:nvSpPr>
        <p:spPr>
          <a:xfrm>
            <a:off x="365760" y="3365981"/>
            <a:ext cx="3911600" cy="954930"/>
          </a:xfrm>
          <a:prstGeom prst="roundRect">
            <a:avLst>
              <a:gd name="adj" fmla="val 11491"/>
            </a:avLst>
          </a:prstGeom>
          <a:solidFill>
            <a:srgbClr val="FFFFFF"/>
          </a:solidFill>
          <a:ln w="12700">
            <a:solidFill>
              <a:srgbClr val="FFFFFF"/>
            </a:solidFill>
            <a:prstDash val="solid"/>
          </a:ln>
        </p:spPr>
      </p:sp>
      <p:sp>
        <p:nvSpPr>
          <p:cNvPr id="25" name="icon bg Drafts by default"/>
          <p:cNvSpPr/>
          <p:nvPr/>
        </p:nvSpPr>
        <p:spPr>
          <a:xfrm>
            <a:off x="543560" y="3519451"/>
            <a:ext cx="444500" cy="426308"/>
          </a:xfrm>
          <a:prstGeom prst="ellipse">
            <a:avLst/>
          </a:prstGeom>
          <a:solidFill>
            <a:srgbClr val="5DA144"/>
          </a:solidFill>
          <a:ln w="12700">
            <a:solidFill>
              <a:srgbClr val="5DA144"/>
            </a:solidFill>
            <a:prstDash val="solid"/>
          </a:ln>
        </p:spPr>
      </p:sp>
      <p:pic>
        <p:nvPicPr>
          <p:cNvPr id="26" name="icon Drafts by default" descr="preencoded.png">    </p:cNvPr>
          <p:cNvPicPr>
            <a:picLocks noChangeAspect="1"/>
          </p:cNvPicPr>
          <p:nvPr/>
        </p:nvPicPr>
        <p:blipFill>
          <a:blip r:embed="rId5"/>
          <a:stretch>
            <a:fillRect/>
          </a:stretch>
        </p:blipFill>
        <p:spPr>
          <a:xfrm>
            <a:off x="641350" y="3613239"/>
            <a:ext cx="248920" cy="238733"/>
          </a:xfrm>
          <a:prstGeom prst="rect">
            <a:avLst/>
          </a:prstGeom>
        </p:spPr>
      </p:pic>
      <p:sp>
        <p:nvSpPr>
          <p:cNvPr id="27" name="card title Drafts by default"/>
          <p:cNvSpPr txBox="1"/>
          <p:nvPr/>
        </p:nvSpPr>
        <p:spPr>
          <a:xfrm>
            <a:off x="1121410" y="3519451"/>
            <a:ext cx="3022600" cy="426308"/>
          </a:xfrm>
          <a:prstGeom prst="rect">
            <a:avLst/>
          </a:prstGeom>
          <a:noFill/>
          <a:ln/>
        </p:spPr>
        <p:txBody>
          <a:bodyPr wrap="square" lIns="0" tIns="0" rIns="0" bIns="0" rtlCol="0" anchor="ctr"/>
          <a:lstStyle/>
          <a:p>
            <a:pPr indent="0" marL="0">
              <a:buNone/>
            </a:pPr>
            <a:r>
              <a:rPr lang="en-US" sz="1300" b="1" dirty="0">
                <a:solidFill>
                  <a:srgbClr val="072E47"/>
                </a:solidFill>
              </a:rPr>
              <a:t>Drafts by default</a:t>
            </a:r>
            <a:endParaRPr lang="en-US" sz="1300" dirty="0"/>
          </a:p>
        </p:txBody>
      </p:sp>
      <p:sp>
        <p:nvSpPr>
          <p:cNvPr id="28" name="card body Drafts by default"/>
          <p:cNvSpPr txBox="1"/>
          <p:nvPr/>
        </p:nvSpPr>
        <p:spPr>
          <a:xfrm>
            <a:off x="543560" y="4048074"/>
            <a:ext cx="3556000" cy="144945"/>
          </a:xfrm>
          <a:prstGeom prst="rect">
            <a:avLst/>
          </a:prstGeom>
          <a:noFill/>
          <a:ln/>
        </p:spPr>
        <p:txBody>
          <a:bodyPr wrap="square" lIns="0" tIns="0" rIns="0" bIns="0" rtlCol="0" anchor="t"/>
          <a:lstStyle/>
          <a:p>
            <a:pPr indent="0" marL="0">
              <a:spcAft>
                <a:spcPts val="400"/>
              </a:spcAft>
              <a:buNone/>
            </a:pPr>
            <a:r>
              <a:rPr lang="en-US" sz="1200" dirty="0">
                <a:solidFill>
                  <a:srgbClr val="0F8D91"/>
                </a:solidFill>
              </a:rPr>
              <a:t>AI text stays hidden until a human accepts</a:t>
            </a:r>
            <a:endParaRPr lang="en-US" sz="1200" dirty="0"/>
          </a:p>
        </p:txBody>
      </p:sp>
      <p:sp>
        <p:nvSpPr>
          <p:cNvPr id="29" name="card Secrets in .env"/>
          <p:cNvSpPr/>
          <p:nvPr/>
        </p:nvSpPr>
        <p:spPr>
          <a:xfrm>
            <a:off x="4455160" y="3365981"/>
            <a:ext cx="3911600" cy="954930"/>
          </a:xfrm>
          <a:prstGeom prst="roundRect">
            <a:avLst>
              <a:gd name="adj" fmla="val 11491"/>
            </a:avLst>
          </a:prstGeom>
          <a:solidFill>
            <a:srgbClr val="FFFFFF"/>
          </a:solidFill>
          <a:ln w="12700">
            <a:solidFill>
              <a:srgbClr val="FFFFFF"/>
            </a:solidFill>
            <a:prstDash val="solid"/>
          </a:ln>
        </p:spPr>
      </p:sp>
      <p:sp>
        <p:nvSpPr>
          <p:cNvPr id="30" name="icon bg Secrets in .env"/>
          <p:cNvSpPr/>
          <p:nvPr/>
        </p:nvSpPr>
        <p:spPr>
          <a:xfrm>
            <a:off x="4632960" y="3519451"/>
            <a:ext cx="444500" cy="426308"/>
          </a:xfrm>
          <a:prstGeom prst="ellipse">
            <a:avLst/>
          </a:prstGeom>
          <a:solidFill>
            <a:srgbClr val="1B6F86"/>
          </a:solidFill>
          <a:ln w="12700">
            <a:solidFill>
              <a:srgbClr val="1B6F86"/>
            </a:solidFill>
            <a:prstDash val="solid"/>
          </a:ln>
        </p:spPr>
      </p:sp>
      <p:pic>
        <p:nvPicPr>
          <p:cNvPr id="31" name="icon Secrets in .env" descr="preencoded.png">    </p:cNvPr>
          <p:cNvPicPr>
            <a:picLocks noChangeAspect="1"/>
          </p:cNvPicPr>
          <p:nvPr/>
        </p:nvPicPr>
        <p:blipFill>
          <a:blip r:embed="rId6"/>
          <a:stretch>
            <a:fillRect/>
          </a:stretch>
        </p:blipFill>
        <p:spPr>
          <a:xfrm>
            <a:off x="4730750" y="3613239"/>
            <a:ext cx="248920" cy="238733"/>
          </a:xfrm>
          <a:prstGeom prst="rect">
            <a:avLst/>
          </a:prstGeom>
        </p:spPr>
      </p:pic>
      <p:sp>
        <p:nvSpPr>
          <p:cNvPr id="32" name="card title Secrets in .env"/>
          <p:cNvSpPr txBox="1"/>
          <p:nvPr/>
        </p:nvSpPr>
        <p:spPr>
          <a:xfrm>
            <a:off x="5210810" y="3519451"/>
            <a:ext cx="3022600" cy="426308"/>
          </a:xfrm>
          <a:prstGeom prst="rect">
            <a:avLst/>
          </a:prstGeom>
          <a:noFill/>
          <a:ln/>
        </p:spPr>
        <p:txBody>
          <a:bodyPr wrap="square" lIns="0" tIns="0" rIns="0" bIns="0" rtlCol="0" anchor="ctr"/>
          <a:lstStyle/>
          <a:p>
            <a:pPr indent="0" marL="0">
              <a:buNone/>
            </a:pPr>
            <a:r>
              <a:rPr lang="en-US" sz="1300" b="1" dirty="0">
                <a:solidFill>
                  <a:srgbClr val="072E47"/>
                </a:solidFill>
              </a:rPr>
              <a:t>Secrets in .env</a:t>
            </a:r>
            <a:endParaRPr lang="en-US" sz="1300" dirty="0"/>
          </a:p>
        </p:txBody>
      </p:sp>
      <p:sp>
        <p:nvSpPr>
          <p:cNvPr id="33" name="card body Secrets in .env"/>
          <p:cNvSpPr txBox="1"/>
          <p:nvPr/>
        </p:nvSpPr>
        <p:spPr>
          <a:xfrm>
            <a:off x="4632960" y="4048074"/>
            <a:ext cx="3556000" cy="144945"/>
          </a:xfrm>
          <a:prstGeom prst="rect">
            <a:avLst/>
          </a:prstGeom>
          <a:noFill/>
          <a:ln/>
        </p:spPr>
        <p:txBody>
          <a:bodyPr wrap="square" lIns="0" tIns="0" rIns="0" bIns="0" rtlCol="0" anchor="t"/>
          <a:lstStyle/>
          <a:p>
            <a:pPr indent="0" marL="0">
              <a:spcAft>
                <a:spcPts val="400"/>
              </a:spcAft>
              <a:buNone/>
            </a:pPr>
            <a:r>
              <a:rPr lang="en-US" sz="1200" dirty="0">
                <a:solidFill>
                  <a:srgbClr val="0F8D91"/>
                </a:solidFill>
              </a:rPr>
              <a:t>Key never in code or git; offline fallback</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FEF9D7"/>
                </a:solidFill>
              </a:rPr>
              <a:t>The whole AI feature on one slide</a:t>
            </a:r>
            <a:endParaRPr lang="en-US" sz="2400" dirty="0"/>
          </a:p>
        </p:txBody>
      </p:sp>
      <p:sp>
        <p:nvSpPr>
          <p:cNvPr id="4" name="arch badge 0"/>
          <p:cNvSpPr/>
          <p:nvPr/>
        </p:nvSpPr>
        <p:spPr>
          <a:xfrm>
            <a:off x="454660" y="1285597"/>
            <a:ext cx="320040" cy="306942"/>
          </a:xfrm>
          <a:prstGeom prst="ellipse">
            <a:avLst/>
          </a:prstGeom>
          <a:solidFill>
            <a:srgbClr val="F99508"/>
          </a:solidFill>
          <a:ln w="12700">
            <a:solidFill>
              <a:srgbClr val="F99508"/>
            </a:solidFill>
            <a:prstDash val="solid"/>
          </a:ln>
        </p:spPr>
      </p:sp>
      <p:sp>
        <p:nvSpPr>
          <p:cNvPr id="5" name="arch badge text 0"/>
          <p:cNvSpPr txBox="1"/>
          <p:nvPr/>
        </p:nvSpPr>
        <p:spPr>
          <a:xfrm>
            <a:off x="454660" y="1285597"/>
            <a:ext cx="320040" cy="306942"/>
          </a:xfrm>
          <a:prstGeom prst="rect">
            <a:avLst/>
          </a:prstGeom>
          <a:noFill/>
          <a:ln/>
        </p:spPr>
        <p:txBody>
          <a:bodyPr wrap="square" lIns="0" tIns="0" rIns="0" bIns="0" rtlCol="0" anchor="ctr"/>
          <a:lstStyle/>
          <a:p>
            <a:pPr algn="ctr" indent="0" marL="0">
              <a:buNone/>
            </a:pPr>
            <a:r>
              <a:rPr lang="en-US" sz="1200" b="1" dirty="0">
                <a:solidFill>
                  <a:srgbClr val="072E47"/>
                </a:solidFill>
              </a:rPr>
              <a:t>1</a:t>
            </a:r>
            <a:endParaRPr lang="en-US" sz="1200" dirty="0"/>
          </a:p>
        </p:txBody>
      </p:sp>
      <p:sp>
        <p:nvSpPr>
          <p:cNvPr id="6" name="arch step 0"/>
          <p:cNvSpPr txBox="1"/>
          <p:nvPr/>
        </p:nvSpPr>
        <p:spPr>
          <a:xfrm>
            <a:off x="943610" y="1234440"/>
            <a:ext cx="4445000" cy="409256"/>
          </a:xfrm>
          <a:prstGeom prst="rect">
            <a:avLst/>
          </a:prstGeom>
          <a:noFill/>
          <a:ln/>
        </p:spPr>
        <p:txBody>
          <a:bodyPr wrap="square" lIns="0" tIns="0" rIns="0" bIns="0" rtlCol="0" anchor="ctr"/>
          <a:lstStyle/>
          <a:p>
            <a:pPr indent="0" marL="0">
              <a:buNone/>
            </a:pPr>
            <a:r>
              <a:rPr lang="en-US" sz="1400" b="1" dirty="0">
                <a:solidFill>
                  <a:srgbClr val="FFFFFF"/>
                </a:solidFill>
              </a:rPr>
              <a:t>Creator fills GenerateForm</a:t>
            </a:r>
            <a:pPr indent="0" marL="0">
              <a:buNone/>
            </a:pPr>
            <a:r>
              <a:rPr lang="en-US" sz="1200" dirty="0">
                <a:solidFill>
                  <a:srgbClr val="8FD3CC"/>
                </a:solidFill>
              </a:rPr>
              <a:t>   topic · count · % · difficulty</a:t>
            </a:r>
            <a:endParaRPr lang="en-US" sz="1400" dirty="0"/>
          </a:p>
        </p:txBody>
      </p:sp>
      <p:sp>
        <p:nvSpPr>
          <p:cNvPr id="7" name="arch line 0"/>
          <p:cNvSpPr/>
          <p:nvPr/>
        </p:nvSpPr>
        <p:spPr>
          <a:xfrm>
            <a:off x="614680" y="1592539"/>
            <a:ext cx="0" cy="136419"/>
          </a:xfrm>
          <a:prstGeom prst="line">
            <a:avLst/>
          </a:prstGeom>
          <a:noFill/>
          <a:ln w="19050">
            <a:solidFill>
              <a:srgbClr val="8FD3CC"/>
            </a:solidFill>
            <a:prstDash val="solid"/>
          </a:ln>
        </p:spPr>
      </p:sp>
      <p:sp>
        <p:nvSpPr>
          <p:cNvPr id="8" name="arch badge 1"/>
          <p:cNvSpPr/>
          <p:nvPr/>
        </p:nvSpPr>
        <p:spPr>
          <a:xfrm>
            <a:off x="454660" y="1728957"/>
            <a:ext cx="320040" cy="306942"/>
          </a:xfrm>
          <a:prstGeom prst="ellipse">
            <a:avLst/>
          </a:prstGeom>
          <a:solidFill>
            <a:srgbClr val="5DA144"/>
          </a:solidFill>
          <a:ln w="12700">
            <a:solidFill>
              <a:srgbClr val="5DA144"/>
            </a:solidFill>
            <a:prstDash val="solid"/>
          </a:ln>
        </p:spPr>
      </p:sp>
      <p:sp>
        <p:nvSpPr>
          <p:cNvPr id="9" name="arch badge text 1"/>
          <p:cNvSpPr txBox="1"/>
          <p:nvPr/>
        </p:nvSpPr>
        <p:spPr>
          <a:xfrm>
            <a:off x="454660" y="1728957"/>
            <a:ext cx="320040" cy="306942"/>
          </a:xfrm>
          <a:prstGeom prst="rect">
            <a:avLst/>
          </a:prstGeom>
          <a:noFill/>
          <a:ln/>
        </p:spPr>
        <p:txBody>
          <a:bodyPr wrap="square" lIns="0" tIns="0" rIns="0" bIns="0" rtlCol="0" anchor="ctr"/>
          <a:lstStyle/>
          <a:p>
            <a:pPr algn="ctr" indent="0" marL="0">
              <a:buNone/>
            </a:pPr>
            <a:r>
              <a:rPr lang="en-US" sz="1200" b="1" dirty="0">
                <a:solidFill>
                  <a:srgbClr val="072E47"/>
                </a:solidFill>
              </a:rPr>
              <a:t>2</a:t>
            </a:r>
            <a:endParaRPr lang="en-US" sz="1200" dirty="0"/>
          </a:p>
        </p:txBody>
      </p:sp>
      <p:sp>
        <p:nvSpPr>
          <p:cNvPr id="10" name="arch step 1"/>
          <p:cNvSpPr txBox="1"/>
          <p:nvPr/>
        </p:nvSpPr>
        <p:spPr>
          <a:xfrm>
            <a:off x="943610" y="1677800"/>
            <a:ext cx="4445000" cy="409256"/>
          </a:xfrm>
          <a:prstGeom prst="rect">
            <a:avLst/>
          </a:prstGeom>
          <a:noFill/>
          <a:ln/>
        </p:spPr>
        <p:txBody>
          <a:bodyPr wrap="square" lIns="0" tIns="0" rIns="0" bIns="0" rtlCol="0" anchor="ctr"/>
          <a:lstStyle/>
          <a:p>
            <a:pPr indent="0" marL="0">
              <a:buNone/>
            </a:pPr>
            <a:r>
              <a:rPr lang="en-US" sz="1400" b="1" dirty="0">
                <a:solidFill>
                  <a:srgbClr val="FFFFFF"/>
                </a:solidFill>
              </a:rPr>
              <a:t>Django builds the prompt</a:t>
            </a:r>
            <a:pPr indent="0" marL="0">
              <a:buNone/>
            </a:pPr>
            <a:r>
              <a:rPr lang="en-US" sz="1200" dirty="0">
                <a:solidFill>
                  <a:srgbClr val="8FD3CC"/>
                </a:solidFill>
              </a:rPr>
              <a:t>   build_prompt() with f-strings</a:t>
            </a:r>
            <a:endParaRPr lang="en-US" sz="1400" dirty="0"/>
          </a:p>
        </p:txBody>
      </p:sp>
      <p:sp>
        <p:nvSpPr>
          <p:cNvPr id="11" name="arch line 1"/>
          <p:cNvSpPr/>
          <p:nvPr/>
        </p:nvSpPr>
        <p:spPr>
          <a:xfrm>
            <a:off x="614680" y="2035899"/>
            <a:ext cx="0" cy="136419"/>
          </a:xfrm>
          <a:prstGeom prst="line">
            <a:avLst/>
          </a:prstGeom>
          <a:noFill/>
          <a:ln w="19050">
            <a:solidFill>
              <a:srgbClr val="8FD3CC"/>
            </a:solidFill>
            <a:prstDash val="solid"/>
          </a:ln>
        </p:spPr>
      </p:sp>
      <p:sp>
        <p:nvSpPr>
          <p:cNvPr id="12" name="arch badge 2"/>
          <p:cNvSpPr/>
          <p:nvPr/>
        </p:nvSpPr>
        <p:spPr>
          <a:xfrm>
            <a:off x="454660" y="2172318"/>
            <a:ext cx="320040" cy="306942"/>
          </a:xfrm>
          <a:prstGeom prst="ellipse">
            <a:avLst/>
          </a:prstGeom>
          <a:solidFill>
            <a:srgbClr val="04B1A4"/>
          </a:solidFill>
          <a:ln w="12700">
            <a:solidFill>
              <a:srgbClr val="04B1A4"/>
            </a:solidFill>
            <a:prstDash val="solid"/>
          </a:ln>
        </p:spPr>
      </p:sp>
      <p:sp>
        <p:nvSpPr>
          <p:cNvPr id="13" name="arch badge text 2"/>
          <p:cNvSpPr txBox="1"/>
          <p:nvPr/>
        </p:nvSpPr>
        <p:spPr>
          <a:xfrm>
            <a:off x="454660" y="2172318"/>
            <a:ext cx="320040" cy="306942"/>
          </a:xfrm>
          <a:prstGeom prst="rect">
            <a:avLst/>
          </a:prstGeom>
          <a:noFill/>
          <a:ln/>
        </p:spPr>
        <p:txBody>
          <a:bodyPr wrap="square" lIns="0" tIns="0" rIns="0" bIns="0" rtlCol="0" anchor="ctr"/>
          <a:lstStyle/>
          <a:p>
            <a:pPr algn="ctr" indent="0" marL="0">
              <a:buNone/>
            </a:pPr>
            <a:r>
              <a:rPr lang="en-US" sz="1200" b="1" dirty="0">
                <a:solidFill>
                  <a:srgbClr val="072E47"/>
                </a:solidFill>
              </a:rPr>
              <a:t>3</a:t>
            </a:r>
            <a:endParaRPr lang="en-US" sz="1200" dirty="0"/>
          </a:p>
        </p:txBody>
      </p:sp>
      <p:sp>
        <p:nvSpPr>
          <p:cNvPr id="14" name="arch step 2"/>
          <p:cNvSpPr txBox="1"/>
          <p:nvPr/>
        </p:nvSpPr>
        <p:spPr>
          <a:xfrm>
            <a:off x="943610" y="2121161"/>
            <a:ext cx="4445000" cy="409256"/>
          </a:xfrm>
          <a:prstGeom prst="rect">
            <a:avLst/>
          </a:prstGeom>
          <a:noFill/>
          <a:ln/>
        </p:spPr>
        <p:txBody>
          <a:bodyPr wrap="square" lIns="0" tIns="0" rIns="0" bIns="0" rtlCol="0" anchor="ctr"/>
          <a:lstStyle/>
          <a:p>
            <a:pPr indent="0" marL="0">
              <a:buNone/>
            </a:pPr>
            <a:r>
              <a:rPr lang="en-US" sz="1400" b="1" dirty="0">
                <a:solidFill>
                  <a:srgbClr val="FFFFFF"/>
                </a:solidFill>
              </a:rPr>
              <a:t>OpenAI returns JSON</a:t>
            </a:r>
            <a:pPr indent="0" marL="0">
              <a:buNone/>
            </a:pPr>
            <a:r>
              <a:rPr lang="en-US" sz="1200" dirty="0">
                <a:solidFill>
                  <a:srgbClr val="8FD3CC"/>
                </a:solidFill>
              </a:rPr>
              <a:t>   response_format = json_schema</a:t>
            </a:r>
            <a:endParaRPr lang="en-US" sz="1400" dirty="0"/>
          </a:p>
        </p:txBody>
      </p:sp>
      <p:sp>
        <p:nvSpPr>
          <p:cNvPr id="15" name="arch line 2"/>
          <p:cNvSpPr/>
          <p:nvPr/>
        </p:nvSpPr>
        <p:spPr>
          <a:xfrm>
            <a:off x="614680" y="2479260"/>
            <a:ext cx="0" cy="136419"/>
          </a:xfrm>
          <a:prstGeom prst="line">
            <a:avLst/>
          </a:prstGeom>
          <a:noFill/>
          <a:ln w="19050">
            <a:solidFill>
              <a:srgbClr val="8FD3CC"/>
            </a:solidFill>
            <a:prstDash val="solid"/>
          </a:ln>
        </p:spPr>
      </p:sp>
      <p:sp>
        <p:nvSpPr>
          <p:cNvPr id="16" name="arch badge 3"/>
          <p:cNvSpPr/>
          <p:nvPr/>
        </p:nvSpPr>
        <p:spPr>
          <a:xfrm>
            <a:off x="454660" y="2615678"/>
            <a:ext cx="320040" cy="306942"/>
          </a:xfrm>
          <a:prstGeom prst="ellipse">
            <a:avLst/>
          </a:prstGeom>
          <a:solidFill>
            <a:srgbClr val="D9534F"/>
          </a:solidFill>
          <a:ln w="12700">
            <a:solidFill>
              <a:srgbClr val="D9534F"/>
            </a:solidFill>
            <a:prstDash val="solid"/>
          </a:ln>
        </p:spPr>
      </p:sp>
      <p:sp>
        <p:nvSpPr>
          <p:cNvPr id="17" name="arch badge text 3"/>
          <p:cNvSpPr txBox="1"/>
          <p:nvPr/>
        </p:nvSpPr>
        <p:spPr>
          <a:xfrm>
            <a:off x="454660" y="2615678"/>
            <a:ext cx="320040" cy="306942"/>
          </a:xfrm>
          <a:prstGeom prst="rect">
            <a:avLst/>
          </a:prstGeom>
          <a:noFill/>
          <a:ln/>
        </p:spPr>
        <p:txBody>
          <a:bodyPr wrap="square" lIns="0" tIns="0" rIns="0" bIns="0" rtlCol="0" anchor="ctr"/>
          <a:lstStyle/>
          <a:p>
            <a:pPr algn="ctr" indent="0" marL="0">
              <a:buNone/>
            </a:pPr>
            <a:r>
              <a:rPr lang="en-US" sz="1200" b="1" dirty="0">
                <a:solidFill>
                  <a:srgbClr val="072E47"/>
                </a:solidFill>
              </a:rPr>
              <a:t>4</a:t>
            </a:r>
            <a:endParaRPr lang="en-US" sz="1200" dirty="0"/>
          </a:p>
        </p:txBody>
      </p:sp>
      <p:sp>
        <p:nvSpPr>
          <p:cNvPr id="18" name="arch step 3"/>
          <p:cNvSpPr txBox="1"/>
          <p:nvPr/>
        </p:nvSpPr>
        <p:spPr>
          <a:xfrm>
            <a:off x="943610" y="2564521"/>
            <a:ext cx="4445000" cy="409256"/>
          </a:xfrm>
          <a:prstGeom prst="rect">
            <a:avLst/>
          </a:prstGeom>
          <a:noFill/>
          <a:ln/>
        </p:spPr>
        <p:txBody>
          <a:bodyPr wrap="square" lIns="0" tIns="0" rIns="0" bIns="0" rtlCol="0" anchor="ctr"/>
          <a:lstStyle/>
          <a:p>
            <a:pPr indent="0" marL="0">
              <a:buNone/>
            </a:pPr>
            <a:r>
              <a:rPr lang="en-US" sz="1400" b="1" dirty="0">
                <a:solidFill>
                  <a:srgbClr val="FFFFFF"/>
                </a:solidFill>
              </a:rPr>
              <a:t>Django validates</a:t>
            </a:r>
            <a:pPr indent="0" marL="0">
              <a:buNone/>
            </a:pPr>
            <a:r>
              <a:rPr lang="en-US" sz="1200" dirty="0">
                <a:solidFill>
                  <a:srgbClr val="8FD3CC"/>
                </a:solidFill>
              </a:rPr>
              <a:t>   validate_questions() or AIError</a:t>
            </a:r>
            <a:endParaRPr lang="en-US" sz="1400" dirty="0"/>
          </a:p>
        </p:txBody>
      </p:sp>
      <p:sp>
        <p:nvSpPr>
          <p:cNvPr id="19" name="arch line 3"/>
          <p:cNvSpPr/>
          <p:nvPr/>
        </p:nvSpPr>
        <p:spPr>
          <a:xfrm>
            <a:off x="614680" y="2922620"/>
            <a:ext cx="0" cy="136419"/>
          </a:xfrm>
          <a:prstGeom prst="line">
            <a:avLst/>
          </a:prstGeom>
          <a:noFill/>
          <a:ln w="19050">
            <a:solidFill>
              <a:srgbClr val="8FD3CC"/>
            </a:solidFill>
            <a:prstDash val="solid"/>
          </a:ln>
        </p:spPr>
      </p:sp>
      <p:sp>
        <p:nvSpPr>
          <p:cNvPr id="20" name="arch badge 4"/>
          <p:cNvSpPr/>
          <p:nvPr/>
        </p:nvSpPr>
        <p:spPr>
          <a:xfrm>
            <a:off x="454660" y="3059039"/>
            <a:ext cx="320040" cy="306942"/>
          </a:xfrm>
          <a:prstGeom prst="ellipse">
            <a:avLst/>
          </a:prstGeom>
          <a:solidFill>
            <a:srgbClr val="1B6F86"/>
          </a:solidFill>
          <a:ln w="12700">
            <a:solidFill>
              <a:srgbClr val="1B6F86"/>
            </a:solidFill>
            <a:prstDash val="solid"/>
          </a:ln>
        </p:spPr>
      </p:sp>
      <p:sp>
        <p:nvSpPr>
          <p:cNvPr id="21" name="arch badge text 4"/>
          <p:cNvSpPr txBox="1"/>
          <p:nvPr/>
        </p:nvSpPr>
        <p:spPr>
          <a:xfrm>
            <a:off x="454660" y="3059039"/>
            <a:ext cx="320040" cy="306942"/>
          </a:xfrm>
          <a:prstGeom prst="rect">
            <a:avLst/>
          </a:prstGeom>
          <a:noFill/>
          <a:ln/>
        </p:spPr>
        <p:txBody>
          <a:bodyPr wrap="square" lIns="0" tIns="0" rIns="0" bIns="0" rtlCol="0" anchor="ctr"/>
          <a:lstStyle/>
          <a:p>
            <a:pPr algn="ctr" indent="0" marL="0">
              <a:buNone/>
            </a:pPr>
            <a:r>
              <a:rPr lang="en-US" sz="1200" b="1" dirty="0">
                <a:solidFill>
                  <a:srgbClr val="072E47"/>
                </a:solidFill>
              </a:rPr>
              <a:t>5</a:t>
            </a:r>
            <a:endParaRPr lang="en-US" sz="1200" dirty="0"/>
          </a:p>
        </p:txBody>
      </p:sp>
      <p:sp>
        <p:nvSpPr>
          <p:cNvPr id="22" name="arch step 4"/>
          <p:cNvSpPr txBox="1"/>
          <p:nvPr/>
        </p:nvSpPr>
        <p:spPr>
          <a:xfrm>
            <a:off x="943610" y="3007882"/>
            <a:ext cx="4445000" cy="409256"/>
          </a:xfrm>
          <a:prstGeom prst="rect">
            <a:avLst/>
          </a:prstGeom>
          <a:noFill/>
          <a:ln/>
        </p:spPr>
        <p:txBody>
          <a:bodyPr wrap="square" lIns="0" tIns="0" rIns="0" bIns="0" rtlCol="0" anchor="ctr"/>
          <a:lstStyle/>
          <a:p>
            <a:pPr indent="0" marL="0">
              <a:buNone/>
            </a:pPr>
            <a:r>
              <a:rPr lang="en-US" sz="1400" b="1" dirty="0">
                <a:solidFill>
                  <a:srgbClr val="FFFFFF"/>
                </a:solidFill>
              </a:rPr>
              <a:t>Saved as drafts</a:t>
            </a:r>
            <a:pPr indent="0" marL="0">
              <a:buNone/>
            </a:pPr>
            <a:r>
              <a:rPr lang="en-US" sz="1200" dirty="0">
                <a:solidFill>
                  <a:srgbClr val="8FD3CC"/>
                </a:solidFill>
              </a:rPr>
              <a:t>   status = draft, ai_generated = True</a:t>
            </a:r>
            <a:endParaRPr lang="en-US" sz="1400" dirty="0"/>
          </a:p>
        </p:txBody>
      </p:sp>
      <p:sp>
        <p:nvSpPr>
          <p:cNvPr id="23" name="arch line 4"/>
          <p:cNvSpPr/>
          <p:nvPr/>
        </p:nvSpPr>
        <p:spPr>
          <a:xfrm>
            <a:off x="614680" y="3365981"/>
            <a:ext cx="0" cy="136419"/>
          </a:xfrm>
          <a:prstGeom prst="line">
            <a:avLst/>
          </a:prstGeom>
          <a:noFill/>
          <a:ln w="19050">
            <a:solidFill>
              <a:srgbClr val="8FD3CC"/>
            </a:solidFill>
            <a:prstDash val="solid"/>
          </a:ln>
        </p:spPr>
      </p:sp>
      <p:sp>
        <p:nvSpPr>
          <p:cNvPr id="24" name="arch badge 5"/>
          <p:cNvSpPr/>
          <p:nvPr/>
        </p:nvSpPr>
        <p:spPr>
          <a:xfrm>
            <a:off x="454660" y="3502399"/>
            <a:ext cx="320040" cy="306942"/>
          </a:xfrm>
          <a:prstGeom prst="ellipse">
            <a:avLst/>
          </a:prstGeom>
          <a:solidFill>
            <a:srgbClr val="5DA144"/>
          </a:solidFill>
          <a:ln w="12700">
            <a:solidFill>
              <a:srgbClr val="5DA144"/>
            </a:solidFill>
            <a:prstDash val="solid"/>
          </a:ln>
        </p:spPr>
      </p:sp>
      <p:sp>
        <p:nvSpPr>
          <p:cNvPr id="25" name="arch badge text 5"/>
          <p:cNvSpPr txBox="1"/>
          <p:nvPr/>
        </p:nvSpPr>
        <p:spPr>
          <a:xfrm>
            <a:off x="454660" y="3502399"/>
            <a:ext cx="320040" cy="306942"/>
          </a:xfrm>
          <a:prstGeom prst="rect">
            <a:avLst/>
          </a:prstGeom>
          <a:noFill/>
          <a:ln/>
        </p:spPr>
        <p:txBody>
          <a:bodyPr wrap="square" lIns="0" tIns="0" rIns="0" bIns="0" rtlCol="0" anchor="ctr"/>
          <a:lstStyle/>
          <a:p>
            <a:pPr algn="ctr" indent="0" marL="0">
              <a:buNone/>
            </a:pPr>
            <a:r>
              <a:rPr lang="en-US" sz="1200" b="1" dirty="0">
                <a:solidFill>
                  <a:srgbClr val="072E47"/>
                </a:solidFill>
              </a:rPr>
              <a:t>6</a:t>
            </a:r>
            <a:endParaRPr lang="en-US" sz="1200" dirty="0"/>
          </a:p>
        </p:txBody>
      </p:sp>
      <p:sp>
        <p:nvSpPr>
          <p:cNvPr id="26" name="arch step 5"/>
          <p:cNvSpPr txBox="1"/>
          <p:nvPr/>
        </p:nvSpPr>
        <p:spPr>
          <a:xfrm>
            <a:off x="943610" y="3451242"/>
            <a:ext cx="4445000" cy="409256"/>
          </a:xfrm>
          <a:prstGeom prst="rect">
            <a:avLst/>
          </a:prstGeom>
          <a:noFill/>
          <a:ln/>
        </p:spPr>
        <p:txBody>
          <a:bodyPr wrap="square" lIns="0" tIns="0" rIns="0" bIns="0" rtlCol="0" anchor="ctr"/>
          <a:lstStyle/>
          <a:p>
            <a:pPr indent="0" marL="0">
              <a:buNone/>
            </a:pPr>
            <a:r>
              <a:rPr lang="en-US" sz="1400" b="1" dirty="0">
                <a:solidFill>
                  <a:srgbClr val="FFFFFF"/>
                </a:solidFill>
              </a:rPr>
              <a:t>Human accepts or rejects</a:t>
            </a:r>
            <a:pPr indent="0" marL="0">
              <a:buNone/>
            </a:pPr>
            <a:r>
              <a:rPr lang="en-US" sz="1200" dirty="0">
                <a:solidFill>
                  <a:srgbClr val="8FD3CC"/>
                </a:solidFill>
              </a:rPr>
              <a:t>   review_drafts view</a:t>
            </a:r>
            <a:endParaRPr lang="en-US" sz="1400" dirty="0"/>
          </a:p>
        </p:txBody>
      </p:sp>
      <p:sp>
        <p:nvSpPr>
          <p:cNvPr id="27" name="arch line 5"/>
          <p:cNvSpPr/>
          <p:nvPr/>
        </p:nvSpPr>
        <p:spPr>
          <a:xfrm>
            <a:off x="614680" y="3809341"/>
            <a:ext cx="0" cy="136419"/>
          </a:xfrm>
          <a:prstGeom prst="line">
            <a:avLst/>
          </a:prstGeom>
          <a:noFill/>
          <a:ln w="19050">
            <a:solidFill>
              <a:srgbClr val="8FD3CC"/>
            </a:solidFill>
            <a:prstDash val="solid"/>
          </a:ln>
        </p:spPr>
      </p:sp>
      <p:sp>
        <p:nvSpPr>
          <p:cNvPr id="28" name="arch badge 6"/>
          <p:cNvSpPr/>
          <p:nvPr/>
        </p:nvSpPr>
        <p:spPr>
          <a:xfrm>
            <a:off x="454660" y="3945760"/>
            <a:ext cx="320040" cy="306942"/>
          </a:xfrm>
          <a:prstGeom prst="ellipse">
            <a:avLst/>
          </a:prstGeom>
          <a:solidFill>
            <a:srgbClr val="04B1A4"/>
          </a:solidFill>
          <a:ln w="12700">
            <a:solidFill>
              <a:srgbClr val="04B1A4"/>
            </a:solidFill>
            <a:prstDash val="solid"/>
          </a:ln>
        </p:spPr>
      </p:sp>
      <p:sp>
        <p:nvSpPr>
          <p:cNvPr id="29" name="arch badge text 6"/>
          <p:cNvSpPr txBox="1"/>
          <p:nvPr/>
        </p:nvSpPr>
        <p:spPr>
          <a:xfrm>
            <a:off x="454660" y="3945760"/>
            <a:ext cx="320040" cy="306942"/>
          </a:xfrm>
          <a:prstGeom prst="rect">
            <a:avLst/>
          </a:prstGeom>
          <a:noFill/>
          <a:ln/>
        </p:spPr>
        <p:txBody>
          <a:bodyPr wrap="square" lIns="0" tIns="0" rIns="0" bIns="0" rtlCol="0" anchor="ctr"/>
          <a:lstStyle/>
          <a:p>
            <a:pPr algn="ctr" indent="0" marL="0">
              <a:buNone/>
            </a:pPr>
            <a:r>
              <a:rPr lang="en-US" sz="1200" b="1" dirty="0">
                <a:solidFill>
                  <a:srgbClr val="072E47"/>
                </a:solidFill>
              </a:rPr>
              <a:t>7</a:t>
            </a:r>
            <a:endParaRPr lang="en-US" sz="1200" dirty="0"/>
          </a:p>
        </p:txBody>
      </p:sp>
      <p:sp>
        <p:nvSpPr>
          <p:cNvPr id="30" name="arch step 6"/>
          <p:cNvSpPr txBox="1"/>
          <p:nvPr/>
        </p:nvSpPr>
        <p:spPr>
          <a:xfrm>
            <a:off x="943610" y="3894603"/>
            <a:ext cx="4445000" cy="409256"/>
          </a:xfrm>
          <a:prstGeom prst="rect">
            <a:avLst/>
          </a:prstGeom>
          <a:noFill/>
          <a:ln/>
        </p:spPr>
        <p:txBody>
          <a:bodyPr wrap="square" lIns="0" tIns="0" rIns="0" bIns="0" rtlCol="0" anchor="ctr"/>
          <a:lstStyle/>
          <a:p>
            <a:pPr indent="0" marL="0">
              <a:buNone/>
            </a:pPr>
            <a:r>
              <a:rPr lang="en-US" sz="1400" b="1" dirty="0">
                <a:solidFill>
                  <a:srgbClr val="FFFFFF"/>
                </a:solidFill>
              </a:rPr>
              <a:t>Published reviewer</a:t>
            </a:r>
            <a:pPr indent="0" marL="0">
              <a:buNone/>
            </a:pPr>
            <a:r>
              <a:rPr lang="en-US" sz="1200" dirty="0">
                <a:solidFill>
                  <a:srgbClr val="8FD3CC"/>
                </a:solidFill>
              </a:rPr>
              <a:t>   visible on /reviewer/&lt;slug&gt;/</a:t>
            </a:r>
            <a:endParaRPr lang="en-US" sz="1400" dirty="0"/>
          </a:p>
        </p:txBody>
      </p:sp>
      <p:sp>
        <p:nvSpPr>
          <p:cNvPr id="31" name="code card"/>
          <p:cNvSpPr/>
          <p:nvPr/>
        </p:nvSpPr>
        <p:spPr>
          <a:xfrm>
            <a:off x="5610860" y="1234440"/>
            <a:ext cx="2755900" cy="3069418"/>
          </a:xfrm>
          <a:prstGeom prst="roundRect">
            <a:avLst>
              <a:gd name="adj" fmla="val 3982"/>
            </a:avLst>
          </a:prstGeom>
          <a:solidFill>
            <a:srgbClr val="272822"/>
          </a:solidFill>
          <a:ln w="12700">
            <a:solidFill>
              <a:srgbClr val="272822"/>
            </a:solidFill>
            <a:prstDash val="solid"/>
          </a:ln>
          <a:effectLst>
            <a:outerShdw sx="100000" sy="100000" kx="0" ky="0" algn="bl" rotWithShape="0" blurRad="76200" dist="25400" dir="5400000">
              <a:srgbClr val="000000">
                <a:alpha val="18000"/>
              </a:srgbClr>
            </a:outerShdw>
          </a:effectLst>
        </p:spPr>
      </p:sp>
      <p:sp>
        <p:nvSpPr>
          <p:cNvPr id="32" name="file label"/>
          <p:cNvSpPr/>
          <p:nvPr/>
        </p:nvSpPr>
        <p:spPr>
          <a:xfrm>
            <a:off x="5788660" y="1336754"/>
            <a:ext cx="1142365" cy="238733"/>
          </a:xfrm>
          <a:prstGeom prst="roundRect">
            <a:avLst>
              <a:gd name="adj" fmla="val 30642"/>
            </a:avLst>
          </a:prstGeom>
          <a:solidFill>
            <a:srgbClr val="F99508"/>
          </a:solidFill>
          <a:ln w="12700">
            <a:solidFill>
              <a:srgbClr val="F99508"/>
            </a:solidFill>
            <a:prstDash val="solid"/>
          </a:ln>
        </p:spPr>
      </p:sp>
      <p:sp>
        <p:nvSpPr>
          <p:cNvPr id="33" name="file label text"/>
          <p:cNvSpPr txBox="1"/>
          <p:nvPr/>
        </p:nvSpPr>
        <p:spPr>
          <a:xfrm>
            <a:off x="5788660" y="1336754"/>
            <a:ext cx="1142365" cy="238733"/>
          </a:xfrm>
          <a:prstGeom prst="rect">
            <a:avLst/>
          </a:prstGeom>
          <a:noFill/>
          <a:ln/>
        </p:spPr>
        <p:txBody>
          <a:bodyPr wrap="square" lIns="0" tIns="0" rIns="0" bIns="0" rtlCol="0" anchor="ctr"/>
          <a:lstStyle/>
          <a:p>
            <a:pPr algn="ctr" indent="0" marL="0">
              <a:buNone/>
            </a:pPr>
            <a:r>
              <a:rPr lang="en-US" sz="1000" b="1" dirty="0">
                <a:solidFill>
                  <a:srgbClr val="072E47"/>
                </a:solidFill>
                <a:latin typeface="Courier New" pitchFamily="34" charset="0"/>
                <a:ea typeface="Courier New" pitchFamily="34" charset="-122"/>
                <a:cs typeface="Courier New" pitchFamily="34" charset="-120"/>
              </a:rPr>
              <a:t>the pattern</a:t>
            </a:r>
            <a:endParaRPr lang="en-US" sz="1000" dirty="0"/>
          </a:p>
        </p:txBody>
      </p:sp>
      <p:sp>
        <p:nvSpPr>
          <p:cNvPr id="34" name="code"/>
          <p:cNvSpPr txBox="1"/>
          <p:nvPr/>
        </p:nvSpPr>
        <p:spPr>
          <a:xfrm>
            <a:off x="5833110" y="1660748"/>
            <a:ext cx="2311400" cy="2515218"/>
          </a:xfrm>
          <a:prstGeom prst="rect">
            <a:avLst/>
          </a:prstGeom>
          <a:noFill/>
          <a:ln/>
        </p:spPr>
        <p:txBody>
          <a:bodyPr wrap="square" lIns="0" tIns="0" rIns="0" bIns="0" rtlCol="0" anchor="t"/>
          <a:lstStyle/>
          <a:p>
            <a:pPr indent="0" marL="0">
              <a:buNone/>
            </a:pPr>
            <a:r>
              <a:rPr lang="en-US" sz="1200" dirty="0">
                <a:solidFill>
                  <a:srgbClr val="F8F8F2"/>
                </a:solidFill>
                <a:latin typeface="Courier New" pitchFamily="34" charset="0"/>
                <a:ea typeface="Courier New" pitchFamily="34" charset="-122"/>
                <a:cs typeface="Courier New" pitchFamily="34" charset="-120"/>
              </a:rPr>
              <a:t>Python app</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AI API</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  structured</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validation</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human review</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8F8F2"/>
                </a:solidFill>
                <a:latin typeface="Courier New" pitchFamily="34" charset="0"/>
                <a:ea typeface="Courier New" pitchFamily="34" charset="-122"/>
                <a:cs typeface="Courier New" pitchFamily="34" charset="-120"/>
              </a:rPr>
              <a:t>application data</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D3CC"/>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What you learned today</a:t>
            </a:r>
            <a:endParaRPr lang="en-US" sz="2400" dirty="0"/>
          </a:p>
        </p:txBody>
      </p:sp>
      <p:sp>
        <p:nvSpPr>
          <p:cNvPr id="4" name="card Python"/>
          <p:cNvSpPr/>
          <p:nvPr/>
        </p:nvSpPr>
        <p:spPr>
          <a:xfrm>
            <a:off x="365760" y="1234440"/>
            <a:ext cx="2533650" cy="3069418"/>
          </a:xfrm>
          <a:prstGeom prst="roundRect">
            <a:avLst>
              <a:gd name="adj" fmla="val 4331"/>
            </a:avLst>
          </a:prstGeom>
          <a:solidFill>
            <a:srgbClr val="FFFFFF"/>
          </a:solidFill>
          <a:ln w="12700">
            <a:solidFill>
              <a:srgbClr val="FFFFFF"/>
            </a:solidFill>
            <a:prstDash val="solid"/>
          </a:ln>
        </p:spPr>
      </p:sp>
      <p:sp>
        <p:nvSpPr>
          <p:cNvPr id="5" name="icon bg Python"/>
          <p:cNvSpPr/>
          <p:nvPr/>
        </p:nvSpPr>
        <p:spPr>
          <a:xfrm>
            <a:off x="543560" y="1387911"/>
            <a:ext cx="444500" cy="426308"/>
          </a:xfrm>
          <a:prstGeom prst="ellipse">
            <a:avLst/>
          </a:prstGeom>
          <a:solidFill>
            <a:srgbClr val="F99508"/>
          </a:solidFill>
          <a:ln w="12700">
            <a:solidFill>
              <a:srgbClr val="F99508"/>
            </a:solidFill>
            <a:prstDash val="solid"/>
          </a:ln>
        </p:spPr>
      </p:sp>
      <p:pic>
        <p:nvPicPr>
          <p:cNvPr id="6" name="icon Python" descr="preencoded.png">    </p:cNvPr>
          <p:cNvPicPr>
            <a:picLocks noChangeAspect="1"/>
          </p:cNvPicPr>
          <p:nvPr/>
        </p:nvPicPr>
        <p:blipFill>
          <a:blip r:embed="rId1"/>
          <a:stretch>
            <a:fillRect/>
          </a:stretch>
        </p:blipFill>
        <p:spPr>
          <a:xfrm>
            <a:off x="641350" y="1481699"/>
            <a:ext cx="248920" cy="238733"/>
          </a:xfrm>
          <a:prstGeom prst="rect">
            <a:avLst/>
          </a:prstGeom>
        </p:spPr>
      </p:pic>
      <p:sp>
        <p:nvSpPr>
          <p:cNvPr id="7" name="card title Python"/>
          <p:cNvSpPr txBox="1"/>
          <p:nvPr/>
        </p:nvSpPr>
        <p:spPr>
          <a:xfrm>
            <a:off x="1121410" y="1387911"/>
            <a:ext cx="1644650" cy="426308"/>
          </a:xfrm>
          <a:prstGeom prst="rect">
            <a:avLst/>
          </a:prstGeom>
          <a:noFill/>
          <a:ln/>
        </p:spPr>
        <p:txBody>
          <a:bodyPr wrap="square" lIns="0" tIns="0" rIns="0" bIns="0" rtlCol="0" anchor="ctr"/>
          <a:lstStyle/>
          <a:p>
            <a:pPr indent="0" marL="0">
              <a:buNone/>
            </a:pPr>
            <a:r>
              <a:rPr lang="en-US" sz="1200" b="1" dirty="0">
                <a:solidFill>
                  <a:srgbClr val="072E47"/>
                </a:solidFill>
              </a:rPr>
              <a:t>Python</a:t>
            </a:r>
            <a:endParaRPr lang="en-US" sz="1200" dirty="0"/>
          </a:p>
        </p:txBody>
      </p:sp>
      <p:sp>
        <p:nvSpPr>
          <p:cNvPr id="8" name="card body Python"/>
          <p:cNvSpPr txBox="1"/>
          <p:nvPr/>
        </p:nvSpPr>
        <p:spPr>
          <a:xfrm>
            <a:off x="543560" y="1916533"/>
            <a:ext cx="2178050" cy="2259433"/>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8D91"/>
                </a:solidFill>
              </a:rPr>
              <a:t>Variables, strings, numbers</a:t>
            </a:r>
            <a:endParaRPr lang="en-US" sz="1300" dirty="0"/>
          </a:p>
          <a:p>
            <a:pPr marL="342900" indent="-342900">
              <a:spcAft>
                <a:spcPts val="400"/>
              </a:spcAft>
              <a:buSzPct val="100000"/>
              <a:buChar char="•"/>
            </a:pPr>
            <a:r>
              <a:rPr lang="en-US" sz="1300" dirty="0">
                <a:solidFill>
                  <a:srgbClr val="0F8D91"/>
                </a:solidFill>
              </a:rPr>
              <a:t>Lists and dictionaries</a:t>
            </a:r>
            <a:endParaRPr lang="en-US" sz="1300" dirty="0"/>
          </a:p>
          <a:p>
            <a:pPr marL="342900" indent="-342900">
              <a:spcAft>
                <a:spcPts val="400"/>
              </a:spcAft>
              <a:buSzPct val="100000"/>
              <a:buChar char="•"/>
            </a:pPr>
            <a:r>
              <a:rPr lang="en-US" sz="1300" dirty="0">
                <a:solidFill>
                  <a:srgbClr val="0F8D91"/>
                </a:solidFill>
              </a:rPr>
              <a:t>if / else, functions</a:t>
            </a:r>
            <a:endParaRPr lang="en-US" sz="1300" dirty="0"/>
          </a:p>
          <a:p>
            <a:pPr marL="342900" indent="-342900">
              <a:spcAft>
                <a:spcPts val="400"/>
              </a:spcAft>
              <a:buSzPct val="100000"/>
              <a:buChar char="•"/>
            </a:pPr>
            <a:r>
              <a:rPr lang="en-US" sz="1300" dirty="0">
                <a:solidFill>
                  <a:srgbClr val="0F8D91"/>
                </a:solidFill>
              </a:rPr>
              <a:t>Classes and objects</a:t>
            </a:r>
            <a:endParaRPr lang="en-US" sz="1300" dirty="0"/>
          </a:p>
          <a:p>
            <a:pPr marL="342900" indent="-342900">
              <a:spcAft>
                <a:spcPts val="400"/>
              </a:spcAft>
              <a:buSzPct val="100000"/>
              <a:buChar char="•"/>
            </a:pPr>
            <a:r>
              <a:rPr lang="en-US" sz="1300" dirty="0">
                <a:solidFill>
                  <a:srgbClr val="0F8D91"/>
                </a:solidFill>
              </a:rPr>
              <a:t>venv and pip</a:t>
            </a:r>
            <a:endParaRPr lang="en-US" sz="1300" dirty="0"/>
          </a:p>
          <a:p>
            <a:pPr marL="342900" indent="-342900">
              <a:spcAft>
                <a:spcPts val="400"/>
              </a:spcAft>
              <a:buSzPct val="100000"/>
              <a:buChar char="•"/>
            </a:pPr>
            <a:r>
              <a:rPr lang="en-US" sz="1300" dirty="0">
                <a:solidFill>
                  <a:srgbClr val="0F8D91"/>
                </a:solidFill>
              </a:rPr>
              <a:t>JSON</a:t>
            </a:r>
            <a:endParaRPr lang="en-US" sz="1300" dirty="0"/>
          </a:p>
        </p:txBody>
      </p:sp>
      <p:sp>
        <p:nvSpPr>
          <p:cNvPr id="9" name="card Django"/>
          <p:cNvSpPr/>
          <p:nvPr/>
        </p:nvSpPr>
        <p:spPr>
          <a:xfrm>
            <a:off x="3099435" y="1234440"/>
            <a:ext cx="2533650" cy="3069418"/>
          </a:xfrm>
          <a:prstGeom prst="roundRect">
            <a:avLst>
              <a:gd name="adj" fmla="val 4331"/>
            </a:avLst>
          </a:prstGeom>
          <a:solidFill>
            <a:srgbClr val="FFFFFF"/>
          </a:solidFill>
          <a:ln w="12700">
            <a:solidFill>
              <a:srgbClr val="FFFFFF"/>
            </a:solidFill>
            <a:prstDash val="solid"/>
          </a:ln>
        </p:spPr>
      </p:sp>
      <p:sp>
        <p:nvSpPr>
          <p:cNvPr id="10" name="icon bg Django"/>
          <p:cNvSpPr/>
          <p:nvPr/>
        </p:nvSpPr>
        <p:spPr>
          <a:xfrm>
            <a:off x="3277235" y="1387911"/>
            <a:ext cx="444500" cy="426308"/>
          </a:xfrm>
          <a:prstGeom prst="ellipse">
            <a:avLst/>
          </a:prstGeom>
          <a:solidFill>
            <a:srgbClr val="5DA144"/>
          </a:solidFill>
          <a:ln w="12700">
            <a:solidFill>
              <a:srgbClr val="5DA144"/>
            </a:solidFill>
            <a:prstDash val="solid"/>
          </a:ln>
        </p:spPr>
      </p:sp>
      <p:pic>
        <p:nvPicPr>
          <p:cNvPr id="11" name="icon Django" descr="preencoded.png">    </p:cNvPr>
          <p:cNvPicPr>
            <a:picLocks noChangeAspect="1"/>
          </p:cNvPicPr>
          <p:nvPr/>
        </p:nvPicPr>
        <p:blipFill>
          <a:blip r:embed="rId2"/>
          <a:stretch>
            <a:fillRect/>
          </a:stretch>
        </p:blipFill>
        <p:spPr>
          <a:xfrm>
            <a:off x="3375025" y="1481699"/>
            <a:ext cx="248920" cy="238733"/>
          </a:xfrm>
          <a:prstGeom prst="rect">
            <a:avLst/>
          </a:prstGeom>
        </p:spPr>
      </p:pic>
      <p:sp>
        <p:nvSpPr>
          <p:cNvPr id="12" name="card title Django"/>
          <p:cNvSpPr txBox="1"/>
          <p:nvPr/>
        </p:nvSpPr>
        <p:spPr>
          <a:xfrm>
            <a:off x="3855085" y="1387911"/>
            <a:ext cx="1644650" cy="426308"/>
          </a:xfrm>
          <a:prstGeom prst="rect">
            <a:avLst/>
          </a:prstGeom>
          <a:noFill/>
          <a:ln/>
        </p:spPr>
        <p:txBody>
          <a:bodyPr wrap="square" lIns="0" tIns="0" rIns="0" bIns="0" rtlCol="0" anchor="ctr"/>
          <a:lstStyle/>
          <a:p>
            <a:pPr indent="0" marL="0">
              <a:buNone/>
            </a:pPr>
            <a:r>
              <a:rPr lang="en-US" sz="1200" b="1" dirty="0">
                <a:solidFill>
                  <a:srgbClr val="072E47"/>
                </a:solidFill>
              </a:rPr>
              <a:t>Django</a:t>
            </a:r>
            <a:endParaRPr lang="en-US" sz="1200" dirty="0"/>
          </a:p>
        </p:txBody>
      </p:sp>
      <p:sp>
        <p:nvSpPr>
          <p:cNvPr id="13" name="card body Django"/>
          <p:cNvSpPr txBox="1"/>
          <p:nvPr/>
        </p:nvSpPr>
        <p:spPr>
          <a:xfrm>
            <a:off x="3277235" y="1916533"/>
            <a:ext cx="2178050" cy="2259433"/>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8D91"/>
                </a:solidFill>
              </a:rPr>
              <a:t>Project and app structure</a:t>
            </a:r>
            <a:endParaRPr lang="en-US" sz="1300" dirty="0"/>
          </a:p>
          <a:p>
            <a:pPr marL="342900" indent="-342900">
              <a:spcAft>
                <a:spcPts val="400"/>
              </a:spcAft>
              <a:buSzPct val="100000"/>
              <a:buChar char="•"/>
            </a:pPr>
            <a:r>
              <a:rPr lang="en-US" sz="1300" dirty="0">
                <a:solidFill>
                  <a:srgbClr val="0F8D91"/>
                </a:solidFill>
              </a:rPr>
              <a:t>Models, ForeignKey, migrations</a:t>
            </a:r>
            <a:endParaRPr lang="en-US" sz="1300" dirty="0"/>
          </a:p>
          <a:p>
            <a:pPr marL="342900" indent="-342900">
              <a:spcAft>
                <a:spcPts val="400"/>
              </a:spcAft>
              <a:buSzPct val="100000"/>
              <a:buChar char="•"/>
            </a:pPr>
            <a:r>
              <a:rPr lang="en-US" sz="1300" dirty="0">
                <a:solidFill>
                  <a:srgbClr val="0F8D91"/>
                </a:solidFill>
              </a:rPr>
              <a:t>Admin site</a:t>
            </a:r>
            <a:endParaRPr lang="en-US" sz="1300" dirty="0"/>
          </a:p>
          <a:p>
            <a:pPr marL="342900" indent="-342900">
              <a:spcAft>
                <a:spcPts val="400"/>
              </a:spcAft>
              <a:buSzPct val="100000"/>
              <a:buChar char="•"/>
            </a:pPr>
            <a:r>
              <a:rPr lang="en-US" sz="1300" dirty="0">
                <a:solidFill>
                  <a:srgbClr val="0F8D91"/>
                </a:solidFill>
              </a:rPr>
              <a:t>URLs, views, templates</a:t>
            </a:r>
            <a:endParaRPr lang="en-US" sz="1300" dirty="0"/>
          </a:p>
          <a:p>
            <a:pPr marL="342900" indent="-342900">
              <a:spcAft>
                <a:spcPts val="400"/>
              </a:spcAft>
              <a:buSzPct val="100000"/>
              <a:buChar char="•"/>
            </a:pPr>
            <a:r>
              <a:rPr lang="en-US" sz="1300" dirty="0">
                <a:solidFill>
                  <a:srgbClr val="0F8D91"/>
                </a:solidFill>
              </a:rPr>
              <a:t>Forms and validation</a:t>
            </a:r>
            <a:endParaRPr lang="en-US" sz="1300" dirty="0"/>
          </a:p>
          <a:p>
            <a:pPr marL="342900" indent="-342900">
              <a:spcAft>
                <a:spcPts val="400"/>
              </a:spcAft>
              <a:buSzPct val="100000"/>
              <a:buChar char="•"/>
            </a:pPr>
            <a:r>
              <a:rPr lang="en-US" sz="1300" dirty="0">
                <a:solidFill>
                  <a:srgbClr val="0F8D91"/>
                </a:solidFill>
              </a:rPr>
              <a:t>GET vs POST, CSRF</a:t>
            </a:r>
            <a:endParaRPr lang="en-US" sz="1300" dirty="0"/>
          </a:p>
        </p:txBody>
      </p:sp>
      <p:sp>
        <p:nvSpPr>
          <p:cNvPr id="14" name="card Generative AI"/>
          <p:cNvSpPr/>
          <p:nvPr/>
        </p:nvSpPr>
        <p:spPr>
          <a:xfrm>
            <a:off x="5833110" y="1234440"/>
            <a:ext cx="2533650" cy="3069418"/>
          </a:xfrm>
          <a:prstGeom prst="roundRect">
            <a:avLst>
              <a:gd name="adj" fmla="val 4331"/>
            </a:avLst>
          </a:prstGeom>
          <a:solidFill>
            <a:srgbClr val="FFFFFF"/>
          </a:solidFill>
          <a:ln w="12700">
            <a:solidFill>
              <a:srgbClr val="FFFFFF"/>
            </a:solidFill>
            <a:prstDash val="solid"/>
          </a:ln>
        </p:spPr>
      </p:sp>
      <p:sp>
        <p:nvSpPr>
          <p:cNvPr id="15" name="icon bg Generative AI"/>
          <p:cNvSpPr/>
          <p:nvPr/>
        </p:nvSpPr>
        <p:spPr>
          <a:xfrm>
            <a:off x="6010910" y="1387911"/>
            <a:ext cx="444500" cy="426308"/>
          </a:xfrm>
          <a:prstGeom prst="ellipse">
            <a:avLst/>
          </a:prstGeom>
          <a:solidFill>
            <a:srgbClr val="04B1A4"/>
          </a:solidFill>
          <a:ln w="12700">
            <a:solidFill>
              <a:srgbClr val="04B1A4"/>
            </a:solidFill>
            <a:prstDash val="solid"/>
          </a:ln>
        </p:spPr>
      </p:sp>
      <p:pic>
        <p:nvPicPr>
          <p:cNvPr id="16" name="icon Generative AI" descr="preencoded.png">    </p:cNvPr>
          <p:cNvPicPr>
            <a:picLocks noChangeAspect="1"/>
          </p:cNvPicPr>
          <p:nvPr/>
        </p:nvPicPr>
        <p:blipFill>
          <a:blip r:embed="rId3"/>
          <a:stretch>
            <a:fillRect/>
          </a:stretch>
        </p:blipFill>
        <p:spPr>
          <a:xfrm>
            <a:off x="6108700" y="1481699"/>
            <a:ext cx="248920" cy="238733"/>
          </a:xfrm>
          <a:prstGeom prst="rect">
            <a:avLst/>
          </a:prstGeom>
        </p:spPr>
      </p:pic>
      <p:sp>
        <p:nvSpPr>
          <p:cNvPr id="17" name="card title Generative AI"/>
          <p:cNvSpPr txBox="1"/>
          <p:nvPr/>
        </p:nvSpPr>
        <p:spPr>
          <a:xfrm>
            <a:off x="6588760" y="1387911"/>
            <a:ext cx="1644650" cy="426308"/>
          </a:xfrm>
          <a:prstGeom prst="rect">
            <a:avLst/>
          </a:prstGeom>
          <a:noFill/>
          <a:ln/>
        </p:spPr>
        <p:txBody>
          <a:bodyPr wrap="square" lIns="0" tIns="0" rIns="0" bIns="0" rtlCol="0" anchor="ctr"/>
          <a:lstStyle/>
          <a:p>
            <a:pPr indent="0" marL="0">
              <a:buNone/>
            </a:pPr>
            <a:r>
              <a:rPr lang="en-US" sz="1200" b="1" dirty="0">
                <a:solidFill>
                  <a:srgbClr val="072E47"/>
                </a:solidFill>
              </a:rPr>
              <a:t>Generative AI</a:t>
            </a:r>
            <a:endParaRPr lang="en-US" sz="1200" dirty="0"/>
          </a:p>
        </p:txBody>
      </p:sp>
      <p:sp>
        <p:nvSpPr>
          <p:cNvPr id="18" name="card body Generative AI"/>
          <p:cNvSpPr txBox="1"/>
          <p:nvPr/>
        </p:nvSpPr>
        <p:spPr>
          <a:xfrm>
            <a:off x="6010910" y="1916533"/>
            <a:ext cx="2178050" cy="2259433"/>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8D91"/>
                </a:solidFill>
              </a:rPr>
              <a:t>Calling an API from Python</a:t>
            </a:r>
            <a:endParaRPr lang="en-US" sz="1300" dirty="0"/>
          </a:p>
          <a:p>
            <a:pPr marL="342900" indent="-342900">
              <a:spcAft>
                <a:spcPts val="400"/>
              </a:spcAft>
              <a:buSzPct val="100000"/>
              <a:buChar char="•"/>
            </a:pPr>
            <a:r>
              <a:rPr lang="en-US" sz="1300" dirty="0">
                <a:solidFill>
                  <a:srgbClr val="0F8D91"/>
                </a:solidFill>
              </a:rPr>
              <a:t>Prompts as code</a:t>
            </a:r>
            <a:endParaRPr lang="en-US" sz="1300" dirty="0"/>
          </a:p>
          <a:p>
            <a:pPr marL="342900" indent="-342900">
              <a:spcAft>
                <a:spcPts val="400"/>
              </a:spcAft>
              <a:buSzPct val="100000"/>
              <a:buChar char="•"/>
            </a:pPr>
            <a:r>
              <a:rPr lang="en-US" sz="1300" dirty="0">
                <a:solidFill>
                  <a:srgbClr val="0F8D91"/>
                </a:solidFill>
              </a:rPr>
              <a:t>Structured (JSON) output</a:t>
            </a:r>
            <a:endParaRPr lang="en-US" sz="1300" dirty="0"/>
          </a:p>
          <a:p>
            <a:pPr marL="342900" indent="-342900">
              <a:spcAft>
                <a:spcPts val="400"/>
              </a:spcAft>
              <a:buSzPct val="100000"/>
              <a:buChar char="•"/>
            </a:pPr>
            <a:r>
              <a:rPr lang="en-US" sz="1300" dirty="0">
                <a:solidFill>
                  <a:srgbClr val="0F8D91"/>
                </a:solidFill>
              </a:rPr>
              <a:t>Validating AI output</a:t>
            </a:r>
            <a:endParaRPr lang="en-US" sz="1300" dirty="0"/>
          </a:p>
          <a:p>
            <a:pPr marL="342900" indent="-342900">
              <a:spcAft>
                <a:spcPts val="400"/>
              </a:spcAft>
              <a:buSzPct val="100000"/>
              <a:buChar char="•"/>
            </a:pPr>
            <a:r>
              <a:rPr lang="en-US" sz="1300" dirty="0">
                <a:solidFill>
                  <a:srgbClr val="0F8D91"/>
                </a:solidFill>
              </a:rPr>
              <a:t>Drafts and human review</a:t>
            </a:r>
            <a:endParaRPr lang="en-US" sz="1300" dirty="0"/>
          </a:p>
          <a:p>
            <a:pPr marL="342900" indent="-342900">
              <a:spcAft>
                <a:spcPts val="400"/>
              </a:spcAft>
              <a:buSzPct val="100000"/>
              <a:buChar char="•"/>
            </a:pPr>
            <a:r>
              <a:rPr lang="en-US" sz="1300" dirty="0">
                <a:solidFill>
                  <a:srgbClr val="0F8D91"/>
                </a:solidFill>
              </a:rPr>
              <a:t>Keeping secrets secret</a:t>
            </a:r>
            <a:endParaRPr lang="en-US" sz="13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713232"/>
            <a:ext cx="7955280" cy="475488"/>
          </a:xfrm>
          <a:prstGeom prst="rect">
            <a:avLst/>
          </a:prstGeom>
          <a:noFill/>
          <a:ln/>
        </p:spPr>
        <p:txBody>
          <a:bodyPr wrap="square" lIns="0" tIns="0" rIns="0" bIns="0" rtlCol="0" anchor="ctr"/>
          <a:lstStyle/>
          <a:p>
            <a:pPr indent="0" marL="0">
              <a:buNone/>
            </a:pPr>
            <a:r>
              <a:rPr lang="en-US" sz="2400" b="1" dirty="0">
                <a:solidFill>
                  <a:srgbClr val="04B1A4"/>
                </a:solidFill>
              </a:rPr>
              <a:t>Where to take it next</a:t>
            </a:r>
            <a:endParaRPr lang="en-US" sz="2400" dirty="0"/>
          </a:p>
        </p:txBody>
      </p:sp>
      <p:sp>
        <p:nvSpPr>
          <p:cNvPr id="4" name="badge 1"/>
          <p:cNvSpPr/>
          <p:nvPr/>
        </p:nvSpPr>
        <p:spPr>
          <a:xfrm>
            <a:off x="365760" y="1277071"/>
            <a:ext cx="400050" cy="383677"/>
          </a:xfrm>
          <a:prstGeom prst="ellipse">
            <a:avLst/>
          </a:prstGeom>
          <a:solidFill>
            <a:srgbClr val="5DA144"/>
          </a:solidFill>
          <a:ln w="12700">
            <a:solidFill>
              <a:srgbClr val="5DA144"/>
            </a:solidFill>
            <a:prstDash val="solid"/>
          </a:ln>
        </p:spPr>
      </p:sp>
      <p:sp>
        <p:nvSpPr>
          <p:cNvPr id="5" name="badge 1 text"/>
          <p:cNvSpPr txBox="1"/>
          <p:nvPr/>
        </p:nvSpPr>
        <p:spPr>
          <a:xfrm>
            <a:off x="365760" y="1277071"/>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step 1"/>
          <p:cNvSpPr txBox="1"/>
          <p:nvPr/>
        </p:nvSpPr>
        <p:spPr>
          <a:xfrm>
            <a:off x="899160" y="1234440"/>
            <a:ext cx="3289300" cy="767355"/>
          </a:xfrm>
          <a:prstGeom prst="rect">
            <a:avLst/>
          </a:prstGeom>
          <a:noFill/>
          <a:ln/>
        </p:spPr>
        <p:txBody>
          <a:bodyPr wrap="square" lIns="0" tIns="0" rIns="0" bIns="0" rtlCol="0" anchor="t"/>
          <a:lstStyle/>
          <a:p>
            <a:pPr indent="0" marL="0">
              <a:buNone/>
            </a:pPr>
            <a:r>
              <a:rPr lang="en-US" sz="1500" b="1" dirty="0">
                <a:solidFill>
                  <a:srgbClr val="000000"/>
                </a:solidFill>
              </a:rPr>
              <a:t>Add accounts</a:t>
            </a:r>
            <a:endParaRPr lang="en-US" sz="1500" dirty="0"/>
          </a:p>
          <a:p>
            <a:pPr indent="0" marL="0">
              <a:buNone/>
            </a:pPr>
            <a:r>
              <a:rPr lang="en-US" sz="1300" dirty="0">
                <a:solidFill>
                  <a:srgbClr val="0F8D91"/>
                </a:solidFill>
              </a:rPr>
              <a:t>Only the creator can edit their reviewers. django.contrib.auth is already installed.</a:t>
            </a:r>
            <a:endParaRPr lang="en-US" sz="1500" dirty="0"/>
          </a:p>
        </p:txBody>
      </p:sp>
      <p:sp>
        <p:nvSpPr>
          <p:cNvPr id="7" name="badge 2"/>
          <p:cNvSpPr/>
          <p:nvPr/>
        </p:nvSpPr>
        <p:spPr>
          <a:xfrm>
            <a:off x="365760" y="2129687"/>
            <a:ext cx="400050" cy="383677"/>
          </a:xfrm>
          <a:prstGeom prst="ellipse">
            <a:avLst/>
          </a:prstGeom>
          <a:solidFill>
            <a:srgbClr val="1B6F86"/>
          </a:solidFill>
          <a:ln w="12700">
            <a:solidFill>
              <a:srgbClr val="1B6F86"/>
            </a:solidFill>
            <a:prstDash val="solid"/>
          </a:ln>
        </p:spPr>
      </p:sp>
      <p:sp>
        <p:nvSpPr>
          <p:cNvPr id="8" name="badge 2 text"/>
          <p:cNvSpPr txBox="1"/>
          <p:nvPr/>
        </p:nvSpPr>
        <p:spPr>
          <a:xfrm>
            <a:off x="365760" y="2129687"/>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step 2"/>
          <p:cNvSpPr txBox="1"/>
          <p:nvPr/>
        </p:nvSpPr>
        <p:spPr>
          <a:xfrm>
            <a:off x="899160" y="2087056"/>
            <a:ext cx="3289300" cy="767355"/>
          </a:xfrm>
          <a:prstGeom prst="rect">
            <a:avLst/>
          </a:prstGeom>
          <a:noFill/>
          <a:ln/>
        </p:spPr>
        <p:txBody>
          <a:bodyPr wrap="square" lIns="0" tIns="0" rIns="0" bIns="0" rtlCol="0" anchor="t"/>
          <a:lstStyle/>
          <a:p>
            <a:pPr indent="0" marL="0">
              <a:buNone/>
            </a:pPr>
            <a:r>
              <a:rPr lang="en-US" sz="1500" b="1" dirty="0">
                <a:solidFill>
                  <a:srgbClr val="000000"/>
                </a:solidFill>
              </a:rPr>
              <a:t>Save attempts and a leaderboard</a:t>
            </a:r>
            <a:endParaRPr lang="en-US" sz="1500" dirty="0"/>
          </a:p>
          <a:p>
            <a:pPr indent="0" marL="0">
              <a:buNone/>
            </a:pPr>
            <a:r>
              <a:rPr lang="en-US" sz="1300" dirty="0">
                <a:solidFill>
                  <a:srgbClr val="0F8D91"/>
                </a:solidFill>
              </a:rPr>
              <a:t>A new Attempt model with a ForeignKey to Reviewer. Models, migrate, done.</a:t>
            </a:r>
            <a:endParaRPr lang="en-US" sz="1500" dirty="0"/>
          </a:p>
        </p:txBody>
      </p:sp>
      <p:sp>
        <p:nvSpPr>
          <p:cNvPr id="10" name="badge 3"/>
          <p:cNvSpPr/>
          <p:nvPr/>
        </p:nvSpPr>
        <p:spPr>
          <a:xfrm>
            <a:off x="365760" y="2982303"/>
            <a:ext cx="400050" cy="383677"/>
          </a:xfrm>
          <a:prstGeom prst="ellipse">
            <a:avLst/>
          </a:prstGeom>
          <a:solidFill>
            <a:srgbClr val="8FD3CC"/>
          </a:solidFill>
          <a:ln w="12700">
            <a:solidFill>
              <a:srgbClr val="8FD3CC"/>
            </a:solidFill>
            <a:prstDash val="solid"/>
          </a:ln>
        </p:spPr>
      </p:sp>
      <p:sp>
        <p:nvSpPr>
          <p:cNvPr id="11" name="badge 3 text"/>
          <p:cNvSpPr txBox="1"/>
          <p:nvPr/>
        </p:nvSpPr>
        <p:spPr>
          <a:xfrm>
            <a:off x="365760" y="2982303"/>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step 3"/>
          <p:cNvSpPr txBox="1"/>
          <p:nvPr/>
        </p:nvSpPr>
        <p:spPr>
          <a:xfrm>
            <a:off x="899160" y="2939672"/>
            <a:ext cx="3289300" cy="767355"/>
          </a:xfrm>
          <a:prstGeom prst="rect">
            <a:avLst/>
          </a:prstGeom>
          <a:noFill/>
          <a:ln/>
        </p:spPr>
        <p:txBody>
          <a:bodyPr wrap="square" lIns="0" tIns="0" rIns="0" bIns="0" rtlCol="0" anchor="t"/>
          <a:lstStyle/>
          <a:p>
            <a:pPr indent="0" marL="0">
              <a:buNone/>
            </a:pPr>
            <a:r>
              <a:rPr lang="en-US" sz="1500" b="1" dirty="0">
                <a:solidFill>
                  <a:srgbClr val="000000"/>
                </a:solidFill>
              </a:rPr>
              <a:t>Timer and shuffled choices</a:t>
            </a:r>
            <a:endParaRPr lang="en-US" sz="1500" dirty="0"/>
          </a:p>
          <a:p>
            <a:pPr indent="0" marL="0">
              <a:buNone/>
            </a:pPr>
            <a:r>
              <a:rPr lang="en-US" sz="1300" dirty="0">
                <a:solidFill>
                  <a:srgbClr val="0F8D91"/>
                </a:solidFill>
              </a:rPr>
              <a:t>A little JavaScript in take.html, random.shuffle in the view.</a:t>
            </a:r>
            <a:endParaRPr lang="en-US" sz="1500" dirty="0"/>
          </a:p>
        </p:txBody>
      </p:sp>
      <p:sp>
        <p:nvSpPr>
          <p:cNvPr id="13" name="badge 4"/>
          <p:cNvSpPr/>
          <p:nvPr/>
        </p:nvSpPr>
        <p:spPr>
          <a:xfrm>
            <a:off x="4544060" y="1277071"/>
            <a:ext cx="400050" cy="383677"/>
          </a:xfrm>
          <a:prstGeom prst="ellipse">
            <a:avLst/>
          </a:prstGeom>
          <a:solidFill>
            <a:srgbClr val="04B1A4"/>
          </a:solidFill>
          <a:ln w="12700">
            <a:solidFill>
              <a:srgbClr val="04B1A4"/>
            </a:solidFill>
            <a:prstDash val="solid"/>
          </a:ln>
        </p:spPr>
      </p:sp>
      <p:sp>
        <p:nvSpPr>
          <p:cNvPr id="14" name="badge 4 text"/>
          <p:cNvSpPr txBox="1"/>
          <p:nvPr/>
        </p:nvSpPr>
        <p:spPr>
          <a:xfrm>
            <a:off x="4544060" y="1277071"/>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step 4"/>
          <p:cNvSpPr txBox="1"/>
          <p:nvPr/>
        </p:nvSpPr>
        <p:spPr>
          <a:xfrm>
            <a:off x="5077460" y="1234440"/>
            <a:ext cx="3289300" cy="767355"/>
          </a:xfrm>
          <a:prstGeom prst="rect">
            <a:avLst/>
          </a:prstGeom>
          <a:noFill/>
          <a:ln/>
        </p:spPr>
        <p:txBody>
          <a:bodyPr wrap="square" lIns="0" tIns="0" rIns="0" bIns="0" rtlCol="0" anchor="t"/>
          <a:lstStyle/>
          <a:p>
            <a:pPr indent="0" marL="0">
              <a:buNone/>
            </a:pPr>
            <a:r>
              <a:rPr lang="en-US" sz="1500" b="1" dirty="0">
                <a:solidFill>
                  <a:srgbClr val="000000"/>
                </a:solidFill>
              </a:rPr>
              <a:t>AI explanations for wrong answers</a:t>
            </a:r>
            <a:endParaRPr lang="en-US" sz="1500" dirty="0"/>
          </a:p>
          <a:p>
            <a:pPr indent="0" marL="0">
              <a:buNone/>
            </a:pPr>
            <a:r>
              <a:rPr lang="en-US" sz="1300" dirty="0">
                <a:solidFill>
                  <a:srgbClr val="0F8D91"/>
                </a:solidFill>
              </a:rPr>
              <a:t>Same pattern: prompt, structured reply, validate, show.</a:t>
            </a:r>
            <a:endParaRPr lang="en-US" sz="1500" dirty="0"/>
          </a:p>
        </p:txBody>
      </p:sp>
      <p:sp>
        <p:nvSpPr>
          <p:cNvPr id="16" name="badge 5"/>
          <p:cNvSpPr/>
          <p:nvPr/>
        </p:nvSpPr>
        <p:spPr>
          <a:xfrm>
            <a:off x="4544060" y="2129687"/>
            <a:ext cx="400050" cy="383677"/>
          </a:xfrm>
          <a:prstGeom prst="ellipse">
            <a:avLst/>
          </a:prstGeom>
          <a:solidFill>
            <a:srgbClr val="04B1A4"/>
          </a:solidFill>
          <a:ln w="12700">
            <a:solidFill>
              <a:srgbClr val="04B1A4"/>
            </a:solidFill>
            <a:prstDash val="solid"/>
          </a:ln>
        </p:spPr>
      </p:sp>
      <p:sp>
        <p:nvSpPr>
          <p:cNvPr id="17" name="badge 5 text"/>
          <p:cNvSpPr txBox="1"/>
          <p:nvPr/>
        </p:nvSpPr>
        <p:spPr>
          <a:xfrm>
            <a:off x="4544060" y="2129687"/>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step 5"/>
          <p:cNvSpPr txBox="1"/>
          <p:nvPr/>
        </p:nvSpPr>
        <p:spPr>
          <a:xfrm>
            <a:off x="5077460" y="2087056"/>
            <a:ext cx="3289300" cy="767355"/>
          </a:xfrm>
          <a:prstGeom prst="rect">
            <a:avLst/>
          </a:prstGeom>
          <a:noFill/>
          <a:ln/>
        </p:spPr>
        <p:txBody>
          <a:bodyPr wrap="square" lIns="0" tIns="0" rIns="0" bIns="0" rtlCol="0" anchor="t"/>
          <a:lstStyle/>
          <a:p>
            <a:pPr indent="0" marL="0">
              <a:buNone/>
            </a:pPr>
            <a:r>
              <a:rPr lang="en-US" sz="1500" b="1" dirty="0">
                <a:solidFill>
                  <a:srgbClr val="000000"/>
                </a:solidFill>
              </a:rPr>
              <a:t>Swap the AI provider</a:t>
            </a:r>
            <a:endParaRPr lang="en-US" sz="1500" dirty="0"/>
          </a:p>
          <a:p>
            <a:pPr indent="0" marL="0">
              <a:buNone/>
            </a:pPr>
            <a:r>
              <a:rPr lang="en-US" sz="1300" dirty="0">
                <a:solidFill>
                  <a:srgbClr val="0F8D91"/>
                </a:solidFill>
              </a:rPr>
              <a:t>Claude, Gemini, a local model: only call_openai() changes.</a:t>
            </a:r>
            <a:endParaRPr lang="en-US" sz="1500" dirty="0"/>
          </a:p>
        </p:txBody>
      </p:sp>
      <p:sp>
        <p:nvSpPr>
          <p:cNvPr id="19" name="badge 6"/>
          <p:cNvSpPr/>
          <p:nvPr/>
        </p:nvSpPr>
        <p:spPr>
          <a:xfrm>
            <a:off x="4544060" y="2982303"/>
            <a:ext cx="400050" cy="383677"/>
          </a:xfrm>
          <a:prstGeom prst="ellipse">
            <a:avLst/>
          </a:prstGeom>
          <a:solidFill>
            <a:srgbClr val="F99508"/>
          </a:solidFill>
          <a:ln w="12700">
            <a:solidFill>
              <a:srgbClr val="F99508"/>
            </a:solidFill>
            <a:prstDash val="solid"/>
          </a:ln>
        </p:spPr>
      </p:sp>
      <p:sp>
        <p:nvSpPr>
          <p:cNvPr id="20" name="badge 6 text"/>
          <p:cNvSpPr txBox="1"/>
          <p:nvPr/>
        </p:nvSpPr>
        <p:spPr>
          <a:xfrm>
            <a:off x="4544060" y="2982303"/>
            <a:ext cx="400050" cy="383677"/>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step 6"/>
          <p:cNvSpPr txBox="1"/>
          <p:nvPr/>
        </p:nvSpPr>
        <p:spPr>
          <a:xfrm>
            <a:off x="5077460" y="2939672"/>
            <a:ext cx="3289300" cy="767355"/>
          </a:xfrm>
          <a:prstGeom prst="rect">
            <a:avLst/>
          </a:prstGeom>
          <a:noFill/>
          <a:ln/>
        </p:spPr>
        <p:txBody>
          <a:bodyPr wrap="square" lIns="0" tIns="0" rIns="0" bIns="0" rtlCol="0" anchor="t"/>
          <a:lstStyle/>
          <a:p>
            <a:pPr indent="0" marL="0">
              <a:buNone/>
            </a:pPr>
            <a:r>
              <a:rPr lang="en-US" sz="1500" b="1" dirty="0">
                <a:solidFill>
                  <a:srgbClr val="000000"/>
                </a:solidFill>
              </a:rPr>
              <a:t>Deploy it</a:t>
            </a:r>
            <a:endParaRPr lang="en-US" sz="1500" dirty="0"/>
          </a:p>
          <a:p>
            <a:pPr indent="0" marL="0">
              <a:buNone/>
            </a:pPr>
            <a:r>
              <a:rPr lang="en-US" sz="1300" dirty="0">
                <a:solidFill>
                  <a:srgbClr val="0F8D91"/>
                </a:solidFill>
              </a:rPr>
              <a:t>Railway, Render or Fly.io run Django for free-ish. Set DEBUG=False first!</a:t>
            </a:r>
            <a:endParaRPr lang="en-US" sz="1500" dirty="0"/>
          </a:p>
        </p:txBody>
      </p:sp>
      <p:sp>
        <p:nvSpPr>
          <p:cNvPr id="22" name="tip"/>
          <p:cNvSpPr/>
          <p:nvPr/>
        </p:nvSpPr>
        <p:spPr>
          <a:xfrm>
            <a:off x="365760" y="3877550"/>
            <a:ext cx="8001000" cy="468939"/>
          </a:xfrm>
          <a:prstGeom prst="roundRect">
            <a:avLst>
              <a:gd name="adj" fmla="val 19499"/>
            </a:avLst>
          </a:prstGeom>
          <a:solidFill>
            <a:srgbClr val="FFFFFF"/>
          </a:solidFill>
          <a:ln w="12700">
            <a:solidFill>
              <a:srgbClr val="FFFFFF"/>
            </a:solidFill>
            <a:prstDash val="solid"/>
          </a:ln>
        </p:spPr>
      </p:sp>
      <p:sp>
        <p:nvSpPr>
          <p:cNvPr id="23" name="tip dot"/>
          <p:cNvSpPr/>
          <p:nvPr/>
        </p:nvSpPr>
        <p:spPr>
          <a:xfrm>
            <a:off x="499110" y="3984127"/>
            <a:ext cx="266700" cy="255785"/>
          </a:xfrm>
          <a:prstGeom prst="ellipse">
            <a:avLst/>
          </a:prstGeom>
          <a:solidFill>
            <a:srgbClr val="04B1A4"/>
          </a:solidFill>
          <a:ln w="12700">
            <a:solidFill>
              <a:srgbClr val="04B1A4"/>
            </a:solidFill>
            <a:prstDash val="solid"/>
          </a:ln>
        </p:spPr>
      </p:sp>
      <p:sp>
        <p:nvSpPr>
          <p:cNvPr id="24" name="tip mark"/>
          <p:cNvSpPr txBox="1"/>
          <p:nvPr/>
        </p:nvSpPr>
        <p:spPr>
          <a:xfrm>
            <a:off x="499110" y="3984127"/>
            <a:ext cx="266700" cy="255785"/>
          </a:xfrm>
          <a:prstGeom prst="rect">
            <a:avLst/>
          </a:prstGeom>
          <a:noFill/>
          <a:ln/>
        </p:spPr>
        <p:txBody>
          <a:bodyPr wrap="square" lIns="0" tIns="0" rIns="0" bIns="0" rtlCol="0" anchor="ctr"/>
          <a:lstStyle/>
          <a:p>
            <a:pPr algn="ctr" indent="0" marL="0">
              <a:buNone/>
            </a:pPr>
            <a:r>
              <a:rPr lang="en-US" sz="1200" b="1" dirty="0">
                <a:solidFill>
                  <a:srgbClr val="072E47"/>
                </a:solidFill>
              </a:rPr>
              <a:t>!</a:t>
            </a:r>
            <a:endParaRPr lang="en-US" sz="1200" dirty="0"/>
          </a:p>
        </p:txBody>
      </p:sp>
      <p:sp>
        <p:nvSpPr>
          <p:cNvPr id="25" name="tip text"/>
          <p:cNvSpPr txBox="1"/>
          <p:nvPr/>
        </p:nvSpPr>
        <p:spPr>
          <a:xfrm>
            <a:off x="899160" y="3877550"/>
            <a:ext cx="7334250" cy="468939"/>
          </a:xfrm>
          <a:prstGeom prst="rect">
            <a:avLst/>
          </a:prstGeom>
          <a:noFill/>
          <a:ln/>
        </p:spPr>
        <p:txBody>
          <a:bodyPr wrap="square" lIns="0" tIns="0" rIns="0" bIns="0" rtlCol="0" anchor="ctr"/>
          <a:lstStyle/>
          <a:p>
            <a:pPr indent="0" marL="0">
              <a:buNone/>
            </a:pPr>
            <a:r>
              <a:rPr lang="en-US" sz="1200" dirty="0">
                <a:solidFill>
                  <a:srgbClr val="072E47"/>
                </a:solidFill>
              </a:rPr>
              <a:t>Don't just use AI tools. Build applications that use AI.</a:t>
            </a:r>
            <a:endParaRPr lang="en-US" sz="1200" dirty="0"/>
          </a:p>
        </p:txBody>
      </p:sp>
      <p:sp>
        <p:nvSpPr>
          <p:cNvPr id="25" name="Slide Number Placeholder 0"/>
          <p:cNvSpPr>
            <a:spLocks noGrp="1"/>
          </p:cNvSpPr>
          <p:nvPr>
            <p:ph type="sldNum" sz="quarter" idx="4294967295"/>
          </p:nvPr>
        </p:nvSpPr>
        <p:spPr>
          <a:xfrm>
            <a:off x="7955280" y="440740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072E47"/>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3" name="Text 0"/>
          <p:cNvSpPr/>
          <p:nvPr>
            <p:ph idx="100" type="title" hasCustomPrompt="1"/>
          </p:nvPr>
        </p:nvSpPr>
        <p:spPr>
          <a:xfrm>
            <a:off x="1463040" y="868680"/>
            <a:ext cx="5669280" cy="1965960"/>
          </a:xfrm>
          <a:prstGeom prst="rect">
            <a:avLst/>
          </a:prstGeom>
          <a:noFill/>
          <a:ln/>
        </p:spPr>
        <p:txBody>
          <a:bodyPr wrap="square" lIns="0" tIns="0" rIns="0" bIns="0" rtlCol="0" anchor="b"/>
          <a:lstStyle/>
          <a:p>
            <a:pPr indent="0" marL="0">
              <a:buNone/>
            </a:pPr>
            <a:r>
              <a:rPr lang="en-US" sz="3600" b="1" dirty="0">
                <a:solidFill>
                  <a:srgbClr val="04B1A4"/>
                </a:solidFill>
              </a:rPr>
              <a:t>Salamat! Keep building.</a:t>
            </a:r>
            <a:endParaRPr lang="en-US" sz="3600" dirty="0"/>
          </a:p>
        </p:txBody>
      </p:sp>
      <p:sp>
        <p:nvSpPr>
          <p:cNvPr id="4" name="repo pill"/>
          <p:cNvSpPr/>
          <p:nvPr/>
        </p:nvSpPr>
        <p:spPr>
          <a:xfrm>
            <a:off x="1581912" y="2990088"/>
            <a:ext cx="5120640" cy="384048"/>
          </a:xfrm>
          <a:prstGeom prst="roundRect">
            <a:avLst>
              <a:gd name="adj" fmla="val 19048"/>
            </a:avLst>
          </a:prstGeom>
          <a:solidFill>
            <a:srgbClr val="072E47"/>
          </a:solidFill>
          <a:ln w="12700">
            <a:solidFill>
              <a:srgbClr val="072E47"/>
            </a:solidFill>
            <a:prstDash val="solid"/>
          </a:ln>
        </p:spPr>
      </p:sp>
      <p:sp>
        <p:nvSpPr>
          <p:cNvPr id="5" name="repo text"/>
          <p:cNvSpPr txBox="1"/>
          <p:nvPr/>
        </p:nvSpPr>
        <p:spPr>
          <a:xfrm>
            <a:off x="1691640" y="2990088"/>
            <a:ext cx="5029200" cy="384048"/>
          </a:xfrm>
          <a:prstGeom prst="rect">
            <a:avLst/>
          </a:prstGeom>
          <a:noFill/>
          <a:ln/>
        </p:spPr>
        <p:txBody>
          <a:bodyPr wrap="square" lIns="0" tIns="0" rIns="0" bIns="0" rtlCol="0" anchor="ctr"/>
          <a:lstStyle/>
          <a:p>
            <a:pPr indent="0" marL="0">
              <a:buNone/>
            </a:pPr>
            <a:r>
              <a:rPr lang="en-US" sz="1500" b="1" dirty="0">
                <a:solidFill>
                  <a:srgbClr val="FEF9D7"/>
                </a:solidFill>
                <a:latin typeface="Courier New" pitchFamily="34" charset="0"/>
                <a:ea typeface="Courier New" pitchFamily="34" charset="-122"/>
                <a:cs typeface="Courier New" pitchFamily="34" charset="-120"/>
              </a:rPr>
              <a:t>github.com/73R3WY/pycon-davao-2026</a:t>
            </a:r>
            <a:endParaRPr lang="en-US" sz="1500" dirty="0"/>
          </a:p>
        </p:txBody>
      </p:sp>
      <p:sp>
        <p:nvSpPr>
          <p:cNvPr id="6" name="Text 0"/>
          <p:cNvSpPr/>
          <p:nvPr>
            <p:ph idx="101" type="body" hasCustomPrompt="1"/>
          </p:nvPr>
        </p:nvSpPr>
        <p:spPr>
          <a:xfrm>
            <a:off x="1581912" y="3520440"/>
            <a:ext cx="6035040" cy="640080"/>
          </a:xfrm>
          <a:prstGeom prst="rect">
            <a:avLst/>
          </a:prstGeom>
          <a:noFill/>
          <a:ln/>
        </p:spPr>
        <p:txBody>
          <a:bodyPr wrap="square" lIns="0" tIns="0" rIns="0" bIns="0" rtlCol="0" anchor="t"/>
          <a:lstStyle/>
          <a:p>
            <a:pPr indent="0" marL="0">
              <a:buNone/>
            </a:pPr>
            <a:r>
              <a:rPr lang="en-US" sz="1400" b="1" dirty="0">
                <a:solidFill>
                  <a:srgbClr val="072E47"/>
                </a:solidFill>
              </a:rPr>
              <a:t>All code, comments and slides · Questions welcome</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28" name="Shape 128"/>
        <p:cNvGrpSpPr/>
        <p:nvPr/>
      </p:nvGrpSpPr>
      <p:grpSpPr>
        <a:xfrm>
          <a:off x="0" y="0"/>
          <a:ext cx="0" cy="0"/>
          <a:chOff x="0" y="0"/>
          <a:chExt cx="0" cy="0"/>
        </a:xfrm>
      </p:grpSpPr>
      <p:sp>
        <p:nvSpPr>
          <p:cNvPr id="129" name="Google Shape;129;p25"/>
          <p:cNvSpPr txBox="1"/>
          <p:nvPr/>
        </p:nvSpPr>
        <p:spPr>
          <a:xfrm>
            <a:off x="1579477" y="3011100"/>
            <a:ext cx="3107400" cy="292500"/>
          </a:xfrm>
          <a:prstGeom prst="rect">
            <a:avLst/>
          </a:prstGeom>
          <a:solidFill>
            <a:srgbClr val="072E47"/>
          </a:solidFill>
          <a:ln cap="flat" cmpd="sng" w="76200">
            <a:solidFill>
              <a:srgbClr val="072E47"/>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47005"/>
              </a:lnSpc>
              <a:spcBef>
                <a:spcPts val="0"/>
              </a:spcBef>
              <a:spcAft>
                <a:spcPts val="0"/>
              </a:spcAft>
              <a:buNone/>
            </a:pPr>
            <a:r>
              <a:rPr b="1" i="0" lang="en" sz="1900" u="none" cap="none" strike="noStrike">
                <a:solidFill>
                  <a:srgbClr val="FEF9D7"/>
                </a:solidFill>
                <a:latin typeface="Inter"/>
                <a:ea typeface="Inter"/>
                <a:cs typeface="Inter"/>
                <a:sym typeface="Inter"/>
              </a:rPr>
              <a:t>BY: [INSERT NAME]</a:t>
            </a:r>
            <a:endParaRPr sz="700">
              <a:solidFill>
                <a:srgbClr val="FEF9D7"/>
              </a:solidFill>
            </a:endParaRPr>
          </a:p>
        </p:txBody>
      </p:sp>
      <p:sp>
        <p:nvSpPr>
          <p:cNvPr id="130" name="Google Shape;130;p25"/>
          <p:cNvSpPr txBox="1"/>
          <p:nvPr/>
        </p:nvSpPr>
        <p:spPr>
          <a:xfrm>
            <a:off x="1458459" y="1062832"/>
            <a:ext cx="3657300" cy="169320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1" i="0" lang="en" sz="5500" u="none" cap="none" strike="noStrike">
                <a:solidFill>
                  <a:srgbClr val="17AA9F"/>
                </a:solidFill>
                <a:latin typeface="Sora"/>
                <a:ea typeface="Sora"/>
                <a:cs typeface="Sora"/>
                <a:sym typeface="Sora"/>
              </a:rPr>
              <a:t>INSERT TITLE</a:t>
            </a:r>
            <a:endParaRPr sz="700"/>
          </a:p>
        </p:txBody>
      </p:sp>
      <p:sp>
        <p:nvSpPr>
          <p:cNvPr id="131" name="Google Shape;131;p25"/>
          <p:cNvSpPr txBox="1"/>
          <p:nvPr/>
        </p:nvSpPr>
        <p:spPr>
          <a:xfrm>
            <a:off x="1579479" y="3465857"/>
            <a:ext cx="5806200" cy="261600"/>
          </a:xfrm>
          <a:prstGeom prst="rect">
            <a:avLst/>
          </a:prstGeom>
          <a:noFill/>
          <a:ln>
            <a:noFill/>
          </a:ln>
        </p:spPr>
        <p:txBody>
          <a:bodyPr anchorCtr="0" anchor="t" bIns="0" lIns="0" spcFirstLastPara="1" rIns="0" wrap="square" tIns="0">
            <a:spAutoFit/>
          </a:bodyPr>
          <a:lstStyle/>
          <a:p>
            <a:pPr indent="0" lvl="0" marL="0" marR="0" rtl="0" algn="l">
              <a:lnSpc>
                <a:spcPct val="146995"/>
              </a:lnSpc>
              <a:spcBef>
                <a:spcPts val="0"/>
              </a:spcBef>
              <a:spcAft>
                <a:spcPts val="0"/>
              </a:spcAft>
              <a:buNone/>
            </a:pPr>
            <a:r>
              <a:rPr b="1" i="0" lang="en" sz="1700" u="none" cap="none" strike="noStrike">
                <a:solidFill>
                  <a:srgbClr val="072E47"/>
                </a:solidFill>
                <a:latin typeface="Inter"/>
                <a:ea typeface="Inter"/>
                <a:cs typeface="Inter"/>
                <a:sym typeface="Inter"/>
              </a:rPr>
              <a:t>Insert Position</a:t>
            </a:r>
            <a:endParaRPr sz="7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35" name="Shape 135"/>
        <p:cNvGrpSpPr/>
        <p:nvPr/>
      </p:nvGrpSpPr>
      <p:grpSpPr>
        <a:xfrm>
          <a:off x="0" y="0"/>
          <a:ext cx="0" cy="0"/>
          <a:chOff x="0" y="0"/>
          <a:chExt cx="0" cy="0"/>
        </a:xfrm>
      </p:grpSpPr>
      <p:sp>
        <p:nvSpPr>
          <p:cNvPr id="136" name="Google Shape;136;p26"/>
          <p:cNvSpPr txBox="1"/>
          <p:nvPr/>
        </p:nvSpPr>
        <p:spPr>
          <a:xfrm>
            <a:off x="467263" y="1302600"/>
            <a:ext cx="55686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3300" u="none" cap="none" strike="noStrike">
                <a:solidFill>
                  <a:srgbClr val="17AA9F"/>
                </a:solidFill>
                <a:latin typeface="Sora"/>
                <a:ea typeface="Sora"/>
                <a:cs typeface="Sora"/>
                <a:sym typeface="Sora"/>
              </a:rPr>
              <a:t>INSERT TITLE</a:t>
            </a:r>
            <a:endParaRPr sz="700"/>
          </a:p>
        </p:txBody>
      </p:sp>
      <p:sp>
        <p:nvSpPr>
          <p:cNvPr id="137" name="Google Shape;137;p26"/>
          <p:cNvSpPr txBox="1"/>
          <p:nvPr/>
        </p:nvSpPr>
        <p:spPr>
          <a:xfrm>
            <a:off x="473462" y="1775670"/>
            <a:ext cx="2241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u="none" cap="none" strike="noStrike">
                <a:solidFill>
                  <a:srgbClr val="FFA408"/>
                </a:solidFill>
                <a:latin typeface="Sora"/>
                <a:ea typeface="Sora"/>
                <a:cs typeface="Sora"/>
                <a:sym typeface="Sora"/>
              </a:rPr>
              <a:t>INSERT SUBTITLE</a:t>
            </a:r>
            <a:endParaRPr sz="700"/>
          </a:p>
        </p:txBody>
      </p:sp>
      <p:sp>
        <p:nvSpPr>
          <p:cNvPr id="138" name="Google Shape;138;p26"/>
          <p:cNvSpPr txBox="1"/>
          <p:nvPr/>
        </p:nvSpPr>
        <p:spPr>
          <a:xfrm>
            <a:off x="493924" y="2215396"/>
            <a:ext cx="4095900" cy="702000"/>
          </a:xfrm>
          <a:prstGeom prst="rect">
            <a:avLst/>
          </a:prstGeom>
          <a:noFill/>
          <a:ln>
            <a:noFill/>
          </a:ln>
        </p:spPr>
        <p:txBody>
          <a:bodyPr anchorCtr="0" anchor="t" bIns="0" lIns="0" spcFirstLastPara="1" rIns="0" wrap="square" tIns="0">
            <a:spAutoFit/>
          </a:bodyPr>
          <a:lstStyle/>
          <a:p>
            <a:pPr indent="-127000" lvl="1" marL="254000" marR="0" rtl="0" algn="l">
              <a:lnSpc>
                <a:spcPct val="140000"/>
              </a:lnSpc>
              <a:spcBef>
                <a:spcPts val="0"/>
              </a:spcBef>
              <a:spcAft>
                <a:spcPts val="0"/>
              </a:spcAft>
              <a:buClr>
                <a:srgbClr val="0F8D91"/>
              </a:buClr>
              <a:buSzPts val="1200"/>
              <a:buFont typeface="Arial"/>
              <a:buChar char="•"/>
            </a:pPr>
            <a:r>
              <a:rPr b="0" i="0" lang="en" sz="1200" u="none" cap="none" strike="noStrike">
                <a:solidFill>
                  <a:srgbClr val="0F8D91"/>
                </a:solidFill>
                <a:latin typeface="Inter"/>
                <a:ea typeface="Inter"/>
                <a:cs typeface="Inter"/>
                <a:sym typeface="Inter"/>
              </a:rPr>
              <a:t>Lorem ipsum dolor sit amet, consectetur adipiscing elit, sed do eiusmod tempor incididunt ut labore et dolore magna aliqua. </a:t>
            </a:r>
            <a:endParaRPr sz="7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42" name="Shape 142"/>
        <p:cNvGrpSpPr/>
        <p:nvPr/>
      </p:nvGrpSpPr>
      <p:grpSpPr>
        <a:xfrm>
          <a:off x="0" y="0"/>
          <a:ext cx="0" cy="0"/>
          <a:chOff x="0" y="0"/>
          <a:chExt cx="0" cy="0"/>
        </a:xfrm>
      </p:grpSpPr>
      <p:sp>
        <p:nvSpPr>
          <p:cNvPr id="143" name="Google Shape;143;p27"/>
          <p:cNvSpPr txBox="1"/>
          <p:nvPr/>
        </p:nvSpPr>
        <p:spPr>
          <a:xfrm>
            <a:off x="4390946" y="1642075"/>
            <a:ext cx="3975600" cy="507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 sz="3300" u="none" cap="none" strike="noStrike">
                <a:solidFill>
                  <a:srgbClr val="17AA9F"/>
                </a:solidFill>
                <a:latin typeface="Sora"/>
                <a:ea typeface="Sora"/>
                <a:cs typeface="Sora"/>
                <a:sym typeface="Sora"/>
              </a:rPr>
              <a:t>INSERT TITLE</a:t>
            </a:r>
            <a:endParaRPr sz="700"/>
          </a:p>
        </p:txBody>
      </p:sp>
      <p:sp>
        <p:nvSpPr>
          <p:cNvPr id="144" name="Google Shape;144;p27"/>
          <p:cNvSpPr txBox="1"/>
          <p:nvPr/>
        </p:nvSpPr>
        <p:spPr>
          <a:xfrm>
            <a:off x="6664621" y="2159189"/>
            <a:ext cx="1692600" cy="307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 sz="2000" u="none" cap="none" strike="noStrike">
                <a:solidFill>
                  <a:srgbClr val="FFA408"/>
                </a:solidFill>
                <a:latin typeface="Sora"/>
                <a:ea typeface="Sora"/>
                <a:cs typeface="Sora"/>
                <a:sym typeface="Sora"/>
              </a:rPr>
              <a:t>INSERT TITLE</a:t>
            </a:r>
            <a:endParaRPr sz="700"/>
          </a:p>
        </p:txBody>
      </p:sp>
      <p:sp>
        <p:nvSpPr>
          <p:cNvPr id="145" name="Google Shape;145;p27"/>
          <p:cNvSpPr txBox="1"/>
          <p:nvPr/>
        </p:nvSpPr>
        <p:spPr>
          <a:xfrm>
            <a:off x="4845126" y="2630425"/>
            <a:ext cx="3521400" cy="7020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 sz="1200" u="none" cap="none" strike="noStrike">
                <a:solidFill>
                  <a:srgbClr val="0F8D91"/>
                </a:solidFill>
                <a:latin typeface="Inter"/>
                <a:ea typeface="Inter"/>
                <a:cs typeface="Inter"/>
                <a:sym typeface="Inter"/>
              </a:rPr>
              <a:t>Lorem ipsum dolor sit amet, consectetur adipiscing elit, sed do eiusmod tempor incididunt ut labore et dolore magna aliqua. </a:t>
            </a:r>
            <a:endParaRPr sz="700"/>
          </a:p>
        </p:txBody>
      </p:sp>
      <p:sp>
        <p:nvSpPr>
          <p:cNvPr id="146" name="Google Shape;146;p27"/>
          <p:cNvSpPr/>
          <p:nvPr/>
        </p:nvSpPr>
        <p:spPr>
          <a:xfrm>
            <a:off x="877537" y="1233636"/>
            <a:ext cx="3398136" cy="2528323"/>
          </a:xfrm>
          <a:custGeom>
            <a:rect b="b" l="l" r="r" t="t"/>
            <a:pathLst>
              <a:path extrusionOk="0" h="856333" w="1150935">
                <a:moveTo>
                  <a:pt x="26195" y="0"/>
                </a:moveTo>
                <a:lnTo>
                  <a:pt x="1124741" y="0"/>
                </a:lnTo>
                <a:cubicBezTo>
                  <a:pt x="1139208" y="0"/>
                  <a:pt x="1150935" y="11728"/>
                  <a:pt x="1150935" y="26195"/>
                </a:cubicBezTo>
                <a:lnTo>
                  <a:pt x="1150935" y="830138"/>
                </a:lnTo>
                <a:cubicBezTo>
                  <a:pt x="1150935" y="844605"/>
                  <a:pt x="1139208" y="856333"/>
                  <a:pt x="1124741" y="856333"/>
                </a:cubicBezTo>
                <a:lnTo>
                  <a:pt x="26195" y="856333"/>
                </a:lnTo>
                <a:cubicBezTo>
                  <a:pt x="19247" y="856333"/>
                  <a:pt x="12585" y="853573"/>
                  <a:pt x="7672" y="848660"/>
                </a:cubicBezTo>
                <a:cubicBezTo>
                  <a:pt x="2760" y="843748"/>
                  <a:pt x="0" y="837085"/>
                  <a:pt x="0" y="830138"/>
                </a:cubicBezTo>
                <a:lnTo>
                  <a:pt x="0" y="26195"/>
                </a:lnTo>
                <a:cubicBezTo>
                  <a:pt x="0" y="11728"/>
                  <a:pt x="11728" y="0"/>
                  <a:pt x="26195" y="0"/>
                </a:cubicBezTo>
                <a:close/>
              </a:path>
            </a:pathLst>
          </a:custGeom>
          <a:blipFill rotWithShape="1">
            <a:blip r:embed="rId4">
              <a:alphaModFix/>
            </a:blip>
            <a:stretch>
              <a:fillRect b="0" l="-9050" r="-9050" t="0"/>
            </a:stretch>
          </a:blipFill>
          <a:ln cap="rnd" cmpd="sng" w="123825">
            <a:solidFill>
              <a:srgbClr val="0F8D9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7" name="Google Shape;147;p27"/>
          <p:cNvSpPr/>
          <p:nvPr/>
        </p:nvSpPr>
        <p:spPr>
          <a:xfrm rot="-904748">
            <a:off x="3929180" y="1000806"/>
            <a:ext cx="543349" cy="979006"/>
          </a:xfrm>
          <a:custGeom>
            <a:rect b="b" l="l" r="r" t="t"/>
            <a:pathLst>
              <a:path extrusionOk="0" h="1959164" w="1087336">
                <a:moveTo>
                  <a:pt x="0" y="0"/>
                </a:moveTo>
                <a:lnTo>
                  <a:pt x="1087336" y="0"/>
                </a:lnTo>
                <a:lnTo>
                  <a:pt x="1087336" y="1959164"/>
                </a:lnTo>
                <a:lnTo>
                  <a:pt x="0" y="195916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p28"/>
          <p:cNvSpPr txBox="1"/>
          <p:nvPr/>
        </p:nvSpPr>
        <p:spPr>
          <a:xfrm>
            <a:off x="1674404" y="2682704"/>
            <a:ext cx="5687700" cy="5541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 sz="1500" u="none" cap="none" strike="noStrike">
                <a:solidFill>
                  <a:srgbClr val="0F8D91"/>
                </a:solidFill>
                <a:latin typeface="Inter"/>
                <a:ea typeface="Inter"/>
                <a:cs typeface="Inter"/>
                <a:sym typeface="Inter"/>
              </a:rPr>
              <a:t>Lorem ipsum dolor sit amet, consectetur adipiscing elit, sed do eiusmod tempor incididunt ut labore et dolore magna aliqua. </a:t>
            </a:r>
            <a:endParaRPr sz="700"/>
          </a:p>
        </p:txBody>
      </p:sp>
      <p:sp>
        <p:nvSpPr>
          <p:cNvPr id="153" name="Google Shape;153;p28"/>
          <p:cNvSpPr txBox="1"/>
          <p:nvPr/>
        </p:nvSpPr>
        <p:spPr>
          <a:xfrm>
            <a:off x="2831925" y="1595138"/>
            <a:ext cx="3372600" cy="5079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 sz="3300" u="none" cap="none" strike="noStrike">
                <a:solidFill>
                  <a:srgbClr val="17AA9F"/>
                </a:solidFill>
                <a:latin typeface="Sora"/>
                <a:ea typeface="Sora"/>
                <a:cs typeface="Sora"/>
                <a:sym typeface="Sora"/>
              </a:rPr>
              <a:t>INSERT TITLE</a:t>
            </a:r>
            <a:endParaRPr sz="700"/>
          </a:p>
        </p:txBody>
      </p:sp>
      <p:sp>
        <p:nvSpPr>
          <p:cNvPr id="154" name="Google Shape;154;p28"/>
          <p:cNvSpPr txBox="1"/>
          <p:nvPr/>
        </p:nvSpPr>
        <p:spPr>
          <a:xfrm>
            <a:off x="3671925" y="2216598"/>
            <a:ext cx="1692600" cy="307800"/>
          </a:xfrm>
          <a:prstGeom prst="rect">
            <a:avLst/>
          </a:prstGeom>
          <a:noFill/>
          <a:ln>
            <a:noFill/>
          </a:ln>
        </p:spPr>
        <p:txBody>
          <a:bodyPr anchorCtr="0" anchor="t" bIns="0" lIns="0" spcFirstLastPara="1" rIns="0" wrap="square" tIns="0">
            <a:spAutoFit/>
          </a:bodyPr>
          <a:lstStyle/>
          <a:p>
            <a:pPr indent="0" lvl="0" marL="0" marR="0" rtl="0" algn="ctr">
              <a:lnSpc>
                <a:spcPct val="140024"/>
              </a:lnSpc>
              <a:spcBef>
                <a:spcPts val="0"/>
              </a:spcBef>
              <a:spcAft>
                <a:spcPts val="0"/>
              </a:spcAft>
              <a:buNone/>
            </a:pPr>
            <a:r>
              <a:rPr b="0" i="0" lang="en" sz="2000" u="none" cap="none" strike="noStrike">
                <a:solidFill>
                  <a:srgbClr val="FFA408"/>
                </a:solidFill>
                <a:latin typeface="Sora"/>
                <a:ea typeface="Sora"/>
                <a:cs typeface="Sora"/>
                <a:sym typeface="Sora"/>
              </a:rPr>
              <a:t>INSERT TITLE</a:t>
            </a:r>
            <a:endParaRPr sz="7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62" name="Shape 162"/>
        <p:cNvGrpSpPr/>
        <p:nvPr/>
      </p:nvGrpSpPr>
      <p:grpSpPr>
        <a:xfrm>
          <a:off x="0" y="0"/>
          <a:ext cx="0" cy="0"/>
          <a:chOff x="0" y="0"/>
          <a:chExt cx="0" cy="0"/>
        </a:xfrm>
      </p:grpSpPr>
      <p:grpSp>
        <p:nvGrpSpPr>
          <p:cNvPr id="163" name="Google Shape;163;p29"/>
          <p:cNvGrpSpPr/>
          <p:nvPr/>
        </p:nvGrpSpPr>
        <p:grpSpPr>
          <a:xfrm>
            <a:off x="0" y="0"/>
            <a:ext cx="11111257" cy="333495"/>
            <a:chOff x="0" y="0"/>
            <a:chExt cx="29630018" cy="889319"/>
          </a:xfrm>
        </p:grpSpPr>
        <p:sp>
          <p:nvSpPr>
            <p:cNvPr id="164" name="Google Shape;164;p29"/>
            <p:cNvSpPr/>
            <p:nvPr/>
          </p:nvSpPr>
          <p:spPr>
            <a:xfrm rot="-5400000">
              <a:off x="4461927" y="-4461927"/>
              <a:ext cx="889319" cy="9813173"/>
            </a:xfrm>
            <a:custGeom>
              <a:rect b="b" l="l" r="r" t="t"/>
              <a:pathLst>
                <a:path extrusionOk="0" h="9813173" w="889319">
                  <a:moveTo>
                    <a:pt x="0" y="0"/>
                  </a:moveTo>
                  <a:lnTo>
                    <a:pt x="889319" y="0"/>
                  </a:lnTo>
                  <a:lnTo>
                    <a:pt x="889319" y="9813173"/>
                  </a:lnTo>
                  <a:lnTo>
                    <a:pt x="0" y="9813173"/>
                  </a:lnTo>
                  <a:lnTo>
                    <a:pt x="0" y="0"/>
                  </a:lnTo>
                  <a:close/>
                </a:path>
              </a:pathLst>
            </a:custGeom>
            <a:blipFill rotWithShape="1">
              <a:blip r:embed="rId4">
                <a:alphaModFix/>
              </a:blip>
              <a:stretch>
                <a:fillRect b="0" l="0" r="0" t="0"/>
              </a:stretch>
            </a:blipFill>
            <a:ln>
              <a:noFill/>
            </a:ln>
          </p:spPr>
        </p:sp>
        <p:sp>
          <p:nvSpPr>
            <p:cNvPr id="165" name="Google Shape;165;p29"/>
            <p:cNvSpPr/>
            <p:nvPr/>
          </p:nvSpPr>
          <p:spPr>
            <a:xfrm rot="-5400000">
              <a:off x="14376699" y="-4461927"/>
              <a:ext cx="889319" cy="9813173"/>
            </a:xfrm>
            <a:custGeom>
              <a:rect b="b" l="l" r="r" t="t"/>
              <a:pathLst>
                <a:path extrusionOk="0" h="9813173" w="889319">
                  <a:moveTo>
                    <a:pt x="0" y="0"/>
                  </a:moveTo>
                  <a:lnTo>
                    <a:pt x="889319" y="0"/>
                  </a:lnTo>
                  <a:lnTo>
                    <a:pt x="889319" y="9813173"/>
                  </a:lnTo>
                  <a:lnTo>
                    <a:pt x="0" y="9813173"/>
                  </a:lnTo>
                  <a:lnTo>
                    <a:pt x="0" y="0"/>
                  </a:lnTo>
                  <a:close/>
                </a:path>
              </a:pathLst>
            </a:custGeom>
            <a:blipFill rotWithShape="1">
              <a:blip r:embed="rId4">
                <a:alphaModFix/>
              </a:blip>
              <a:stretch>
                <a:fillRect b="0" l="0" r="0" t="0"/>
              </a:stretch>
            </a:blipFill>
            <a:ln>
              <a:noFill/>
            </a:ln>
          </p:spPr>
        </p:sp>
        <p:sp>
          <p:nvSpPr>
            <p:cNvPr id="166" name="Google Shape;166;p29"/>
            <p:cNvSpPr/>
            <p:nvPr/>
          </p:nvSpPr>
          <p:spPr>
            <a:xfrm rot="-5400000">
              <a:off x="24278772" y="-4461927"/>
              <a:ext cx="889319" cy="9813173"/>
            </a:xfrm>
            <a:custGeom>
              <a:rect b="b" l="l" r="r" t="t"/>
              <a:pathLst>
                <a:path extrusionOk="0" h="9813173" w="889319">
                  <a:moveTo>
                    <a:pt x="0" y="0"/>
                  </a:moveTo>
                  <a:lnTo>
                    <a:pt x="889319" y="0"/>
                  </a:lnTo>
                  <a:lnTo>
                    <a:pt x="889319" y="9813173"/>
                  </a:lnTo>
                  <a:lnTo>
                    <a:pt x="0" y="9813173"/>
                  </a:lnTo>
                  <a:lnTo>
                    <a:pt x="0" y="0"/>
                  </a:lnTo>
                  <a:close/>
                </a:path>
              </a:pathLst>
            </a:custGeom>
            <a:blipFill rotWithShape="1">
              <a:blip r:embed="rId4">
                <a:alphaModFix/>
              </a:blip>
              <a:stretch>
                <a:fillRect b="0" l="0" r="0" t="0"/>
              </a:stretch>
            </a:blipFill>
            <a:ln>
              <a:noFill/>
            </a:ln>
          </p:spPr>
        </p:sp>
      </p:grpSp>
      <p:sp>
        <p:nvSpPr>
          <p:cNvPr id="167" name="Google Shape;167;p29"/>
          <p:cNvSpPr/>
          <p:nvPr/>
        </p:nvSpPr>
        <p:spPr>
          <a:xfrm>
            <a:off x="3811568" y="3701535"/>
            <a:ext cx="5332204" cy="1423000"/>
          </a:xfrm>
          <a:custGeom>
            <a:rect b="b" l="l" r="r" t="t"/>
            <a:pathLst>
              <a:path extrusionOk="0" h="2845999" w="10664408">
                <a:moveTo>
                  <a:pt x="0" y="0"/>
                </a:moveTo>
                <a:lnTo>
                  <a:pt x="10664408" y="0"/>
                </a:lnTo>
                <a:lnTo>
                  <a:pt x="10664408" y="2845999"/>
                </a:lnTo>
                <a:lnTo>
                  <a:pt x="0" y="2845999"/>
                </a:lnTo>
                <a:lnTo>
                  <a:pt x="0" y="0"/>
                </a:lnTo>
                <a:close/>
              </a:path>
            </a:pathLst>
          </a:custGeom>
          <a:blipFill rotWithShape="1">
            <a:blip r:embed="rId5">
              <a:alphaModFix/>
            </a:blip>
            <a:stretch>
              <a:fillRect b="0" l="-71480" r="0" t="0"/>
            </a:stretch>
          </a:blipFill>
          <a:ln>
            <a:noFill/>
          </a:ln>
        </p:spPr>
      </p:sp>
      <p:sp>
        <p:nvSpPr>
          <p:cNvPr id="168" name="Google Shape;168;p29"/>
          <p:cNvSpPr txBox="1"/>
          <p:nvPr/>
        </p:nvSpPr>
        <p:spPr>
          <a:xfrm>
            <a:off x="5094664" y="2096951"/>
            <a:ext cx="2766010" cy="105564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4100" u="none" cap="none" strike="noStrike">
                <a:solidFill>
                  <a:srgbClr val="FEF9D7"/>
                </a:solidFill>
                <a:latin typeface="Sora"/>
                <a:ea typeface="Sora"/>
                <a:cs typeface="Sora"/>
                <a:sym typeface="Sora"/>
              </a:rPr>
              <a:t>SEGMENT NAME</a:t>
            </a:r>
            <a:endParaRPr sz="7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EFCF"/>
        </a:solidFill>
      </p:bgPr>
    </p:bg>
    <p:spTree>
      <p:nvGrpSpPr>
        <p:cNvPr id="172" name="Shape 172"/>
        <p:cNvGrpSpPr/>
        <p:nvPr/>
      </p:nvGrpSpPr>
      <p:grpSpPr>
        <a:xfrm>
          <a:off x="0" y="0"/>
          <a:ext cx="0" cy="0"/>
          <a:chOff x="0" y="0"/>
          <a:chExt cx="0" cy="0"/>
        </a:xfrm>
      </p:grpSpPr>
      <p:sp>
        <p:nvSpPr>
          <p:cNvPr id="173" name="Google Shape;173;p30"/>
          <p:cNvSpPr/>
          <p:nvPr/>
        </p:nvSpPr>
        <p:spPr>
          <a:xfrm>
            <a:off x="4707448" y="2985332"/>
            <a:ext cx="3091246" cy="785888"/>
          </a:xfrm>
          <a:custGeom>
            <a:rect b="b" l="l" r="r" t="t"/>
            <a:pathLst>
              <a:path extrusionOk="0" h="1571775" w="6182492">
                <a:moveTo>
                  <a:pt x="0" y="0"/>
                </a:moveTo>
                <a:lnTo>
                  <a:pt x="6182493" y="0"/>
                </a:lnTo>
                <a:lnTo>
                  <a:pt x="6182493" y="1571775"/>
                </a:lnTo>
                <a:lnTo>
                  <a:pt x="0" y="1571775"/>
                </a:lnTo>
                <a:lnTo>
                  <a:pt x="0" y="0"/>
                </a:lnTo>
                <a:close/>
              </a:path>
            </a:pathLst>
          </a:custGeom>
          <a:blipFill rotWithShape="1">
            <a:blip r:embed="rId3">
              <a:alphaModFix/>
            </a:blip>
            <a:stretch>
              <a:fillRect b="0" l="0" r="0" t="-65177"/>
            </a:stretch>
          </a:blipFill>
          <a:ln>
            <a:noFill/>
          </a:ln>
        </p:spPr>
      </p:sp>
      <p:sp>
        <p:nvSpPr>
          <p:cNvPr id="174" name="Google Shape;174;p30"/>
          <p:cNvSpPr txBox="1"/>
          <p:nvPr/>
        </p:nvSpPr>
        <p:spPr>
          <a:xfrm>
            <a:off x="3367097" y="1357075"/>
            <a:ext cx="2695800" cy="5079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 sz="3300" u="none" cap="none" strike="noStrike">
                <a:solidFill>
                  <a:srgbClr val="072E47"/>
                </a:solidFill>
                <a:latin typeface="Sora"/>
                <a:ea typeface="Sora"/>
                <a:cs typeface="Sora"/>
                <a:sym typeface="Sora"/>
              </a:rPr>
              <a:t>BRANDING</a:t>
            </a:r>
            <a:endParaRPr sz="700"/>
          </a:p>
        </p:txBody>
      </p:sp>
      <p:sp>
        <p:nvSpPr>
          <p:cNvPr id="175" name="Google Shape;175;p30"/>
          <p:cNvSpPr txBox="1"/>
          <p:nvPr/>
        </p:nvSpPr>
        <p:spPr>
          <a:xfrm>
            <a:off x="843601" y="2247775"/>
            <a:ext cx="3395100" cy="5079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 sz="3300" u="none" cap="none" strike="noStrike">
                <a:solidFill>
                  <a:srgbClr val="072E47"/>
                </a:solidFill>
                <a:latin typeface="Sora"/>
                <a:ea typeface="Sora"/>
                <a:cs typeface="Sora"/>
                <a:sym typeface="Sora"/>
              </a:rPr>
              <a:t>TYPOGRAPHY</a:t>
            </a:r>
            <a:endParaRPr sz="700"/>
          </a:p>
        </p:txBody>
      </p:sp>
      <p:sp>
        <p:nvSpPr>
          <p:cNvPr id="176" name="Google Shape;176;p30"/>
          <p:cNvSpPr txBox="1"/>
          <p:nvPr/>
        </p:nvSpPr>
        <p:spPr>
          <a:xfrm>
            <a:off x="898823" y="2785200"/>
            <a:ext cx="825300" cy="5079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 sz="3300" u="none" cap="none" strike="noStrike">
                <a:solidFill>
                  <a:srgbClr val="17AA9F"/>
                </a:solidFill>
                <a:latin typeface="Sora"/>
                <a:ea typeface="Sora"/>
                <a:cs typeface="Sora"/>
                <a:sym typeface="Sora"/>
              </a:rPr>
              <a:t>Aa</a:t>
            </a:r>
            <a:endParaRPr sz="700"/>
          </a:p>
        </p:txBody>
      </p:sp>
      <p:sp>
        <p:nvSpPr>
          <p:cNvPr id="177" name="Google Shape;177;p30"/>
          <p:cNvSpPr txBox="1"/>
          <p:nvPr/>
        </p:nvSpPr>
        <p:spPr>
          <a:xfrm>
            <a:off x="1534095" y="3065200"/>
            <a:ext cx="1897200" cy="2154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i="0" lang="en" sz="1400" u="none" cap="none" strike="noStrike">
                <a:solidFill>
                  <a:srgbClr val="17AA9F"/>
                </a:solidFill>
                <a:latin typeface="Sora"/>
                <a:ea typeface="Sora"/>
                <a:cs typeface="Sora"/>
                <a:sym typeface="Sora"/>
              </a:rPr>
              <a:t>Sora ExtraBold</a:t>
            </a:r>
            <a:endParaRPr sz="700"/>
          </a:p>
        </p:txBody>
      </p:sp>
      <p:sp>
        <p:nvSpPr>
          <p:cNvPr id="178" name="Google Shape;178;p30"/>
          <p:cNvSpPr txBox="1"/>
          <p:nvPr/>
        </p:nvSpPr>
        <p:spPr>
          <a:xfrm>
            <a:off x="1534085" y="2971050"/>
            <a:ext cx="10470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 sz="700" u="none" cap="none" strike="noStrike">
                <a:solidFill>
                  <a:srgbClr val="17AA9F"/>
                </a:solidFill>
                <a:latin typeface="Sora"/>
                <a:ea typeface="Sora"/>
                <a:cs typeface="Sora"/>
                <a:sym typeface="Sora"/>
              </a:rPr>
              <a:t>Headline</a:t>
            </a:r>
            <a:endParaRPr sz="700"/>
          </a:p>
        </p:txBody>
      </p:sp>
      <p:sp>
        <p:nvSpPr>
          <p:cNvPr id="179" name="Google Shape;179;p30"/>
          <p:cNvSpPr txBox="1"/>
          <p:nvPr/>
        </p:nvSpPr>
        <p:spPr>
          <a:xfrm>
            <a:off x="898824" y="3278525"/>
            <a:ext cx="574800" cy="5079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 sz="3300" u="none" cap="none" strike="noStrike">
                <a:solidFill>
                  <a:srgbClr val="17AA9F"/>
                </a:solidFill>
                <a:latin typeface="Inter"/>
                <a:ea typeface="Inter"/>
                <a:cs typeface="Inter"/>
                <a:sym typeface="Inter"/>
              </a:rPr>
              <a:t>Aa</a:t>
            </a:r>
            <a:endParaRPr sz="700"/>
          </a:p>
        </p:txBody>
      </p:sp>
      <p:sp>
        <p:nvSpPr>
          <p:cNvPr id="180" name="Google Shape;180;p30"/>
          <p:cNvSpPr txBox="1"/>
          <p:nvPr/>
        </p:nvSpPr>
        <p:spPr>
          <a:xfrm>
            <a:off x="1534093" y="3558550"/>
            <a:ext cx="1636500" cy="2154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0" i="0" lang="en" sz="1400" u="none" cap="none" strike="noStrike">
                <a:solidFill>
                  <a:srgbClr val="17AA9F"/>
                </a:solidFill>
                <a:latin typeface="Inter"/>
                <a:ea typeface="Inter"/>
                <a:cs typeface="Inter"/>
                <a:sym typeface="Inter"/>
              </a:rPr>
              <a:t>Inter Regular</a:t>
            </a:r>
            <a:endParaRPr sz="700"/>
          </a:p>
        </p:txBody>
      </p:sp>
      <p:sp>
        <p:nvSpPr>
          <p:cNvPr id="181" name="Google Shape;181;p30"/>
          <p:cNvSpPr txBox="1"/>
          <p:nvPr/>
        </p:nvSpPr>
        <p:spPr>
          <a:xfrm>
            <a:off x="1534060" y="3459625"/>
            <a:ext cx="11415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700" u="none" cap="none" strike="noStrike">
                <a:solidFill>
                  <a:srgbClr val="17AA9F"/>
                </a:solidFill>
                <a:latin typeface="Inter"/>
                <a:ea typeface="Inter"/>
                <a:cs typeface="Inter"/>
                <a:sym typeface="Inter"/>
              </a:rPr>
              <a:t>Body</a:t>
            </a:r>
            <a:endParaRPr sz="700"/>
          </a:p>
        </p:txBody>
      </p:sp>
      <p:sp>
        <p:nvSpPr>
          <p:cNvPr id="182" name="Google Shape;182;p30"/>
          <p:cNvSpPr txBox="1"/>
          <p:nvPr/>
        </p:nvSpPr>
        <p:spPr>
          <a:xfrm>
            <a:off x="4707450" y="2291875"/>
            <a:ext cx="3909900" cy="5079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 sz="3300" u="none" cap="none" strike="noStrike">
                <a:solidFill>
                  <a:srgbClr val="072E47"/>
                </a:solidFill>
                <a:latin typeface="Sora"/>
                <a:ea typeface="Sora"/>
                <a:cs typeface="Sora"/>
                <a:sym typeface="Sora"/>
              </a:rPr>
              <a:t>COLOR PALETTE</a:t>
            </a:r>
            <a:endParaRPr sz="7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EFCF"/>
        </a:solidFill>
      </p:bgPr>
    </p:bg>
    <p:spTree>
      <p:nvGrpSpPr>
        <p:cNvPr id="186" name="Shape 186"/>
        <p:cNvGrpSpPr/>
        <p:nvPr/>
      </p:nvGrpSpPr>
      <p:grpSpPr>
        <a:xfrm>
          <a:off x="0" y="0"/>
          <a:ext cx="0" cy="0"/>
          <a:chOff x="0" y="0"/>
          <a:chExt cx="0" cy="0"/>
        </a:xfrm>
      </p:grpSpPr>
      <p:sp>
        <p:nvSpPr>
          <p:cNvPr id="187" name="Google Shape;187;p31"/>
          <p:cNvSpPr/>
          <p:nvPr/>
        </p:nvSpPr>
        <p:spPr>
          <a:xfrm>
            <a:off x="6722445" y="4107557"/>
            <a:ext cx="510202" cy="664808"/>
          </a:xfrm>
          <a:custGeom>
            <a:rect b="b" l="l" r="r" t="t"/>
            <a:pathLst>
              <a:path extrusionOk="0" h="1329617" w="1020404">
                <a:moveTo>
                  <a:pt x="0" y="0"/>
                </a:moveTo>
                <a:lnTo>
                  <a:pt x="1020404" y="0"/>
                </a:lnTo>
                <a:lnTo>
                  <a:pt x="1020404" y="1329618"/>
                </a:lnTo>
                <a:lnTo>
                  <a:pt x="0" y="1329618"/>
                </a:lnTo>
                <a:lnTo>
                  <a:pt x="0" y="0"/>
                </a:lnTo>
                <a:close/>
              </a:path>
            </a:pathLst>
          </a:custGeom>
          <a:blipFill rotWithShape="1">
            <a:blip r:embed="rId3">
              <a:alphaModFix/>
            </a:blip>
            <a:stretch>
              <a:fillRect b="0" l="0" r="0" t="0"/>
            </a:stretch>
          </a:blipFill>
          <a:ln>
            <a:noFill/>
          </a:ln>
        </p:spPr>
      </p:sp>
      <p:sp>
        <p:nvSpPr>
          <p:cNvPr id="188" name="Google Shape;188;p31"/>
          <p:cNvSpPr/>
          <p:nvPr/>
        </p:nvSpPr>
        <p:spPr>
          <a:xfrm>
            <a:off x="5296833" y="4381364"/>
            <a:ext cx="1274664" cy="374306"/>
          </a:xfrm>
          <a:custGeom>
            <a:rect b="b" l="l" r="r" t="t"/>
            <a:pathLst>
              <a:path extrusionOk="0" h="748612" w="2549327">
                <a:moveTo>
                  <a:pt x="0" y="0"/>
                </a:moveTo>
                <a:lnTo>
                  <a:pt x="2549328" y="0"/>
                </a:lnTo>
                <a:lnTo>
                  <a:pt x="2549328" y="748612"/>
                </a:lnTo>
                <a:lnTo>
                  <a:pt x="0" y="748612"/>
                </a:lnTo>
                <a:lnTo>
                  <a:pt x="0" y="0"/>
                </a:lnTo>
                <a:close/>
              </a:path>
            </a:pathLst>
          </a:custGeom>
          <a:blipFill rotWithShape="1">
            <a:blip r:embed="rId4">
              <a:alphaModFix/>
            </a:blip>
            <a:stretch>
              <a:fillRect b="0" l="0" r="0" t="0"/>
            </a:stretch>
          </a:blipFill>
          <a:ln>
            <a:noFill/>
          </a:ln>
        </p:spPr>
      </p:sp>
      <p:sp>
        <p:nvSpPr>
          <p:cNvPr id="189" name="Google Shape;189;p31"/>
          <p:cNvSpPr/>
          <p:nvPr/>
        </p:nvSpPr>
        <p:spPr>
          <a:xfrm>
            <a:off x="7420009" y="4107557"/>
            <a:ext cx="1217041" cy="664808"/>
          </a:xfrm>
          <a:custGeom>
            <a:rect b="b" l="l" r="r" t="t"/>
            <a:pathLst>
              <a:path extrusionOk="0" h="1329617" w="2434082">
                <a:moveTo>
                  <a:pt x="0" y="0"/>
                </a:moveTo>
                <a:lnTo>
                  <a:pt x="2434082" y="0"/>
                </a:lnTo>
                <a:lnTo>
                  <a:pt x="2434082" y="1329618"/>
                </a:lnTo>
                <a:lnTo>
                  <a:pt x="0" y="1329618"/>
                </a:lnTo>
                <a:lnTo>
                  <a:pt x="0" y="0"/>
                </a:lnTo>
                <a:close/>
              </a:path>
            </a:pathLst>
          </a:custGeom>
          <a:blipFill rotWithShape="1">
            <a:blip r:embed="rId5">
              <a:alphaModFix/>
            </a:blip>
            <a:stretch>
              <a:fillRect b="0" l="0" r="0" t="0"/>
            </a:stretch>
          </a:blipFill>
          <a:ln>
            <a:noFill/>
          </a:ln>
        </p:spPr>
      </p:sp>
      <p:sp>
        <p:nvSpPr>
          <p:cNvPr id="190" name="Google Shape;190;p31"/>
          <p:cNvSpPr/>
          <p:nvPr/>
        </p:nvSpPr>
        <p:spPr>
          <a:xfrm>
            <a:off x="1848628" y="1041661"/>
            <a:ext cx="615117" cy="1141845"/>
          </a:xfrm>
          <a:custGeom>
            <a:rect b="b" l="l" r="r" t="t"/>
            <a:pathLst>
              <a:path extrusionOk="0" h="2283691" w="1230235">
                <a:moveTo>
                  <a:pt x="0" y="0"/>
                </a:moveTo>
                <a:lnTo>
                  <a:pt x="1230234" y="0"/>
                </a:lnTo>
                <a:lnTo>
                  <a:pt x="1230234" y="2283690"/>
                </a:lnTo>
                <a:lnTo>
                  <a:pt x="0" y="2283690"/>
                </a:lnTo>
                <a:lnTo>
                  <a:pt x="0" y="0"/>
                </a:lnTo>
                <a:close/>
              </a:path>
            </a:pathLst>
          </a:custGeom>
          <a:blipFill rotWithShape="1">
            <a:blip r:embed="rId6">
              <a:alphaModFix/>
            </a:blip>
            <a:stretch>
              <a:fillRect b="0" l="0" r="0" t="0"/>
            </a:stretch>
          </a:blipFill>
          <a:ln>
            <a:noFill/>
          </a:ln>
        </p:spPr>
      </p:sp>
      <p:sp>
        <p:nvSpPr>
          <p:cNvPr id="191" name="Google Shape;191;p31"/>
          <p:cNvSpPr/>
          <p:nvPr/>
        </p:nvSpPr>
        <p:spPr>
          <a:xfrm>
            <a:off x="1100467" y="1041661"/>
            <a:ext cx="737217" cy="1141845"/>
          </a:xfrm>
          <a:custGeom>
            <a:rect b="b" l="l" r="r" t="t"/>
            <a:pathLst>
              <a:path extrusionOk="0" h="2283691" w="1474434">
                <a:moveTo>
                  <a:pt x="0" y="0"/>
                </a:moveTo>
                <a:lnTo>
                  <a:pt x="1474434" y="0"/>
                </a:lnTo>
                <a:lnTo>
                  <a:pt x="1474434" y="2283690"/>
                </a:lnTo>
                <a:lnTo>
                  <a:pt x="0" y="2283690"/>
                </a:lnTo>
                <a:lnTo>
                  <a:pt x="0" y="0"/>
                </a:lnTo>
                <a:close/>
              </a:path>
            </a:pathLst>
          </a:custGeom>
          <a:blipFill rotWithShape="1">
            <a:blip r:embed="rId7">
              <a:alphaModFix/>
            </a:blip>
            <a:stretch>
              <a:fillRect b="0" l="0" r="0" t="0"/>
            </a:stretch>
          </a:blipFill>
          <a:ln>
            <a:noFill/>
          </a:ln>
        </p:spPr>
      </p:sp>
      <p:sp>
        <p:nvSpPr>
          <p:cNvPr id="192" name="Google Shape;192;p31"/>
          <p:cNvSpPr/>
          <p:nvPr/>
        </p:nvSpPr>
        <p:spPr>
          <a:xfrm>
            <a:off x="440729" y="1041661"/>
            <a:ext cx="648795" cy="1141845"/>
          </a:xfrm>
          <a:custGeom>
            <a:rect b="b" l="l" r="r" t="t"/>
            <a:pathLst>
              <a:path extrusionOk="0" h="2283691" w="1297589">
                <a:moveTo>
                  <a:pt x="0" y="0"/>
                </a:moveTo>
                <a:lnTo>
                  <a:pt x="1297590" y="0"/>
                </a:lnTo>
                <a:lnTo>
                  <a:pt x="1297590" y="2283690"/>
                </a:lnTo>
                <a:lnTo>
                  <a:pt x="0" y="2283690"/>
                </a:lnTo>
                <a:lnTo>
                  <a:pt x="0" y="0"/>
                </a:lnTo>
                <a:close/>
              </a:path>
            </a:pathLst>
          </a:custGeom>
          <a:blipFill rotWithShape="1">
            <a:blip r:embed="rId8">
              <a:alphaModFix/>
            </a:blip>
            <a:stretch>
              <a:fillRect b="0" l="0" r="0" t="0"/>
            </a:stretch>
          </a:blipFill>
          <a:ln>
            <a:noFill/>
          </a:ln>
        </p:spPr>
      </p:sp>
      <p:sp>
        <p:nvSpPr>
          <p:cNvPr id="193" name="Google Shape;193;p31"/>
          <p:cNvSpPr/>
          <p:nvPr/>
        </p:nvSpPr>
        <p:spPr>
          <a:xfrm>
            <a:off x="2474689" y="1041661"/>
            <a:ext cx="651886" cy="1141845"/>
          </a:xfrm>
          <a:custGeom>
            <a:rect b="b" l="l" r="r" t="t"/>
            <a:pathLst>
              <a:path extrusionOk="0" h="2283691" w="1303773">
                <a:moveTo>
                  <a:pt x="0" y="0"/>
                </a:moveTo>
                <a:lnTo>
                  <a:pt x="1303773" y="0"/>
                </a:lnTo>
                <a:lnTo>
                  <a:pt x="1303773" y="2283690"/>
                </a:lnTo>
                <a:lnTo>
                  <a:pt x="0" y="2283690"/>
                </a:lnTo>
                <a:lnTo>
                  <a:pt x="0" y="0"/>
                </a:lnTo>
                <a:close/>
              </a:path>
            </a:pathLst>
          </a:custGeom>
          <a:blipFill rotWithShape="1">
            <a:blip r:embed="rId9">
              <a:alphaModFix/>
            </a:blip>
            <a:stretch>
              <a:fillRect b="0" l="0" r="0" t="0"/>
            </a:stretch>
          </a:blipFill>
          <a:ln>
            <a:noFill/>
          </a:ln>
        </p:spPr>
      </p:sp>
      <p:sp>
        <p:nvSpPr>
          <p:cNvPr id="194" name="Google Shape;194;p31"/>
          <p:cNvSpPr/>
          <p:nvPr/>
        </p:nvSpPr>
        <p:spPr>
          <a:xfrm>
            <a:off x="3137519" y="1041661"/>
            <a:ext cx="780221" cy="1141845"/>
          </a:xfrm>
          <a:custGeom>
            <a:rect b="b" l="l" r="r" t="t"/>
            <a:pathLst>
              <a:path extrusionOk="0" h="2283691" w="1560442">
                <a:moveTo>
                  <a:pt x="0" y="0"/>
                </a:moveTo>
                <a:lnTo>
                  <a:pt x="1560442" y="0"/>
                </a:lnTo>
                <a:lnTo>
                  <a:pt x="1560442" y="2283690"/>
                </a:lnTo>
                <a:lnTo>
                  <a:pt x="0" y="2283690"/>
                </a:lnTo>
                <a:lnTo>
                  <a:pt x="0" y="0"/>
                </a:lnTo>
                <a:close/>
              </a:path>
            </a:pathLst>
          </a:custGeom>
          <a:blipFill rotWithShape="1">
            <a:blip r:embed="rId10">
              <a:alphaModFix/>
            </a:blip>
            <a:stretch>
              <a:fillRect b="0" l="0" r="0" t="0"/>
            </a:stretch>
          </a:blipFill>
          <a:ln>
            <a:noFill/>
          </a:ln>
        </p:spPr>
      </p:sp>
      <p:sp>
        <p:nvSpPr>
          <p:cNvPr id="195" name="Google Shape;195;p31"/>
          <p:cNvSpPr/>
          <p:nvPr/>
        </p:nvSpPr>
        <p:spPr>
          <a:xfrm>
            <a:off x="440729" y="2497286"/>
            <a:ext cx="464702" cy="1411624"/>
          </a:xfrm>
          <a:custGeom>
            <a:rect b="b" l="l" r="r" t="t"/>
            <a:pathLst>
              <a:path extrusionOk="0" h="2823248" w="929405">
                <a:moveTo>
                  <a:pt x="0" y="0"/>
                </a:moveTo>
                <a:lnTo>
                  <a:pt x="929405" y="0"/>
                </a:lnTo>
                <a:lnTo>
                  <a:pt x="929405" y="2823248"/>
                </a:lnTo>
                <a:lnTo>
                  <a:pt x="0" y="2823248"/>
                </a:lnTo>
                <a:lnTo>
                  <a:pt x="0" y="0"/>
                </a:lnTo>
                <a:close/>
              </a:path>
            </a:pathLst>
          </a:custGeom>
          <a:blipFill rotWithShape="1">
            <a:blip r:embed="rId11">
              <a:alphaModFix/>
            </a:blip>
            <a:stretch>
              <a:fillRect b="0" l="0" r="0" t="0"/>
            </a:stretch>
          </a:blipFill>
          <a:ln>
            <a:noFill/>
          </a:ln>
        </p:spPr>
      </p:sp>
      <p:sp>
        <p:nvSpPr>
          <p:cNvPr id="196" name="Google Shape;196;p31"/>
          <p:cNvSpPr/>
          <p:nvPr/>
        </p:nvSpPr>
        <p:spPr>
          <a:xfrm>
            <a:off x="2963508" y="2653614"/>
            <a:ext cx="822895" cy="1098968"/>
          </a:xfrm>
          <a:custGeom>
            <a:rect b="b" l="l" r="r" t="t"/>
            <a:pathLst>
              <a:path extrusionOk="0" h="2197937" w="1645790">
                <a:moveTo>
                  <a:pt x="0" y="0"/>
                </a:moveTo>
                <a:lnTo>
                  <a:pt x="1645790" y="0"/>
                </a:lnTo>
                <a:lnTo>
                  <a:pt x="1645790" y="2197936"/>
                </a:lnTo>
                <a:lnTo>
                  <a:pt x="0" y="2197936"/>
                </a:lnTo>
                <a:lnTo>
                  <a:pt x="0" y="0"/>
                </a:lnTo>
                <a:close/>
              </a:path>
            </a:pathLst>
          </a:custGeom>
          <a:blipFill rotWithShape="1">
            <a:blip r:embed="rId12">
              <a:alphaModFix/>
            </a:blip>
            <a:stretch>
              <a:fillRect b="0" l="0" r="0" t="0"/>
            </a:stretch>
          </a:blipFill>
          <a:ln>
            <a:noFill/>
          </a:ln>
        </p:spPr>
      </p:sp>
      <p:sp>
        <p:nvSpPr>
          <p:cNvPr id="197" name="Google Shape;197;p31"/>
          <p:cNvSpPr/>
          <p:nvPr/>
        </p:nvSpPr>
        <p:spPr>
          <a:xfrm>
            <a:off x="916375" y="2653614"/>
            <a:ext cx="783904" cy="1098968"/>
          </a:xfrm>
          <a:custGeom>
            <a:rect b="b" l="l" r="r" t="t"/>
            <a:pathLst>
              <a:path extrusionOk="0" h="2197937" w="1567809">
                <a:moveTo>
                  <a:pt x="0" y="0"/>
                </a:moveTo>
                <a:lnTo>
                  <a:pt x="1567808" y="0"/>
                </a:lnTo>
                <a:lnTo>
                  <a:pt x="1567808" y="2197936"/>
                </a:lnTo>
                <a:lnTo>
                  <a:pt x="0" y="2197936"/>
                </a:lnTo>
                <a:lnTo>
                  <a:pt x="0" y="0"/>
                </a:lnTo>
                <a:close/>
              </a:path>
            </a:pathLst>
          </a:custGeom>
          <a:blipFill rotWithShape="1">
            <a:blip r:embed="rId13">
              <a:alphaModFix/>
            </a:blip>
            <a:stretch>
              <a:fillRect b="0" l="0" r="0" t="0"/>
            </a:stretch>
          </a:blipFill>
          <a:ln>
            <a:noFill/>
          </a:ln>
        </p:spPr>
      </p:sp>
      <p:sp>
        <p:nvSpPr>
          <p:cNvPr id="198" name="Google Shape;198;p31"/>
          <p:cNvSpPr/>
          <p:nvPr/>
        </p:nvSpPr>
        <p:spPr>
          <a:xfrm>
            <a:off x="1711223" y="2653614"/>
            <a:ext cx="1241341" cy="1098968"/>
          </a:xfrm>
          <a:custGeom>
            <a:rect b="b" l="l" r="r" t="t"/>
            <a:pathLst>
              <a:path extrusionOk="0" h="2197937" w="2482682">
                <a:moveTo>
                  <a:pt x="0" y="0"/>
                </a:moveTo>
                <a:lnTo>
                  <a:pt x="2482682" y="0"/>
                </a:lnTo>
                <a:lnTo>
                  <a:pt x="2482682" y="2197936"/>
                </a:lnTo>
                <a:lnTo>
                  <a:pt x="0" y="2197936"/>
                </a:lnTo>
                <a:lnTo>
                  <a:pt x="0" y="0"/>
                </a:lnTo>
                <a:close/>
              </a:path>
            </a:pathLst>
          </a:custGeom>
          <a:blipFill rotWithShape="1">
            <a:blip r:embed="rId14">
              <a:alphaModFix/>
            </a:blip>
            <a:stretch>
              <a:fillRect b="0" l="0" r="0" t="0"/>
            </a:stretch>
          </a:blipFill>
          <a:ln>
            <a:noFill/>
          </a:ln>
        </p:spPr>
      </p:sp>
      <p:sp>
        <p:nvSpPr>
          <p:cNvPr id="199" name="Google Shape;199;p31"/>
          <p:cNvSpPr/>
          <p:nvPr/>
        </p:nvSpPr>
        <p:spPr>
          <a:xfrm>
            <a:off x="3797346" y="2653614"/>
            <a:ext cx="650579" cy="1098968"/>
          </a:xfrm>
          <a:custGeom>
            <a:rect b="b" l="l" r="r" t="t"/>
            <a:pathLst>
              <a:path extrusionOk="0" h="2197937" w="1301158">
                <a:moveTo>
                  <a:pt x="0" y="0"/>
                </a:moveTo>
                <a:lnTo>
                  <a:pt x="1301158" y="0"/>
                </a:lnTo>
                <a:lnTo>
                  <a:pt x="1301158" y="2197936"/>
                </a:lnTo>
                <a:lnTo>
                  <a:pt x="0" y="2197936"/>
                </a:lnTo>
                <a:lnTo>
                  <a:pt x="0" y="0"/>
                </a:lnTo>
                <a:close/>
              </a:path>
            </a:pathLst>
          </a:custGeom>
          <a:blipFill rotWithShape="1">
            <a:blip r:embed="rId15">
              <a:alphaModFix/>
            </a:blip>
            <a:stretch>
              <a:fillRect b="0" l="0" r="0" t="0"/>
            </a:stretch>
          </a:blipFill>
          <a:ln>
            <a:noFill/>
          </a:ln>
        </p:spPr>
      </p:sp>
      <p:sp>
        <p:nvSpPr>
          <p:cNvPr id="200" name="Google Shape;200;p31"/>
          <p:cNvSpPr/>
          <p:nvPr/>
        </p:nvSpPr>
        <p:spPr>
          <a:xfrm>
            <a:off x="440729" y="2179313"/>
            <a:ext cx="1953722" cy="322165"/>
          </a:xfrm>
          <a:custGeom>
            <a:rect b="b" l="l" r="r" t="t"/>
            <a:pathLst>
              <a:path extrusionOk="0" h="644331" w="3907443">
                <a:moveTo>
                  <a:pt x="0" y="0"/>
                </a:moveTo>
                <a:lnTo>
                  <a:pt x="3907444" y="0"/>
                </a:lnTo>
                <a:lnTo>
                  <a:pt x="3907444" y="644331"/>
                </a:lnTo>
                <a:lnTo>
                  <a:pt x="0" y="644331"/>
                </a:lnTo>
                <a:lnTo>
                  <a:pt x="0" y="0"/>
                </a:lnTo>
                <a:close/>
              </a:path>
            </a:pathLst>
          </a:custGeom>
          <a:blipFill rotWithShape="1">
            <a:blip r:embed="rId16">
              <a:alphaModFix/>
            </a:blip>
            <a:stretch>
              <a:fillRect b="0" l="0" r="0" t="0"/>
            </a:stretch>
          </a:blipFill>
          <a:ln>
            <a:noFill/>
          </a:ln>
        </p:spPr>
      </p:sp>
      <p:sp>
        <p:nvSpPr>
          <p:cNvPr id="201" name="Google Shape;201;p31"/>
          <p:cNvSpPr/>
          <p:nvPr/>
        </p:nvSpPr>
        <p:spPr>
          <a:xfrm>
            <a:off x="4752388" y="1246619"/>
            <a:ext cx="1130563" cy="915449"/>
          </a:xfrm>
          <a:custGeom>
            <a:rect b="b" l="l" r="r" t="t"/>
            <a:pathLst>
              <a:path extrusionOk="0" h="1830898" w="2261126">
                <a:moveTo>
                  <a:pt x="0" y="0"/>
                </a:moveTo>
                <a:lnTo>
                  <a:pt x="2261126" y="0"/>
                </a:lnTo>
                <a:lnTo>
                  <a:pt x="2261126" y="1830897"/>
                </a:lnTo>
                <a:lnTo>
                  <a:pt x="0" y="1830897"/>
                </a:lnTo>
                <a:lnTo>
                  <a:pt x="0" y="0"/>
                </a:lnTo>
                <a:close/>
              </a:path>
            </a:pathLst>
          </a:custGeom>
          <a:blipFill rotWithShape="1">
            <a:blip r:embed="rId17">
              <a:alphaModFix/>
            </a:blip>
            <a:stretch>
              <a:fillRect b="0" l="0" r="0" t="0"/>
            </a:stretch>
          </a:blipFill>
          <a:ln>
            <a:noFill/>
          </a:ln>
        </p:spPr>
      </p:sp>
      <p:sp>
        <p:nvSpPr>
          <p:cNvPr id="202" name="Google Shape;202;p31"/>
          <p:cNvSpPr/>
          <p:nvPr/>
        </p:nvSpPr>
        <p:spPr>
          <a:xfrm>
            <a:off x="5892067" y="1246619"/>
            <a:ext cx="508054" cy="915449"/>
          </a:xfrm>
          <a:custGeom>
            <a:rect b="b" l="l" r="r" t="t"/>
            <a:pathLst>
              <a:path extrusionOk="0" h="1830898" w="1016107">
                <a:moveTo>
                  <a:pt x="0" y="0"/>
                </a:moveTo>
                <a:lnTo>
                  <a:pt x="1016107" y="0"/>
                </a:lnTo>
                <a:lnTo>
                  <a:pt x="1016107" y="1830897"/>
                </a:lnTo>
                <a:lnTo>
                  <a:pt x="0" y="1830897"/>
                </a:lnTo>
                <a:lnTo>
                  <a:pt x="0" y="0"/>
                </a:lnTo>
                <a:close/>
              </a:path>
            </a:pathLst>
          </a:custGeom>
          <a:blipFill rotWithShape="1">
            <a:blip r:embed="rId18">
              <a:alphaModFix/>
            </a:blip>
            <a:stretch>
              <a:fillRect b="0" l="0" r="0" t="0"/>
            </a:stretch>
          </a:blipFill>
          <a:ln>
            <a:noFill/>
          </a:ln>
        </p:spPr>
      </p:sp>
      <p:sp>
        <p:nvSpPr>
          <p:cNvPr id="203" name="Google Shape;203;p31"/>
          <p:cNvSpPr/>
          <p:nvPr/>
        </p:nvSpPr>
        <p:spPr>
          <a:xfrm>
            <a:off x="4458869" y="2653614"/>
            <a:ext cx="587038" cy="1098968"/>
          </a:xfrm>
          <a:custGeom>
            <a:rect b="b" l="l" r="r" t="t"/>
            <a:pathLst>
              <a:path extrusionOk="0" h="2197937" w="1174076">
                <a:moveTo>
                  <a:pt x="0" y="0"/>
                </a:moveTo>
                <a:lnTo>
                  <a:pt x="1174076" y="0"/>
                </a:lnTo>
                <a:lnTo>
                  <a:pt x="1174076" y="2197936"/>
                </a:lnTo>
                <a:lnTo>
                  <a:pt x="0" y="2197936"/>
                </a:lnTo>
                <a:lnTo>
                  <a:pt x="0" y="0"/>
                </a:lnTo>
                <a:close/>
              </a:path>
            </a:pathLst>
          </a:custGeom>
          <a:blipFill rotWithShape="1">
            <a:blip r:embed="rId19">
              <a:alphaModFix/>
            </a:blip>
            <a:stretch>
              <a:fillRect b="0" l="0" r="0" t="0"/>
            </a:stretch>
          </a:blipFill>
          <a:ln>
            <a:noFill/>
          </a:ln>
        </p:spPr>
      </p:sp>
      <p:sp>
        <p:nvSpPr>
          <p:cNvPr id="204" name="Google Shape;204;p31"/>
          <p:cNvSpPr/>
          <p:nvPr/>
        </p:nvSpPr>
        <p:spPr>
          <a:xfrm>
            <a:off x="5056850" y="2653614"/>
            <a:ext cx="779860" cy="1098968"/>
          </a:xfrm>
          <a:custGeom>
            <a:rect b="b" l="l" r="r" t="t"/>
            <a:pathLst>
              <a:path extrusionOk="0" h="2197937" w="1559719">
                <a:moveTo>
                  <a:pt x="0" y="0"/>
                </a:moveTo>
                <a:lnTo>
                  <a:pt x="1559719" y="0"/>
                </a:lnTo>
                <a:lnTo>
                  <a:pt x="1559719" y="2197936"/>
                </a:lnTo>
                <a:lnTo>
                  <a:pt x="0" y="2197936"/>
                </a:lnTo>
                <a:lnTo>
                  <a:pt x="0" y="0"/>
                </a:lnTo>
                <a:close/>
              </a:path>
            </a:pathLst>
          </a:custGeom>
          <a:blipFill rotWithShape="1">
            <a:blip r:embed="rId20">
              <a:alphaModFix/>
            </a:blip>
            <a:stretch>
              <a:fillRect b="0" l="0" r="0" t="0"/>
            </a:stretch>
          </a:blipFill>
          <a:ln>
            <a:noFill/>
          </a:ln>
        </p:spPr>
      </p:sp>
      <p:sp>
        <p:nvSpPr>
          <p:cNvPr id="205" name="Google Shape;205;p31"/>
          <p:cNvSpPr/>
          <p:nvPr/>
        </p:nvSpPr>
        <p:spPr>
          <a:xfrm>
            <a:off x="7232372" y="3325552"/>
            <a:ext cx="475329" cy="399032"/>
          </a:xfrm>
          <a:custGeom>
            <a:rect b="b" l="l" r="r" t="t"/>
            <a:pathLst>
              <a:path extrusionOk="0" h="798064" w="950659">
                <a:moveTo>
                  <a:pt x="0" y="0"/>
                </a:moveTo>
                <a:lnTo>
                  <a:pt x="950659" y="0"/>
                </a:lnTo>
                <a:lnTo>
                  <a:pt x="950659" y="798064"/>
                </a:lnTo>
                <a:lnTo>
                  <a:pt x="0" y="798064"/>
                </a:lnTo>
                <a:lnTo>
                  <a:pt x="0" y="0"/>
                </a:lnTo>
                <a:close/>
              </a:path>
            </a:pathLst>
          </a:custGeom>
          <a:blipFill rotWithShape="1">
            <a:blip r:embed="rId21">
              <a:alphaModFix/>
            </a:blip>
            <a:stretch>
              <a:fillRect b="0" l="0" r="0" t="0"/>
            </a:stretch>
          </a:blipFill>
          <a:ln>
            <a:noFill/>
          </a:ln>
        </p:spPr>
      </p:sp>
      <p:sp>
        <p:nvSpPr>
          <p:cNvPr id="206" name="Google Shape;206;p31"/>
          <p:cNvSpPr/>
          <p:nvPr/>
        </p:nvSpPr>
        <p:spPr>
          <a:xfrm>
            <a:off x="7862097" y="3232553"/>
            <a:ext cx="166432" cy="448856"/>
          </a:xfrm>
          <a:custGeom>
            <a:rect b="b" l="l" r="r" t="t"/>
            <a:pathLst>
              <a:path extrusionOk="0" h="897711" w="332865">
                <a:moveTo>
                  <a:pt x="0" y="0"/>
                </a:moveTo>
                <a:lnTo>
                  <a:pt x="332865" y="0"/>
                </a:lnTo>
                <a:lnTo>
                  <a:pt x="332865" y="897710"/>
                </a:lnTo>
                <a:lnTo>
                  <a:pt x="0" y="897710"/>
                </a:lnTo>
                <a:lnTo>
                  <a:pt x="0" y="0"/>
                </a:lnTo>
                <a:close/>
              </a:path>
            </a:pathLst>
          </a:custGeom>
          <a:blipFill rotWithShape="1">
            <a:blip r:embed="rId22">
              <a:alphaModFix/>
            </a:blip>
            <a:stretch>
              <a:fillRect b="0" l="0" r="0" t="0"/>
            </a:stretch>
          </a:blipFill>
          <a:ln>
            <a:noFill/>
          </a:ln>
        </p:spPr>
      </p:sp>
      <p:sp>
        <p:nvSpPr>
          <p:cNvPr id="207" name="Google Shape;207;p31"/>
          <p:cNvSpPr/>
          <p:nvPr/>
        </p:nvSpPr>
        <p:spPr>
          <a:xfrm>
            <a:off x="5847653" y="3309936"/>
            <a:ext cx="522712" cy="448856"/>
          </a:xfrm>
          <a:custGeom>
            <a:rect b="b" l="l" r="r" t="t"/>
            <a:pathLst>
              <a:path extrusionOk="0" h="897711" w="1045424">
                <a:moveTo>
                  <a:pt x="0" y="0"/>
                </a:moveTo>
                <a:lnTo>
                  <a:pt x="1045424" y="0"/>
                </a:lnTo>
                <a:lnTo>
                  <a:pt x="1045424" y="897711"/>
                </a:lnTo>
                <a:lnTo>
                  <a:pt x="0" y="897711"/>
                </a:lnTo>
                <a:lnTo>
                  <a:pt x="0" y="0"/>
                </a:lnTo>
                <a:close/>
              </a:path>
            </a:pathLst>
          </a:custGeom>
          <a:blipFill rotWithShape="1">
            <a:blip r:embed="rId23">
              <a:alphaModFix/>
            </a:blip>
            <a:stretch>
              <a:fillRect b="0" l="0" r="0" t="0"/>
            </a:stretch>
          </a:blipFill>
          <a:ln>
            <a:noFill/>
          </a:ln>
        </p:spPr>
      </p:sp>
      <p:sp>
        <p:nvSpPr>
          <p:cNvPr id="208" name="Google Shape;208;p31"/>
          <p:cNvSpPr/>
          <p:nvPr/>
        </p:nvSpPr>
        <p:spPr>
          <a:xfrm>
            <a:off x="8028530" y="2071565"/>
            <a:ext cx="821610" cy="790470"/>
          </a:xfrm>
          <a:custGeom>
            <a:rect b="b" l="l" r="r" t="t"/>
            <a:pathLst>
              <a:path extrusionOk="0" h="1580939" w="1643219">
                <a:moveTo>
                  <a:pt x="0" y="0"/>
                </a:moveTo>
                <a:lnTo>
                  <a:pt x="1643219" y="0"/>
                </a:lnTo>
                <a:lnTo>
                  <a:pt x="1643219" y="1580939"/>
                </a:lnTo>
                <a:lnTo>
                  <a:pt x="0" y="1580939"/>
                </a:lnTo>
                <a:lnTo>
                  <a:pt x="0" y="0"/>
                </a:lnTo>
                <a:close/>
              </a:path>
            </a:pathLst>
          </a:custGeom>
          <a:blipFill rotWithShape="1">
            <a:blip r:embed="rId24">
              <a:alphaModFix/>
            </a:blip>
            <a:stretch>
              <a:fillRect b="0" l="0" r="0" t="0"/>
            </a:stretch>
          </a:blipFill>
          <a:ln>
            <a:noFill/>
          </a:ln>
        </p:spPr>
      </p:sp>
      <p:sp>
        <p:nvSpPr>
          <p:cNvPr id="209" name="Google Shape;209;p31"/>
          <p:cNvSpPr/>
          <p:nvPr/>
        </p:nvSpPr>
        <p:spPr>
          <a:xfrm>
            <a:off x="7523858" y="1428282"/>
            <a:ext cx="552679" cy="535778"/>
          </a:xfrm>
          <a:custGeom>
            <a:rect b="b" l="l" r="r" t="t"/>
            <a:pathLst>
              <a:path extrusionOk="0" h="1071556" w="1105359">
                <a:moveTo>
                  <a:pt x="0" y="0"/>
                </a:moveTo>
                <a:lnTo>
                  <a:pt x="1105359" y="0"/>
                </a:lnTo>
                <a:lnTo>
                  <a:pt x="1105359" y="1071557"/>
                </a:lnTo>
                <a:lnTo>
                  <a:pt x="0" y="1071557"/>
                </a:lnTo>
                <a:lnTo>
                  <a:pt x="0" y="0"/>
                </a:lnTo>
                <a:close/>
              </a:path>
            </a:pathLst>
          </a:custGeom>
          <a:blipFill rotWithShape="1">
            <a:blip r:embed="rId25">
              <a:alphaModFix/>
            </a:blip>
            <a:stretch>
              <a:fillRect b="0" l="0" r="0" t="0"/>
            </a:stretch>
          </a:blipFill>
          <a:ln>
            <a:noFill/>
          </a:ln>
        </p:spPr>
      </p:sp>
      <p:sp>
        <p:nvSpPr>
          <p:cNvPr id="210" name="Google Shape;210;p31"/>
          <p:cNvSpPr/>
          <p:nvPr/>
        </p:nvSpPr>
        <p:spPr>
          <a:xfrm>
            <a:off x="7159497" y="2183506"/>
            <a:ext cx="486427" cy="566588"/>
          </a:xfrm>
          <a:custGeom>
            <a:rect b="b" l="l" r="r" t="t"/>
            <a:pathLst>
              <a:path extrusionOk="0" h="1133176" w="972855">
                <a:moveTo>
                  <a:pt x="0" y="0"/>
                </a:moveTo>
                <a:lnTo>
                  <a:pt x="972855" y="0"/>
                </a:lnTo>
                <a:lnTo>
                  <a:pt x="972855" y="1133177"/>
                </a:lnTo>
                <a:lnTo>
                  <a:pt x="0" y="1133177"/>
                </a:lnTo>
                <a:lnTo>
                  <a:pt x="0" y="0"/>
                </a:lnTo>
                <a:close/>
              </a:path>
            </a:pathLst>
          </a:custGeom>
          <a:blipFill rotWithShape="1">
            <a:blip r:embed="rId26">
              <a:alphaModFix/>
            </a:blip>
            <a:stretch>
              <a:fillRect b="0" l="0" r="0" t="0"/>
            </a:stretch>
          </a:blipFill>
          <a:ln>
            <a:noFill/>
          </a:ln>
        </p:spPr>
      </p:sp>
      <p:sp>
        <p:nvSpPr>
          <p:cNvPr id="211" name="Google Shape;211;p31"/>
          <p:cNvSpPr/>
          <p:nvPr/>
        </p:nvSpPr>
        <p:spPr>
          <a:xfrm>
            <a:off x="6454384" y="1468705"/>
            <a:ext cx="963668" cy="562140"/>
          </a:xfrm>
          <a:custGeom>
            <a:rect b="b" l="l" r="r" t="t"/>
            <a:pathLst>
              <a:path extrusionOk="0" h="1124279" w="1927335">
                <a:moveTo>
                  <a:pt x="0" y="0"/>
                </a:moveTo>
                <a:lnTo>
                  <a:pt x="1927335" y="0"/>
                </a:lnTo>
                <a:lnTo>
                  <a:pt x="1927335" y="1124279"/>
                </a:lnTo>
                <a:lnTo>
                  <a:pt x="0" y="1124279"/>
                </a:lnTo>
                <a:lnTo>
                  <a:pt x="0" y="0"/>
                </a:lnTo>
                <a:close/>
              </a:path>
            </a:pathLst>
          </a:custGeom>
          <a:blipFill rotWithShape="1">
            <a:blip r:embed="rId27">
              <a:alphaModFix/>
            </a:blip>
            <a:stretch>
              <a:fillRect b="0" l="0" r="0" t="0"/>
            </a:stretch>
          </a:blipFill>
          <a:ln>
            <a:noFill/>
          </a:ln>
        </p:spPr>
      </p:sp>
      <p:sp>
        <p:nvSpPr>
          <p:cNvPr id="212" name="Google Shape;212;p31"/>
          <p:cNvSpPr/>
          <p:nvPr/>
        </p:nvSpPr>
        <p:spPr>
          <a:xfrm>
            <a:off x="6498422" y="3223487"/>
            <a:ext cx="557222" cy="553340"/>
          </a:xfrm>
          <a:custGeom>
            <a:rect b="b" l="l" r="r" t="t"/>
            <a:pathLst>
              <a:path extrusionOk="0" h="1106679" w="1114445">
                <a:moveTo>
                  <a:pt x="0" y="0"/>
                </a:moveTo>
                <a:lnTo>
                  <a:pt x="1114445" y="0"/>
                </a:lnTo>
                <a:lnTo>
                  <a:pt x="1114445" y="1106679"/>
                </a:lnTo>
                <a:lnTo>
                  <a:pt x="0" y="1106679"/>
                </a:lnTo>
                <a:lnTo>
                  <a:pt x="0" y="0"/>
                </a:lnTo>
                <a:close/>
              </a:path>
            </a:pathLst>
          </a:custGeom>
          <a:blipFill rotWithShape="1">
            <a:blip r:embed="rId28">
              <a:alphaModFix/>
            </a:blip>
            <a:stretch>
              <a:fillRect b="0" l="0" r="0" t="0"/>
            </a:stretch>
          </a:blipFill>
          <a:ln>
            <a:noFill/>
          </a:ln>
        </p:spPr>
      </p:sp>
      <p:sp>
        <p:nvSpPr>
          <p:cNvPr id="213" name="Google Shape;213;p31"/>
          <p:cNvSpPr/>
          <p:nvPr/>
        </p:nvSpPr>
        <p:spPr>
          <a:xfrm>
            <a:off x="5847653" y="2424621"/>
            <a:ext cx="1009775" cy="457985"/>
          </a:xfrm>
          <a:custGeom>
            <a:rect b="b" l="l" r="r" t="t"/>
            <a:pathLst>
              <a:path extrusionOk="0" h="915971" w="2019550">
                <a:moveTo>
                  <a:pt x="0" y="0"/>
                </a:moveTo>
                <a:lnTo>
                  <a:pt x="2019550" y="0"/>
                </a:lnTo>
                <a:lnTo>
                  <a:pt x="2019550" y="915971"/>
                </a:lnTo>
                <a:lnTo>
                  <a:pt x="0" y="915971"/>
                </a:lnTo>
                <a:lnTo>
                  <a:pt x="0" y="0"/>
                </a:lnTo>
                <a:close/>
              </a:path>
            </a:pathLst>
          </a:custGeom>
          <a:blipFill rotWithShape="1">
            <a:blip r:embed="rId29">
              <a:alphaModFix/>
            </a:blip>
            <a:stretch>
              <a:fillRect b="0" l="0" r="0" t="0"/>
            </a:stretch>
          </a:blipFill>
          <a:ln>
            <a:noFill/>
          </a:ln>
        </p:spPr>
      </p:sp>
      <p:sp>
        <p:nvSpPr>
          <p:cNvPr id="214" name="Google Shape;214;p31"/>
          <p:cNvSpPr/>
          <p:nvPr/>
        </p:nvSpPr>
        <p:spPr>
          <a:xfrm>
            <a:off x="8351949" y="1435887"/>
            <a:ext cx="509313" cy="520569"/>
          </a:xfrm>
          <a:custGeom>
            <a:rect b="b" l="l" r="r" t="t"/>
            <a:pathLst>
              <a:path extrusionOk="0" h="1041137" w="1018626">
                <a:moveTo>
                  <a:pt x="0" y="0"/>
                </a:moveTo>
                <a:lnTo>
                  <a:pt x="1018626" y="0"/>
                </a:lnTo>
                <a:lnTo>
                  <a:pt x="1018626" y="1041137"/>
                </a:lnTo>
                <a:lnTo>
                  <a:pt x="0" y="1041137"/>
                </a:lnTo>
                <a:lnTo>
                  <a:pt x="0" y="0"/>
                </a:lnTo>
                <a:close/>
              </a:path>
            </a:pathLst>
          </a:custGeom>
          <a:blipFill rotWithShape="1">
            <a:blip r:embed="rId30">
              <a:alphaModFix/>
            </a:blip>
            <a:stretch>
              <a:fillRect b="0" l="0" r="0" t="0"/>
            </a:stretch>
          </a:blipFill>
          <a:ln>
            <a:noFill/>
          </a:ln>
        </p:spPr>
      </p:sp>
      <p:sp>
        <p:nvSpPr>
          <p:cNvPr id="215" name="Google Shape;215;p31"/>
          <p:cNvSpPr/>
          <p:nvPr/>
        </p:nvSpPr>
        <p:spPr>
          <a:xfrm>
            <a:off x="282738" y="4096121"/>
            <a:ext cx="4763169" cy="687682"/>
          </a:xfrm>
          <a:custGeom>
            <a:rect b="b" l="l" r="r" t="t"/>
            <a:pathLst>
              <a:path extrusionOk="0" h="1375365" w="9526337">
                <a:moveTo>
                  <a:pt x="0" y="0"/>
                </a:moveTo>
                <a:lnTo>
                  <a:pt x="9526337" y="0"/>
                </a:lnTo>
                <a:lnTo>
                  <a:pt x="9526337" y="1375364"/>
                </a:lnTo>
                <a:lnTo>
                  <a:pt x="0" y="1375364"/>
                </a:lnTo>
                <a:lnTo>
                  <a:pt x="0" y="0"/>
                </a:lnTo>
                <a:close/>
              </a:path>
            </a:pathLst>
          </a:custGeom>
          <a:blipFill rotWithShape="1">
            <a:blip r:embed="rId31">
              <a:alphaModFix/>
            </a:blip>
            <a:stretch>
              <a:fillRect b="0" l="0" r="0" t="0"/>
            </a:stretch>
          </a:blipFill>
          <a:ln>
            <a:noFill/>
          </a:ln>
        </p:spPr>
      </p:sp>
      <p:sp>
        <p:nvSpPr>
          <p:cNvPr id="216" name="Google Shape;216;p31"/>
          <p:cNvSpPr/>
          <p:nvPr/>
        </p:nvSpPr>
        <p:spPr>
          <a:xfrm>
            <a:off x="8204742" y="3136315"/>
            <a:ext cx="582259" cy="545093"/>
          </a:xfrm>
          <a:custGeom>
            <a:rect b="b" l="l" r="r" t="t"/>
            <a:pathLst>
              <a:path extrusionOk="0" h="1090186" w="1164517">
                <a:moveTo>
                  <a:pt x="0" y="0"/>
                </a:moveTo>
                <a:lnTo>
                  <a:pt x="1164517" y="0"/>
                </a:lnTo>
                <a:lnTo>
                  <a:pt x="1164517" y="1090186"/>
                </a:lnTo>
                <a:lnTo>
                  <a:pt x="0" y="1090186"/>
                </a:lnTo>
                <a:lnTo>
                  <a:pt x="0" y="0"/>
                </a:lnTo>
                <a:close/>
              </a:path>
            </a:pathLst>
          </a:custGeom>
          <a:blipFill rotWithShape="1">
            <a:blip r:embed="rId32">
              <a:alphaModFix/>
            </a:blip>
            <a:stretch>
              <a:fillRect b="0" l="0" r="0" t="0"/>
            </a:stretch>
          </a:blipFill>
          <a:ln>
            <a:noFill/>
          </a:ln>
        </p:spPr>
      </p:sp>
      <p:grpSp>
        <p:nvGrpSpPr>
          <p:cNvPr id="217" name="Google Shape;217;p31"/>
          <p:cNvGrpSpPr/>
          <p:nvPr/>
        </p:nvGrpSpPr>
        <p:grpSpPr>
          <a:xfrm>
            <a:off x="3883813" y="999862"/>
            <a:ext cx="961367" cy="1183644"/>
            <a:chOff x="0" y="0"/>
            <a:chExt cx="2563646" cy="3156383"/>
          </a:xfrm>
        </p:grpSpPr>
        <p:sp>
          <p:nvSpPr>
            <p:cNvPr id="218" name="Google Shape;218;p31"/>
            <p:cNvSpPr/>
            <p:nvPr/>
          </p:nvSpPr>
          <p:spPr>
            <a:xfrm>
              <a:off x="0" y="0"/>
              <a:ext cx="2563646" cy="3156383"/>
            </a:xfrm>
            <a:custGeom>
              <a:rect b="b" l="l" r="r" t="t"/>
              <a:pathLst>
                <a:path extrusionOk="0" h="3156383" w="2563646">
                  <a:moveTo>
                    <a:pt x="0" y="0"/>
                  </a:moveTo>
                  <a:lnTo>
                    <a:pt x="2563646" y="0"/>
                  </a:lnTo>
                  <a:lnTo>
                    <a:pt x="2563646" y="3156383"/>
                  </a:lnTo>
                  <a:lnTo>
                    <a:pt x="0" y="3156383"/>
                  </a:lnTo>
                  <a:lnTo>
                    <a:pt x="0" y="0"/>
                  </a:lnTo>
                  <a:close/>
                </a:path>
              </a:pathLst>
            </a:custGeom>
            <a:blipFill rotWithShape="1">
              <a:blip r:embed="rId33">
                <a:alphaModFix/>
              </a:blip>
              <a:stretch>
                <a:fillRect b="0" l="0" r="0" t="0"/>
              </a:stretch>
            </a:blipFill>
            <a:ln>
              <a:noFill/>
            </a:ln>
          </p:spPr>
        </p:sp>
        <p:sp>
          <p:nvSpPr>
            <p:cNvPr id="219" name="Google Shape;219;p31"/>
            <p:cNvSpPr/>
            <p:nvPr/>
          </p:nvSpPr>
          <p:spPr>
            <a:xfrm rot="-446663">
              <a:off x="1018438" y="2073957"/>
              <a:ext cx="168447" cy="157695"/>
            </a:xfrm>
            <a:custGeom>
              <a:rect b="b" l="l" r="r" t="t"/>
              <a:pathLst>
                <a:path extrusionOk="0" h="157695" w="168447">
                  <a:moveTo>
                    <a:pt x="0" y="0"/>
                  </a:moveTo>
                  <a:lnTo>
                    <a:pt x="168446" y="0"/>
                  </a:lnTo>
                  <a:lnTo>
                    <a:pt x="168446" y="157695"/>
                  </a:lnTo>
                  <a:lnTo>
                    <a:pt x="0" y="157695"/>
                  </a:lnTo>
                  <a:lnTo>
                    <a:pt x="0" y="0"/>
                  </a:lnTo>
                  <a:close/>
                </a:path>
              </a:pathLst>
            </a:custGeom>
            <a:blipFill rotWithShape="1">
              <a:blip r:embed="rId34">
                <a:alphaModFix/>
              </a:blip>
              <a:stretch>
                <a:fillRect b="0" l="0" r="0" t="0"/>
              </a:stretch>
            </a:blipFill>
            <a:ln>
              <a:noFill/>
            </a:ln>
          </p:spPr>
        </p:sp>
      </p:grpSp>
      <p:sp>
        <p:nvSpPr>
          <p:cNvPr id="220" name="Google Shape;220;p31"/>
          <p:cNvSpPr txBox="1"/>
          <p:nvPr/>
        </p:nvSpPr>
        <p:spPr>
          <a:xfrm>
            <a:off x="3845146" y="254725"/>
            <a:ext cx="1953600" cy="5079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 sz="3300" u="none" cap="none" strike="noStrike">
                <a:solidFill>
                  <a:srgbClr val="072E47"/>
                </a:solidFill>
                <a:latin typeface="Sora"/>
                <a:ea typeface="Sora"/>
                <a:cs typeface="Sora"/>
                <a:sym typeface="Sora"/>
              </a:rPr>
              <a:t>ASSETS</a:t>
            </a:r>
            <a:endParaRPr sz="7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or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Python to AI-Powered Django</dc:title>
  <dc:subject>PyCon Davao 2026 workshop</dc:subject>
  <dc:creator>Jeremy Patrick Pacabis</dc:creator>
  <cp:lastModifiedBy>Jeremy Patrick Pacabis</cp:lastModifiedBy>
  <cp:revision>1</cp:revision>
  <dcterms:created xsi:type="dcterms:W3CDTF">2026-10-17T03:16:51Z</dcterms:created>
  <dcterms:modified xsi:type="dcterms:W3CDTF">2026-10-17T03:16:51Z</dcterms:modified>
</cp:coreProperties>
</file>